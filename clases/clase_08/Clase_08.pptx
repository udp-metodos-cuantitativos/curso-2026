
<file path=[Content_Types].xml><?xml version="1.0" encoding="utf-8"?>
<Types xmlns="http://schemas.openxmlformats.org/package/2006/content-types">
  <Default ContentType="application/x-fontdata" Extension="fntdata"/>
  <Default ContentType="image/gif" Extension="gif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23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 showSpecialPlsOnTitleSld="0">
  <p:sldMasterIdLst>
    <p:sldMasterId id="2147483659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</p:sldIdLst>
  <p:sldSz cy="5143500" cx="9144000"/>
  <p:notesSz cx="6858000" cy="9144000"/>
  <p:embeddedFontLst>
    <p:embeddedFont>
      <p:font typeface="EB Garamond SemiBold"/>
      <p:regular r:id="rId32"/>
      <p:bold r:id="rId33"/>
      <p:italic r:id="rId34"/>
      <p:boldItalic r:id="rId35"/>
    </p:embeddedFont>
    <p:embeddedFont>
      <p:font typeface="EB Garamond"/>
      <p:regular r:id="rId36"/>
      <p:bold r:id="rId37"/>
      <p:italic r:id="rId38"/>
      <p:boldItalic r:id="rId39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1620">
          <p15:clr>
            <a:srgbClr val="747775"/>
          </p15:clr>
        </p15:guide>
        <p15:guide id="2" pos="2880">
          <p15:clr>
            <a:srgbClr val="747775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162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slide" Target="slides/slide15.xml"/><Relationship Id="rId22" Type="http://schemas.openxmlformats.org/officeDocument/2006/relationships/slide" Target="slides/slide17.xml"/><Relationship Id="rId21" Type="http://schemas.openxmlformats.org/officeDocument/2006/relationships/slide" Target="slides/slide16.xml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font" Target="fonts/EBGaramondSemiBold-bold.fntdata"/><Relationship Id="rId10" Type="http://schemas.openxmlformats.org/officeDocument/2006/relationships/slide" Target="slides/slide5.xml"/><Relationship Id="rId32" Type="http://schemas.openxmlformats.org/officeDocument/2006/relationships/font" Target="fonts/EBGaramondSemiBold-regular.fntdata"/><Relationship Id="rId13" Type="http://schemas.openxmlformats.org/officeDocument/2006/relationships/slide" Target="slides/slide8.xml"/><Relationship Id="rId35" Type="http://schemas.openxmlformats.org/officeDocument/2006/relationships/font" Target="fonts/EBGaramondSemiBold-boldItalic.fntdata"/><Relationship Id="rId12" Type="http://schemas.openxmlformats.org/officeDocument/2006/relationships/slide" Target="slides/slide7.xml"/><Relationship Id="rId34" Type="http://schemas.openxmlformats.org/officeDocument/2006/relationships/font" Target="fonts/EBGaramondSemiBold-italic.fntdata"/><Relationship Id="rId15" Type="http://schemas.openxmlformats.org/officeDocument/2006/relationships/slide" Target="slides/slide10.xml"/><Relationship Id="rId37" Type="http://schemas.openxmlformats.org/officeDocument/2006/relationships/font" Target="fonts/EBGaramond-bold.fntdata"/><Relationship Id="rId14" Type="http://schemas.openxmlformats.org/officeDocument/2006/relationships/slide" Target="slides/slide9.xml"/><Relationship Id="rId36" Type="http://schemas.openxmlformats.org/officeDocument/2006/relationships/font" Target="fonts/EBGaramond-regular.fntdata"/><Relationship Id="rId17" Type="http://schemas.openxmlformats.org/officeDocument/2006/relationships/slide" Target="slides/slide12.xml"/><Relationship Id="rId39" Type="http://schemas.openxmlformats.org/officeDocument/2006/relationships/font" Target="fonts/EBGaramond-boldItalic.fntdata"/><Relationship Id="rId16" Type="http://schemas.openxmlformats.org/officeDocument/2006/relationships/slide" Target="slides/slide11.xml"/><Relationship Id="rId38" Type="http://schemas.openxmlformats.org/officeDocument/2006/relationships/font" Target="fonts/EBGaramond-italic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381300" y="685800"/>
            <a:ext cx="609607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pc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g2fad2387cd9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52" name="Google Shape;52;g2fad2387cd9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9b8136af36_0_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1" name="Google Shape;61;g39b8136af36_0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5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" name="Google Shape;66;g2be0ec9c984_0_493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67" name="Google Shape;67;g2be0ec9c984_0_4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3" name="Shape 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" name="Google Shape;74;g39b8136af36_0_5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75" name="Google Shape;75;g39b8136af36_0_5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9b8136af36_0_6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91" name="Google Shape;91;g39b8136af36_0_6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6" name="Shape 1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Google Shape;117;g39b8136af36_0_9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18" name="Google Shape;118;g39b8136af36_0_9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g39b8136af36_0_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26" name="Google Shape;126;g39b8136af36_0_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0" name="Shape 1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1" name="Google Shape;131;g2be0ec9c984_0_49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2" name="Google Shape;132;g2be0ec9c984_0_49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9b8136af36_0_14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38" name="Google Shape;138;g39b8136af36_0_14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3" name="Shape 14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4" name="Google Shape;144;g39b8136af36_0_15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45" name="Google Shape;145;g39b8136af36_0_1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9b8136af36_0_240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2" name="Google Shape;152;g39b8136af36_0_24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9b8136af36_0_23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59" name="Google Shape;159;g39b8136af36_0_23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4" name="Shape 1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5" name="Google Shape;165;g39b8136af36_0_25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66" name="Google Shape;166;g39b8136af36_0_25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g39b8136af36_0_25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74" name="Google Shape;174;g39b8136af36_0_25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0" name="Shape 1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Google Shape;181;g39b8136af36_0_26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2" name="Google Shape;182;g39b8136af36_0_2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g2d35b151453_0_28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0" name="Google Shape;190;g2d35b151453_0_2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4" name="Shape 19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5" name="Google Shape;195;g39b8136af36_0_161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6" name="Google Shape;196;g39b8136af36_0_1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2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3" name="Google Shape;203;g39b8136af36_0_175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04" name="Google Shape;204;g39b8136af36_0_17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11" name="Shape 2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2" name="Google Shape;212;g39b8136af36_0_18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13" name="Google Shape;213;g39b8136af36_0_18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0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g39b8136af36_0_19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22" name="Google Shape;222;g39b8136af36_0_19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9" name="Shape 2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0" name="Google Shape;230;g39b8136af36_0_16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31" name="Google Shape;231;g39b8136af36_0_16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0" name="Google Shape;240;g39b8136af36_0_277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1" name="Google Shape;241;g39b8136af36_0_27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5" name="Shape 2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Google Shape;246;g39b8136af36_0_282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47" name="Google Shape;247;g39b8136af36_0_28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3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g39b8136af36_0_289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55" name="Google Shape;255;g39b8136af36_0_2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59" name="Shape 2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Google Shape;260;g39b8136af36_0_296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1" name="Google Shape;261;g39b8136af36_0_29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Google Shape;266;g39b8136af36_0_304:notes"/>
          <p:cNvSpPr/>
          <p:nvPr>
            <p:ph idx="2" type="sldImg"/>
          </p:nvPr>
        </p:nvSpPr>
        <p:spPr>
          <a:xfrm>
            <a:off x="381300" y="685800"/>
            <a:ext cx="60960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67" name="Google Shape;267;g39b8136af36_0_30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9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2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/>
        </p:txBody>
      </p:sp>
      <p:sp>
        <p:nvSpPr>
          <p:cNvPr id="11" name="Google Shape;11;p2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/>
        </p:txBody>
      </p:sp>
      <p:sp>
        <p:nvSpPr>
          <p:cNvPr id="12" name="Google Shape;12;p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13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/>
        </p:txBody>
      </p:sp>
      <p:sp>
        <p:nvSpPr>
          <p:cNvPr id="15" name="Google Shape;15;p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body" type="tx">
  <p:cSld name="TITLE_AND_BODY">
    <p:spTree>
      <p:nvGrpSpPr>
        <p:cNvPr id="16" name="Shape 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Google Shape;17;p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18" name="Google Shape;18;p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19" name="Google Shape;19;p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two columns" type="twoColTx">
  <p:cSld name="TITLE_AND_TWO_COLUMNS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2" name="Google Shape;22;p5"/>
          <p:cNvSpPr txBox="1"/>
          <p:nvPr>
            <p:ph idx="1" type="body"/>
          </p:nvPr>
        </p:nvSpPr>
        <p:spPr>
          <a:xfrm>
            <a:off x="3117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3" name="Google Shape;23;p5"/>
          <p:cNvSpPr txBox="1"/>
          <p:nvPr>
            <p:ph idx="2" type="body"/>
          </p:nvPr>
        </p:nvSpPr>
        <p:spPr>
          <a:xfrm>
            <a:off x="4832400" y="1152475"/>
            <a:ext cx="39999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17500" lvl="0" marL="457200"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24" name="Google Shape;24;p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Google Shape;26;p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/>
        </p:txBody>
      </p:sp>
      <p:sp>
        <p:nvSpPr>
          <p:cNvPr id="27" name="Google Shape;27;p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One column text">
  <p:cSld name="ONE_COLUMN_TEXT">
    <p:spTree>
      <p:nvGrpSpPr>
        <p:cNvPr id="28" name="Shape 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Google Shape;29;p7"/>
          <p:cNvSpPr txBox="1"/>
          <p:nvPr>
            <p:ph type="title"/>
          </p:nvPr>
        </p:nvSpPr>
        <p:spPr>
          <a:xfrm>
            <a:off x="311700" y="555600"/>
            <a:ext cx="2808000" cy="7557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/>
        </p:txBody>
      </p:sp>
      <p:sp>
        <p:nvSpPr>
          <p:cNvPr id="30" name="Google Shape;30;p7"/>
          <p:cNvSpPr txBox="1"/>
          <p:nvPr>
            <p:ph idx="1" type="body"/>
          </p:nvPr>
        </p:nvSpPr>
        <p:spPr>
          <a:xfrm>
            <a:off x="311700" y="1389600"/>
            <a:ext cx="2808000" cy="3179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04800" lvl="0" marL="4572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indent="-304800" lvl="1" marL="9144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indent="-304800" lvl="2" marL="13716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indent="-304800" lvl="3" marL="18288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indent="-304800" lvl="4" marL="22860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indent="-304800" lvl="5" marL="27432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indent="-304800" lvl="6" marL="3200400"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indent="-304800" lvl="7" marL="3657600"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indent="-304800" lvl="8" marL="4114800"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/>
        </p:txBody>
      </p:sp>
      <p:sp>
        <p:nvSpPr>
          <p:cNvPr id="31" name="Google Shape;31;p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Main point">
  <p:cSld name="MAIN_POINT">
    <p:spTree>
      <p:nvGrpSpPr>
        <p:cNvPr id="32" name="Shape 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Google Shape;33;p8"/>
          <p:cNvSpPr txBox="1"/>
          <p:nvPr>
            <p:ph type="title"/>
          </p:nvPr>
        </p:nvSpPr>
        <p:spPr>
          <a:xfrm>
            <a:off x="490250" y="450150"/>
            <a:ext cx="6367800" cy="4090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/>
        </p:txBody>
      </p:sp>
      <p:sp>
        <p:nvSpPr>
          <p:cNvPr id="34" name="Google Shape;34;p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title and description">
  <p:cSld name="SECTION_TITLE_AND_DESCRIPTION">
    <p:spTree>
      <p:nvGrpSpPr>
        <p:cNvPr id="35" name="Shape 3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Google Shape;36;p9"/>
          <p:cNvSpPr/>
          <p:nvPr/>
        </p:nvSpPr>
        <p:spPr>
          <a:xfrm>
            <a:off x="4572000" y="-125"/>
            <a:ext cx="4572000" cy="51435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37" name="Google Shape;37;p9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/>
        </p:txBody>
      </p:sp>
      <p:sp>
        <p:nvSpPr>
          <p:cNvPr id="38" name="Google Shape;38;p9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/>
        </p:txBody>
      </p:sp>
      <p:sp>
        <p:nvSpPr>
          <p:cNvPr id="39" name="Google Shape;39;p9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355600" lvl="0" marL="457200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17500" lvl="3" marL="18288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0" name="Google Shape;40;p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aption">
  <p:cSld name="CAPTION_ONLY">
    <p:spTree>
      <p:nvGrpSpPr>
        <p:cNvPr id="41" name="Shape 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Google Shape;42;p10"/>
          <p:cNvSpPr txBox="1"/>
          <p:nvPr>
            <p:ph idx="1" type="body"/>
          </p:nvPr>
        </p:nvSpPr>
        <p:spPr>
          <a:xfrm>
            <a:off x="311700" y="4230575"/>
            <a:ext cx="5998800" cy="60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indent="-228600" lvl="0" marL="4572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000"/>
              <a:buNone/>
              <a:defRPr/>
            </a:lvl1pPr>
          </a:lstStyle>
          <a:p/>
        </p:txBody>
      </p:sp>
      <p:sp>
        <p:nvSpPr>
          <p:cNvPr id="43" name="Google Shape;43;p1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ig number">
  <p:cSld name="BIG_NUMBER">
    <p:spTree>
      <p:nvGrpSpPr>
        <p:cNvPr id="44" name="Shape 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Google Shape;45;p11"/>
          <p:cNvSpPr txBox="1"/>
          <p:nvPr>
            <p:ph hasCustomPrompt="1" type="title"/>
          </p:nvPr>
        </p:nvSpPr>
        <p:spPr>
          <a:xfrm>
            <a:off x="311700" y="1106125"/>
            <a:ext cx="8520600" cy="19635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46" name="Google Shape;46;p11"/>
          <p:cNvSpPr txBox="1"/>
          <p:nvPr>
            <p:ph idx="1" type="body"/>
          </p:nvPr>
        </p:nvSpPr>
        <p:spPr>
          <a:xfrm>
            <a:off x="311700" y="3152225"/>
            <a:ext cx="8520600" cy="1300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 algn="ctr">
              <a:spcBef>
                <a:spcPts val="0"/>
              </a:spcBef>
              <a:spcAft>
                <a:spcPts val="0"/>
              </a:spcAft>
              <a:buSzPts val="2000"/>
              <a:buChar char="●"/>
              <a:defRPr/>
            </a:lvl1pPr>
            <a:lvl2pPr indent="-342900" lvl="1" marL="914400" algn="ctr">
              <a:spcBef>
                <a:spcPts val="0"/>
              </a:spcBef>
              <a:spcAft>
                <a:spcPts val="0"/>
              </a:spcAft>
              <a:buSzPts val="1800"/>
              <a:buChar char="○"/>
              <a:defRPr/>
            </a:lvl2pPr>
            <a:lvl3pPr indent="-330200" lvl="2" marL="1371600" algn="ctr">
              <a:spcBef>
                <a:spcPts val="0"/>
              </a:spcBef>
              <a:spcAft>
                <a:spcPts val="0"/>
              </a:spcAft>
              <a:buSzPts val="1600"/>
              <a:buChar char="■"/>
              <a:defRPr/>
            </a:lvl3pPr>
            <a:lvl4pPr indent="-317500" lvl="3" marL="18288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indent="-317500" lvl="4" marL="22860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indent="-317500" lvl="5" marL="27432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indent="-317500" lvl="6" marL="3200400" algn="ctr"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indent="-317500" lvl="7" marL="3657600" algn="ctr"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indent="-317500" lvl="8" marL="4114800" algn="ctr"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/>
        </p:txBody>
      </p:sp>
      <p:sp>
        <p:nvSpPr>
          <p:cNvPr id="47" name="Google Shape;47;p1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48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>
            <a:lvl1pPr lvl="0">
              <a:buNone/>
              <a:defRPr/>
            </a:lvl1pPr>
            <a:lvl2pPr lvl="1">
              <a:buNone/>
              <a:defRPr/>
            </a:lvl2pPr>
            <a:lvl3pPr lvl="2">
              <a:buNone/>
              <a:defRPr/>
            </a:lvl3pPr>
            <a:lvl4pPr lvl="3">
              <a:buNone/>
              <a:defRPr/>
            </a:lvl4pPr>
            <a:lvl5pPr lvl="4">
              <a:buNone/>
              <a:defRPr/>
            </a:lvl5pPr>
            <a:lvl6pPr lvl="5">
              <a:buNone/>
              <a:defRPr/>
            </a:lvl6pPr>
            <a:lvl7pPr lvl="6">
              <a:buNone/>
              <a:defRPr/>
            </a:lvl7pPr>
            <a:lvl8pPr lvl="7">
              <a:buNone/>
              <a:defRPr/>
            </a:lvl8pPr>
            <a:lvl9pPr lvl="8"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 name="simple-light-2"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lvl="0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EB Garamond SemiBold"/>
              <a:buNone/>
              <a:defRPr sz="2800">
                <a:solidFill>
                  <a:schemeClr val="dk1"/>
                </a:solidFill>
                <a:latin typeface="EB Garamond SemiBold"/>
                <a:ea typeface="EB Garamond SemiBold"/>
                <a:cs typeface="EB Garamond SemiBold"/>
                <a:sym typeface="EB Garamond SemiBold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2pPr>
            <a:lvl3pPr lvl="2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3pPr>
            <a:lvl4pPr lvl="3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4pPr>
            <a:lvl5pPr lvl="4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5pPr>
            <a:lvl6pPr lvl="5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6pPr>
            <a:lvl7pPr lvl="6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7pPr>
            <a:lvl8pPr lvl="7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8pPr>
            <a:lvl9pPr lvl="8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  <a:defRPr sz="2800">
                <a:solidFill>
                  <a:schemeClr val="dk1"/>
                </a:solidFill>
              </a:defRPr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rmAutofit/>
          </a:bodyPr>
          <a:lstStyle>
            <a:lvl1pPr indent="-355600" lvl="0" marL="457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EB Garamond"/>
              <a:buChar char="●"/>
              <a:defRPr sz="20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1pPr>
            <a:lvl2pPr indent="-342900" lvl="1" marL="914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Font typeface="EB Garamond"/>
              <a:buChar char="○"/>
              <a:defRPr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2pPr>
            <a:lvl3pPr indent="-330200" lvl="2" marL="1371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600"/>
              <a:buFont typeface="EB Garamond"/>
              <a:buChar char="■"/>
              <a:defRPr sz="16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3pPr>
            <a:lvl4pPr indent="-317500" lvl="3" marL="1828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4pPr>
            <a:lvl5pPr indent="-317500" lvl="4" marL="22860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5pPr>
            <a:lvl6pPr indent="-317500" lvl="5" marL="27432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6pPr>
            <a:lvl7pPr indent="-317500" lvl="6" marL="32004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●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7pPr>
            <a:lvl8pPr indent="-317500" lvl="7" marL="36576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○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8pPr>
            <a:lvl9pPr indent="-317500" lvl="8" marL="411480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EB Garamond"/>
              <a:buChar char="■"/>
              <a:defRPr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  <a:noFill/>
          <a:ln>
            <a:noFill/>
          </a:ln>
        </p:spPr>
        <p:txBody>
          <a:bodyPr anchorCtr="0" anchor="ctr" bIns="91425" lIns="91425" spcFirstLastPara="1" rIns="91425" wrap="square" tIns="91425">
            <a:normAutofit/>
          </a:bodyPr>
          <a:lstStyle>
            <a:lvl1pPr lvl="0" algn="r">
              <a:buNone/>
              <a:defRPr sz="1000">
                <a:solidFill>
                  <a:schemeClr val="dk2"/>
                </a:solidFill>
              </a:defRPr>
            </a:lvl1pPr>
            <a:lvl2pPr lvl="1" algn="r">
              <a:buNone/>
              <a:defRPr sz="1000">
                <a:solidFill>
                  <a:schemeClr val="dk2"/>
                </a:solidFill>
              </a:defRPr>
            </a:lvl2pPr>
            <a:lvl3pPr lvl="2" algn="r">
              <a:buNone/>
              <a:defRPr sz="1000">
                <a:solidFill>
                  <a:schemeClr val="dk2"/>
                </a:solidFill>
              </a:defRPr>
            </a:lvl3pPr>
            <a:lvl4pPr lvl="3" algn="r">
              <a:buNone/>
              <a:defRPr sz="1000">
                <a:solidFill>
                  <a:schemeClr val="dk2"/>
                </a:solidFill>
              </a:defRPr>
            </a:lvl4pPr>
            <a:lvl5pPr lvl="4" algn="r">
              <a:buNone/>
              <a:defRPr sz="1000">
                <a:solidFill>
                  <a:schemeClr val="dk2"/>
                </a:solidFill>
              </a:defRPr>
            </a:lvl5pPr>
            <a:lvl6pPr lvl="5" algn="r">
              <a:buNone/>
              <a:defRPr sz="1000">
                <a:solidFill>
                  <a:schemeClr val="dk2"/>
                </a:solidFill>
              </a:defRPr>
            </a:lvl6pPr>
            <a:lvl7pPr lvl="6" algn="r">
              <a:buNone/>
              <a:defRPr sz="1000">
                <a:solidFill>
                  <a:schemeClr val="dk2"/>
                </a:solidFill>
              </a:defRPr>
            </a:lvl7pPr>
            <a:lvl8pPr lvl="7" algn="r">
              <a:buNone/>
              <a:defRPr sz="1000">
                <a:solidFill>
                  <a:schemeClr val="dk2"/>
                </a:solidFill>
              </a:defRPr>
            </a:lvl8pPr>
            <a:lvl9pPr lvl="8" algn="r">
              <a:buNone/>
              <a:defRPr sz="1000">
                <a:solidFill>
                  <a:schemeClr val="dk2"/>
                </a:solidFill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pc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Relationship Id="rId3" Type="http://schemas.openxmlformats.org/officeDocument/2006/relationships/hyperlink" Target="mailto:daniela.olivares2@mail.udp.cl" TargetMode="Externa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8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1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18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17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7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16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6.gif"/><Relationship Id="rId4" Type="http://schemas.openxmlformats.org/officeDocument/2006/relationships/image" Target="../media/image13.gif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11.png"/><Relationship Id="rId4" Type="http://schemas.openxmlformats.org/officeDocument/2006/relationships/image" Target="../media/image15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5.png"/><Relationship Id="rId4" Type="http://schemas.openxmlformats.org/officeDocument/2006/relationships/image" Target="../media/image10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19.png"/><Relationship Id="rId4" Type="http://schemas.openxmlformats.org/officeDocument/2006/relationships/image" Target="../media/image8.gif"/><Relationship Id="rId5" Type="http://schemas.openxmlformats.org/officeDocument/2006/relationships/image" Target="../media/image4.gif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14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9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12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53" name="Shape 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Google Shape;54;p13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5" name="Google Shape;55;p13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08: Unidad III. </a:t>
            </a: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Estadística Descriptiva y Análisis descriptivo univariado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6" name="Google Shape;56;p13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57" name="Google Shape;57;p13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/>
              <a:t>Profesora: Daniela Olivares Collío</a:t>
            </a:r>
            <a:endParaRPr sz="1405"/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018"/>
              <a:buFont typeface="Arial"/>
              <a:buNone/>
            </a:pPr>
            <a:r>
              <a:rPr lang="es" sz="1405"/>
              <a:t>Ayudante: Katherine Aravena Herrera</a:t>
            </a:r>
            <a:endParaRPr sz="1405"/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/>
              <a:t>2do semestre 2026</a:t>
            </a:r>
            <a:endParaRPr sz="1405"/>
          </a:p>
        </p:txBody>
      </p:sp>
      <p:pic>
        <p:nvPicPr>
          <p:cNvPr id="58" name="Google Shape;58;p13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2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 fontScale="9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Profesora: Daniela Olivares Collío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b="0" lang="es" u="sng">
                <a:solidFill>
                  <a:schemeClr val="hlink"/>
                </a:solidFill>
                <a:hlinkClick r:id="rId3"/>
              </a:rPr>
              <a:t>daniela.olivares2@mail.udp.cl</a:t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/>
          </a:p>
        </p:txBody>
      </p:sp>
      <p:sp>
        <p:nvSpPr>
          <p:cNvPr id="64" name="Google Shape;64;p1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5"/>
          <p:cNvSpPr txBox="1"/>
          <p:nvPr>
            <p:ph type="title"/>
          </p:nvPr>
        </p:nvSpPr>
        <p:spPr>
          <a:xfrm>
            <a:off x="265500" y="1233175"/>
            <a:ext cx="4045200" cy="14823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Objetivos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0" name="Google Shape;70;p15"/>
          <p:cNvSpPr txBox="1"/>
          <p:nvPr>
            <p:ph idx="2" type="body"/>
          </p:nvPr>
        </p:nvSpPr>
        <p:spPr>
          <a:xfrm>
            <a:off x="4939500" y="724075"/>
            <a:ext cx="3837000" cy="36951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 SemiBold"/>
                <a:ea typeface="EB Garamond SemiBold"/>
                <a:cs typeface="EB Garamond SemiBold"/>
                <a:sym typeface="EB Garamond SemiBold"/>
              </a:rPr>
              <a:t>Unidad III. Estadística Descriptiva y Análisis descriptivo univariado</a:t>
            </a:r>
            <a:endParaRPr>
              <a:latin typeface="EB Garamond SemiBold"/>
              <a:ea typeface="EB Garamond SemiBold"/>
              <a:cs typeface="EB Garamond SemiBold"/>
              <a:sym typeface="EB Garamond SemiBold"/>
            </a:endParaRPr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III.6. Medidas de Posición 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III.7. Medidas de Forma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1" name="Google Shape;71;p15"/>
          <p:cNvSpPr txBox="1"/>
          <p:nvPr>
            <p:ph idx="1" type="subTitle"/>
          </p:nvPr>
        </p:nvSpPr>
        <p:spPr>
          <a:xfrm>
            <a:off x="265500" y="2803075"/>
            <a:ext cx="4045200" cy="12351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Clase 08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72" name="Google Shape;72;p1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76" name="Shape 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7" name="Google Shape;77;p1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11">
                <a:highlight>
                  <a:srgbClr val="AAD5D4"/>
                </a:highlight>
              </a:rPr>
              <a:t>¿En cuál parte del curso vamos?</a:t>
            </a:r>
            <a:endParaRPr sz="2811">
              <a:highlight>
                <a:srgbClr val="AAD5D4"/>
              </a:highlight>
            </a:endParaRPr>
          </a:p>
        </p:txBody>
      </p:sp>
      <p:sp>
        <p:nvSpPr>
          <p:cNvPr id="78" name="Google Shape;78;p1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grpSp>
        <p:nvGrpSpPr>
          <p:cNvPr id="79" name="Google Shape;79;p16"/>
          <p:cNvGrpSpPr/>
          <p:nvPr/>
        </p:nvGrpSpPr>
        <p:grpSpPr>
          <a:xfrm>
            <a:off x="4877071" y="1189775"/>
            <a:ext cx="4061383" cy="3483050"/>
            <a:chOff x="5632317" y="1189775"/>
            <a:chExt cx="3305700" cy="3483050"/>
          </a:xfrm>
        </p:grpSpPr>
        <p:sp>
          <p:nvSpPr>
            <p:cNvPr id="80" name="Google Shape;80;p16"/>
            <p:cNvSpPr/>
            <p:nvPr/>
          </p:nvSpPr>
          <p:spPr>
            <a:xfrm>
              <a:off x="5632317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249C9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2000">
                  <a:solidFill>
                    <a:srgbClr val="FFFFFF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Unidad III</a:t>
              </a:r>
              <a:endParaRPr b="1" sz="2000">
                <a:solidFill>
                  <a:srgbClr val="FFFFFF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81" name="Google Shape;81;p16"/>
            <p:cNvSpPr txBox="1"/>
            <p:nvPr/>
          </p:nvSpPr>
          <p:spPr>
            <a:xfrm>
              <a:off x="6167063" y="2057125"/>
              <a:ext cx="22362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>
                  <a:latin typeface="EB Garamond"/>
                  <a:ea typeface="EB Garamond"/>
                  <a:cs typeface="EB Garamond"/>
                  <a:sym typeface="EB Garamond"/>
                </a:rPr>
                <a:t>Estadística Descriptiva y Análisis descriptivo univariado:</a:t>
              </a:r>
              <a:endParaRPr b="1"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III.1. Noción de distribución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III.2. Tipos de análisis estadístico univariado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III.3. Frecuencias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III.4. Medidas de Tendencia Central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III.5. Medidas de Dispersión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III.6. Medidas de Posición 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rPr lang="es">
                  <a:latin typeface="EB Garamond"/>
                  <a:ea typeface="EB Garamond"/>
                  <a:cs typeface="EB Garamond"/>
                  <a:sym typeface="EB Garamond"/>
                </a:rPr>
                <a:t>III.7. Medidas de Forma</a:t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Clr>
                  <a:schemeClr val="dk1"/>
                </a:buClr>
                <a:buSzPts val="1100"/>
                <a:buFont typeface="Arial"/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82" name="Google Shape;82;p16"/>
          <p:cNvGrpSpPr/>
          <p:nvPr/>
        </p:nvGrpSpPr>
        <p:grpSpPr>
          <a:xfrm>
            <a:off x="0" y="1190002"/>
            <a:ext cx="2669397" cy="3688923"/>
            <a:chOff x="0" y="1189989"/>
            <a:chExt cx="3546900" cy="3688923"/>
          </a:xfrm>
        </p:grpSpPr>
        <p:sp>
          <p:nvSpPr>
            <p:cNvPr id="83" name="Google Shape;83;p16"/>
            <p:cNvSpPr/>
            <p:nvPr/>
          </p:nvSpPr>
          <p:spPr>
            <a:xfrm>
              <a:off x="0" y="1189989"/>
              <a:ext cx="3546900" cy="669000"/>
            </a:xfrm>
            <a:prstGeom prst="homePlate">
              <a:avLst>
                <a:gd fmla="val 50000" name="adj"/>
              </a:avLst>
            </a:prstGeom>
            <a:solidFill>
              <a:srgbClr val="155B5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000">
                  <a:solidFill>
                    <a:srgbClr val="CACACA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Unidad I</a:t>
              </a:r>
              <a:endParaRPr sz="2000">
                <a:solidFill>
                  <a:srgbClr val="CACACA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84" name="Google Shape;84;p16"/>
            <p:cNvSpPr txBox="1"/>
            <p:nvPr/>
          </p:nvSpPr>
          <p:spPr>
            <a:xfrm>
              <a:off x="392772" y="2057113"/>
              <a:ext cx="2647800" cy="28218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Introducción a la Investigación Social Cuantitativa:</a:t>
              </a:r>
              <a:endParaRPr b="1"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I.1. Fundamentos de la Investigación Cuantitativa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I.2. Características de la Investigación Cuantitativa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I.3. Construcción de un problema de Investigación Cuantitativa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I.4. Conceptualización de variables e indicadores y operacionalización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grpSp>
        <p:nvGrpSpPr>
          <p:cNvPr id="85" name="Google Shape;85;p16"/>
          <p:cNvGrpSpPr/>
          <p:nvPr/>
        </p:nvGrpSpPr>
        <p:grpSpPr>
          <a:xfrm>
            <a:off x="2288240" y="1189775"/>
            <a:ext cx="2936123" cy="3483050"/>
            <a:chOff x="2944204" y="1189775"/>
            <a:chExt cx="3305700" cy="3483050"/>
          </a:xfrm>
        </p:grpSpPr>
        <p:sp>
          <p:nvSpPr>
            <p:cNvPr id="86" name="Google Shape;86;p16"/>
            <p:cNvSpPr/>
            <p:nvPr/>
          </p:nvSpPr>
          <p:spPr>
            <a:xfrm>
              <a:off x="2944204" y="1189775"/>
              <a:ext cx="3305700" cy="669000"/>
            </a:xfrm>
            <a:prstGeom prst="chevron">
              <a:avLst>
                <a:gd fmla="val 50000" name="adj"/>
              </a:avLst>
            </a:prstGeom>
            <a:solidFill>
              <a:srgbClr val="1D7E75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2000">
                  <a:solidFill>
                    <a:srgbClr val="CACACA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Unidad II</a:t>
              </a:r>
              <a:endParaRPr sz="2000">
                <a:solidFill>
                  <a:srgbClr val="CACACA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87" name="Google Shape;87;p16"/>
            <p:cNvSpPr txBox="1"/>
            <p:nvPr/>
          </p:nvSpPr>
          <p:spPr>
            <a:xfrm>
              <a:off x="3373342" y="2057125"/>
              <a:ext cx="2485500" cy="26157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t" bIns="91425" lIns="91425" spcFirstLastPara="1" rIns="91425" wrap="square" tIns="91425">
              <a:noAutofit/>
            </a:bodyPr>
            <a:lstStyle/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La estadística en el contexto de la investigación social:</a:t>
              </a:r>
              <a:endParaRPr b="1"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II.1. Elaboración de una matriz de datos y su libro de códigos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II.2. Nociones de Universo, Población y Muestra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200">
                  <a:solidFill>
                    <a:srgbClr val="999999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II.3. Técnicas de recolección y procesamiento de datos</a:t>
              </a:r>
              <a:endParaRPr sz="1200">
                <a:solidFill>
                  <a:srgbClr val="999999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  <a:p>
              <a:pPr indent="0" lvl="0" marL="0" rtl="0" algn="l">
                <a:lnSpc>
                  <a:spcPct val="115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1" sz="1200">
                <a:solidFill>
                  <a:srgbClr val="666666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  <p:sp>
        <p:nvSpPr>
          <p:cNvPr id="88" name="Google Shape;88;p16"/>
          <p:cNvSpPr/>
          <p:nvPr/>
        </p:nvSpPr>
        <p:spPr>
          <a:xfrm rot="5400000">
            <a:off x="6703325" y="620775"/>
            <a:ext cx="571500" cy="280200"/>
          </a:xfrm>
          <a:prstGeom prst="stripedRightArrow">
            <a:avLst>
              <a:gd fmla="val 50000" name="adj1"/>
              <a:gd fmla="val 50000" name="adj2"/>
            </a:avLst>
          </a:prstGeom>
          <a:solidFill>
            <a:srgbClr val="AAD5D4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1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11">
                <a:solidFill>
                  <a:schemeClr val="dk1"/>
                </a:solidFill>
                <a:highlight>
                  <a:srgbClr val="AAD5D4"/>
                </a:highlight>
              </a:rPr>
              <a:t>¿En cuál parte de una investigación estamos?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94" name="Google Shape;94;p1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95" name="Google Shape;95;p17"/>
          <p:cNvSpPr/>
          <p:nvPr/>
        </p:nvSpPr>
        <p:spPr>
          <a:xfrm>
            <a:off x="5945500" y="2396000"/>
            <a:ext cx="2276400" cy="1228800"/>
          </a:xfrm>
          <a:prstGeom prst="roundRect">
            <a:avLst>
              <a:gd fmla="val 16667" name="adj"/>
            </a:avLst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grpSp>
        <p:nvGrpSpPr>
          <p:cNvPr id="96" name="Google Shape;96;p17"/>
          <p:cNvGrpSpPr/>
          <p:nvPr/>
        </p:nvGrpSpPr>
        <p:grpSpPr>
          <a:xfrm>
            <a:off x="706750" y="1263275"/>
            <a:ext cx="7400897" cy="3494248"/>
            <a:chOff x="3065" y="284906"/>
            <a:chExt cx="6089770" cy="3494248"/>
          </a:xfrm>
        </p:grpSpPr>
        <p:sp>
          <p:nvSpPr>
            <p:cNvPr id="97" name="Google Shape;97;p17"/>
            <p:cNvSpPr/>
            <p:nvPr/>
          </p:nvSpPr>
          <p:spPr>
            <a:xfrm rot="5400000">
              <a:off x="-278266" y="1080198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8" name="Google Shape;98;p17"/>
            <p:cNvSpPr/>
            <p:nvPr/>
          </p:nvSpPr>
          <p:spPr>
            <a:xfrm>
              <a:off x="3065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DDEAF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99" name="Google Shape;99;p17"/>
            <p:cNvSpPr txBox="1"/>
            <p:nvPr/>
          </p:nvSpPr>
          <p:spPr>
            <a:xfrm>
              <a:off x="32305" y="314146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EB Garamond"/>
                  <a:ea typeface="EB Garamond"/>
                  <a:cs typeface="EB Garamond"/>
                  <a:sym typeface="EB Garamond"/>
                </a:rPr>
                <a:t>Teoría</a:t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0" name="Google Shape;100;p17"/>
            <p:cNvSpPr/>
            <p:nvPr/>
          </p:nvSpPr>
          <p:spPr>
            <a:xfrm rot="5400000">
              <a:off x="-278266" y="2328122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1" name="Google Shape;101;p17"/>
            <p:cNvSpPr/>
            <p:nvPr/>
          </p:nvSpPr>
          <p:spPr>
            <a:xfrm>
              <a:off x="3065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BBD6EE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2" name="Google Shape;102;p17"/>
            <p:cNvSpPr txBox="1"/>
            <p:nvPr/>
          </p:nvSpPr>
          <p:spPr>
            <a:xfrm>
              <a:off x="32305" y="1562070"/>
              <a:ext cx="1605300" cy="939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68575" lIns="68575" spcFirstLastPara="1" rIns="68575" wrap="square" tIns="68575">
              <a:noAutofit/>
            </a:bodyPr>
            <a:lstStyle/>
            <a:p>
              <a:pPr indent="0" lvl="0" marL="0" marR="0" rtl="0" algn="ctr">
                <a:lnSpc>
                  <a:spcPct val="90000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EB Garamond"/>
                  <a:ea typeface="EB Garamond"/>
                  <a:cs typeface="EB Garamond"/>
                  <a:sym typeface="EB Garamond"/>
                </a:rPr>
                <a:t>Problema</a:t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3" name="Google Shape;103;p17"/>
            <p:cNvSpPr/>
            <p:nvPr/>
          </p:nvSpPr>
          <p:spPr>
            <a:xfrm>
              <a:off x="345671" y="2952057"/>
              <a:ext cx="22032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4" name="Google Shape;104;p17"/>
            <p:cNvSpPr/>
            <p:nvPr/>
          </p:nvSpPr>
          <p:spPr>
            <a:xfrm>
              <a:off x="3065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9FC5E8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latin typeface="EB Garamond"/>
                  <a:ea typeface="EB Garamond"/>
                  <a:cs typeface="EB Garamond"/>
                  <a:sym typeface="EB Garamond"/>
                </a:rPr>
                <a:t>Pregunta, objetivos e hipótesis</a:t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5" name="Google Shape;105;p17"/>
            <p:cNvSpPr/>
            <p:nvPr/>
          </p:nvSpPr>
          <p:spPr>
            <a:xfrm rot="-5400000">
              <a:off x="1934668" y="2328119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6" name="Google Shape;106;p17"/>
            <p:cNvSpPr/>
            <p:nvPr/>
          </p:nvSpPr>
          <p:spPr>
            <a:xfrm rot="-5400000">
              <a:off x="1934668" y="1080195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7" name="Google Shape;107;p17"/>
            <p:cNvSpPr/>
            <p:nvPr/>
          </p:nvSpPr>
          <p:spPr>
            <a:xfrm>
              <a:off x="2216050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E75B5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Operacionalización y encuesta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8" name="Google Shape;108;p17"/>
            <p:cNvSpPr/>
            <p:nvPr/>
          </p:nvSpPr>
          <p:spPr>
            <a:xfrm>
              <a:off x="2558656" y="456209"/>
              <a:ext cx="22032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09" name="Google Shape;109;p17"/>
            <p:cNvSpPr/>
            <p:nvPr/>
          </p:nvSpPr>
          <p:spPr>
            <a:xfrm>
              <a:off x="2216050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0B5394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Levantamiento de datos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0" name="Google Shape;110;p17"/>
            <p:cNvSpPr/>
            <p:nvPr/>
          </p:nvSpPr>
          <p:spPr>
            <a:xfrm rot="5400000">
              <a:off x="4147703" y="1080198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1" name="Google Shape;111;p17"/>
            <p:cNvSpPr/>
            <p:nvPr/>
          </p:nvSpPr>
          <p:spPr>
            <a:xfrm>
              <a:off x="4429035" y="284906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0B5394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Matriz de datos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2" name="Google Shape;112;p17"/>
            <p:cNvSpPr/>
            <p:nvPr/>
          </p:nvSpPr>
          <p:spPr>
            <a:xfrm rot="5400000">
              <a:off x="4147703" y="2328122"/>
              <a:ext cx="1238100" cy="149700"/>
            </a:xfrm>
            <a:prstGeom prst="rect">
              <a:avLst/>
            </a:prstGeom>
            <a:solidFill>
              <a:srgbClr val="FDBF41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sz="1800"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3" name="Google Shape;113;p17"/>
            <p:cNvSpPr/>
            <p:nvPr/>
          </p:nvSpPr>
          <p:spPr>
            <a:xfrm>
              <a:off x="4429035" y="1532830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073763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b="1"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Análisis de datos</a:t>
              </a:r>
              <a:endParaRPr b="1"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4" name="Google Shape;114;p17"/>
            <p:cNvSpPr/>
            <p:nvPr/>
          </p:nvSpPr>
          <p:spPr>
            <a:xfrm>
              <a:off x="4429035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262626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Conclusiones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  <p:sp>
          <p:nvSpPr>
            <p:cNvPr id="115" name="Google Shape;115;p17"/>
            <p:cNvSpPr/>
            <p:nvPr/>
          </p:nvSpPr>
          <p:spPr>
            <a:xfrm>
              <a:off x="2216050" y="2780754"/>
              <a:ext cx="1663800" cy="998400"/>
            </a:xfrm>
            <a:prstGeom prst="roundRect">
              <a:avLst>
                <a:gd fmla="val 10000" name="adj"/>
              </a:avLst>
            </a:prstGeom>
            <a:solidFill>
              <a:srgbClr val="6FA8DC"/>
            </a:solidFill>
            <a:ln cap="flat" cmpd="sng" w="12700">
              <a:solidFill>
                <a:srgbClr val="FFFFFF"/>
              </a:solidFill>
              <a:prstDash val="solid"/>
              <a:miter lim="800000"/>
              <a:headEnd len="sm" w="sm" type="none"/>
              <a:tailEnd len="sm" w="sm" type="none"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ctr">
                <a:spcBef>
                  <a:spcPts val="0"/>
                </a:spcBef>
                <a:spcAft>
                  <a:spcPts val="0"/>
                </a:spcAft>
                <a:buNone/>
              </a:pPr>
              <a:r>
                <a:rPr lang="es" sz="1800">
                  <a:solidFill>
                    <a:schemeClr val="lt1"/>
                  </a:solidFill>
                  <a:latin typeface="EB Garamond"/>
                  <a:ea typeface="EB Garamond"/>
                  <a:cs typeface="EB Garamond"/>
                  <a:sym typeface="EB Garamond"/>
                </a:rPr>
                <a:t>Metodología</a:t>
              </a:r>
              <a:endParaRPr sz="1800">
                <a:solidFill>
                  <a:schemeClr val="lt1"/>
                </a:solidFill>
                <a:latin typeface="EB Garamond"/>
                <a:ea typeface="EB Garamond"/>
                <a:cs typeface="EB Garamond"/>
                <a:sym typeface="EB Garamond"/>
              </a:endParaRPr>
            </a:p>
          </p:txBody>
        </p:sp>
      </p:grp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18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2811">
                <a:solidFill>
                  <a:schemeClr val="dk1"/>
                </a:solidFill>
                <a:highlight>
                  <a:srgbClr val="AAD5D4"/>
                </a:highlight>
              </a:rPr>
              <a:t>¿En cuál parte de una investigación estamos?</a:t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121" name="Google Shape;121;p1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122" name="Google Shape;122;p18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966163" y="1142200"/>
            <a:ext cx="7211675" cy="3729050"/>
          </a:xfrm>
          <a:prstGeom prst="rect">
            <a:avLst/>
          </a:prstGeom>
          <a:noFill/>
          <a:ln>
            <a:noFill/>
          </a:ln>
        </p:spPr>
      </p:pic>
      <p:sp>
        <p:nvSpPr>
          <p:cNvPr id="123" name="Google Shape;123;p18"/>
          <p:cNvSpPr/>
          <p:nvPr/>
        </p:nvSpPr>
        <p:spPr>
          <a:xfrm rot="5400142">
            <a:off x="2044187" y="2592992"/>
            <a:ext cx="1304910" cy="1884276"/>
          </a:xfrm>
          <a:prstGeom prst="flowChartTerminator">
            <a:avLst/>
          </a:prstGeom>
          <a:noFill/>
          <a:ln cap="flat" cmpd="sng" w="28575">
            <a:solidFill>
              <a:srgbClr val="980000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7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1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descr="Diagrama&#10;&#10;Descripción generada automáticamente" id="129" name="Google Shape;129;p19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1350100" y="364875"/>
            <a:ext cx="6443799" cy="429835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5"/>
        </a:solidFill>
      </p:bgPr>
    </p:bg>
    <p:spTree>
      <p:nvGrpSpPr>
        <p:cNvPr id="133" name="Shape 1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Google Shape;134;p20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rPr lang="es" sz="3240">
                <a:solidFill>
                  <a:schemeClr val="lt2"/>
                </a:solidFill>
              </a:rPr>
              <a:t>III.6. Medidas de Posición </a:t>
            </a:r>
            <a:endParaRPr sz="3240">
              <a:solidFill>
                <a:schemeClr val="lt2"/>
              </a:solidFill>
            </a:endParaRPr>
          </a:p>
        </p:txBody>
      </p:sp>
      <p:sp>
        <p:nvSpPr>
          <p:cNvPr id="135" name="Google Shape;135;p2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Google Shape;140;p2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Medidas de Posición</a:t>
            </a:r>
            <a:endParaRPr sz="2820"/>
          </a:p>
        </p:txBody>
      </p:sp>
      <p:sp>
        <p:nvSpPr>
          <p:cNvPr id="141" name="Google Shape;141;p2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2" name="Google Shape;142;p21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Las medidas de posición señalan en qué “</a:t>
            </a:r>
            <a:r>
              <a:rPr b="1" lang="es"/>
              <a:t>lugar</a:t>
            </a:r>
            <a:r>
              <a:rPr lang="es"/>
              <a:t>” de una distribución se encuentra un dato o un conjunto de datos en relación al resto.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Solo aplica a variables ordinales o escalares (discretas o continuas), pues necesito una ordinalidad para encontrar el valor.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En general se los llama </a:t>
            </a:r>
            <a:r>
              <a:rPr b="1" lang="es">
                <a:highlight>
                  <a:srgbClr val="AAD5D4"/>
                </a:highlight>
              </a:rPr>
              <a:t>cuantiles</a:t>
            </a:r>
            <a:r>
              <a:rPr lang="es"/>
              <a:t> y los principales son: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Percentiles</a:t>
            </a:r>
            <a:endParaRPr sz="1800"/>
          </a:p>
          <a:p>
            <a:pPr indent="-342900" lvl="0" marL="457200" rtl="0" algn="l">
              <a:spcBef>
                <a:spcPts val="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Fractiles (cuartiles, quintiles, deciles)</a:t>
            </a:r>
            <a:endParaRPr sz="180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6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p2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Cuantiles</a:t>
            </a:r>
            <a:endParaRPr sz="2820"/>
          </a:p>
        </p:txBody>
      </p:sp>
      <p:sp>
        <p:nvSpPr>
          <p:cNvPr id="148" name="Google Shape;148;p2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49" name="Google Shape;149;p22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cuantiles dividen </a:t>
            </a:r>
            <a:r>
              <a:rPr lang="es"/>
              <a:t>un conjunto de datos en grupos de igual tamaño y ordenados.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Sirven para determinar en qué posición está un dato concreto.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Note que siempre hay un cuantil menos que el número de grupos que se quiere construir: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Ejemplo: 3 Cuartiles (Q) dividen la muestra en 4 grupos o 99 Percentiles (P) dividen la muestra en 100 grupos.</a:t>
            </a:r>
            <a:endParaRPr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2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Percentiles</a:t>
            </a:r>
            <a:endParaRPr sz="2820"/>
          </a:p>
        </p:txBody>
      </p:sp>
      <p:sp>
        <p:nvSpPr>
          <p:cNvPr id="155" name="Google Shape;155;p2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56" name="Google Shape;156;p23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Los percentiles (P) dividen a un conjunto de datos en 100 grupos iguales. 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Puede tomar cualquier valor entre 1 y 99.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Corresponde a las puntuaciones (o valores) de una variable bajo los cuales queda ubicado un % determinado del total de las puntuaciones.</a:t>
            </a:r>
            <a:endParaRPr/>
          </a:p>
          <a:p>
            <a:pPr indent="-342900" lvl="0" marL="457200" rtl="0" algn="l">
              <a:spcBef>
                <a:spcPts val="1200"/>
              </a:spcBef>
              <a:spcAft>
                <a:spcPts val="0"/>
              </a:spcAft>
              <a:buSzPts val="1800"/>
              <a:buChar char="●"/>
            </a:pPr>
            <a:r>
              <a:rPr lang="es" sz="1800"/>
              <a:t>Ejemplo: el percentil 67 (P67) es el valor que divide al 67% de valores que obtuvo menor puntaje, del 34% que obtuvo mejor puntaje.</a:t>
            </a:r>
            <a:endParaRPr sz="1800"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1" name="Google Shape;161;p24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Fractiles</a:t>
            </a:r>
            <a:endParaRPr sz="2820"/>
          </a:p>
        </p:txBody>
      </p:sp>
      <p:sp>
        <p:nvSpPr>
          <p:cNvPr id="162" name="Google Shape;162;p2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63" name="Google Shape;163;p24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/>
              <a:t>A partir del cálculo de determinados percentiles (posición en la distribución de la variable), es posible “fraccionar” la distribución de puntuaciones en grupos porcentuales iguales o aproximados: fractiles.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rPr lang="es"/>
              <a:t>Se utilizan comúnmente como </a:t>
            </a:r>
            <a:r>
              <a:rPr b="1" lang="es">
                <a:highlight>
                  <a:srgbClr val="AAD5D4"/>
                </a:highlight>
              </a:rPr>
              <a:t>cuartiles, quintiles, deciles</a:t>
            </a:r>
            <a:r>
              <a:rPr lang="es"/>
              <a:t>.</a:t>
            </a:r>
            <a:endParaRPr sz="180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7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2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Fractiles</a:t>
            </a:r>
            <a:endParaRPr sz="2820"/>
          </a:p>
        </p:txBody>
      </p:sp>
      <p:sp>
        <p:nvSpPr>
          <p:cNvPr id="169" name="Google Shape;169;p2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0" name="Google Shape;170;p25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20000"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AAD5D4"/>
                </a:highlight>
                <a:latin typeface="EB Garamond SemiBold"/>
                <a:ea typeface="EB Garamond SemiBold"/>
                <a:cs typeface="EB Garamond SemiBold"/>
                <a:sym typeface="EB Garamond SemiBold"/>
              </a:rPr>
              <a:t>Cuartiles</a:t>
            </a:r>
            <a:r>
              <a:rPr lang="es"/>
              <a:t>: </a:t>
            </a:r>
            <a:r>
              <a:rPr lang="es"/>
              <a:t>dividen una variable en 4 grupos con mismo tamaño (misma frecuencia), y se les llama </a:t>
            </a:r>
            <a:r>
              <a:rPr lang="es"/>
              <a:t>puntuaciones q1, q2 y q3, ubicando el 25% de los casos en cada grupo.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En el </a:t>
            </a:r>
            <a:r>
              <a:rPr lang="es"/>
              <a:t>primer cuartil </a:t>
            </a:r>
            <a:r>
              <a:rPr lang="es"/>
              <a:t>está el 25% de los valores menores, en el segundo cuartil el siguiente 25% y así…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q1 es el valor que separa el 25% menor del resto.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q2 es la mediana.</a:t>
            </a:r>
            <a:endParaRPr/>
          </a:p>
          <a:p>
            <a:pPr indent="-355600" lvl="0" marL="457200" rtl="0" algn="l">
              <a:spcBef>
                <a:spcPts val="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q3 es el valor que separa el 75% más bajo del 25% más alto.</a:t>
            </a:r>
            <a:endParaRPr/>
          </a:p>
        </p:txBody>
      </p:sp>
      <p:pic>
        <p:nvPicPr>
          <p:cNvPr id="171" name="Google Shape;171;p2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113525" y="2390575"/>
            <a:ext cx="3998699" cy="9402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p26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Fractiles</a:t>
            </a:r>
            <a:endParaRPr sz="2820"/>
          </a:p>
        </p:txBody>
      </p:sp>
      <p:sp>
        <p:nvSpPr>
          <p:cNvPr id="177" name="Google Shape;177;p2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78" name="Google Shape;178;p26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highlight>
                  <a:srgbClr val="AAD5D4"/>
                </a:highlight>
                <a:latin typeface="EB Garamond SemiBold"/>
                <a:ea typeface="EB Garamond SemiBold"/>
                <a:cs typeface="EB Garamond SemiBold"/>
                <a:sym typeface="EB Garamond SemiBold"/>
              </a:rPr>
              <a:t>Quintiles</a:t>
            </a:r>
            <a:r>
              <a:rPr lang="es"/>
              <a:t>: lo mismo pero a partir de 4 puntuaciones: Q1, Q2, Q3, Q4, fracciono en 5 grupos del mismo tamaño, cada uno con el 20% de la frecuencia de la variable.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 sz="1800"/>
          </a:p>
        </p:txBody>
      </p:sp>
      <p:pic>
        <p:nvPicPr>
          <p:cNvPr id="179" name="Google Shape;179;p2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672945" y="2132345"/>
            <a:ext cx="3798125" cy="28202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3" name="Shape 1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4" name="Google Shape;184;p27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Fractiles</a:t>
            </a:r>
            <a:endParaRPr sz="2820"/>
          </a:p>
        </p:txBody>
      </p:sp>
      <p:sp>
        <p:nvSpPr>
          <p:cNvPr id="185" name="Google Shape;185;p2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186" name="Google Shape;186;p27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 sz="1800">
                <a:highlight>
                  <a:srgbClr val="AAD5D4"/>
                </a:highlight>
                <a:latin typeface="EB Garamond SemiBold"/>
                <a:ea typeface="EB Garamond SemiBold"/>
                <a:cs typeface="EB Garamond SemiBold"/>
                <a:sym typeface="EB Garamond SemiBold"/>
              </a:rPr>
              <a:t>D</a:t>
            </a:r>
            <a:r>
              <a:rPr lang="es" sz="1800">
                <a:highlight>
                  <a:srgbClr val="AAD5D4"/>
                </a:highlight>
                <a:latin typeface="EB Garamond SemiBold"/>
                <a:ea typeface="EB Garamond SemiBold"/>
                <a:cs typeface="EB Garamond SemiBold"/>
                <a:sym typeface="EB Garamond SemiBold"/>
              </a:rPr>
              <a:t>eciles</a:t>
            </a:r>
            <a:r>
              <a:rPr lang="es" sz="1800"/>
              <a:t>: fracciona la variable en 10 grupos, 10% de la frecuencia cada grupo.</a:t>
            </a:r>
            <a:endParaRPr sz="1800"/>
          </a:p>
        </p:txBody>
      </p:sp>
      <p:pic>
        <p:nvPicPr>
          <p:cNvPr id="187" name="Google Shape;187;p2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713963" y="1951354"/>
            <a:ext cx="5716074" cy="26175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accent3"/>
        </a:solidFill>
      </p:bgPr>
    </p:bg>
    <p:spTree>
      <p:nvGrpSpPr>
        <p:cNvPr id="19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28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40">
                <a:solidFill>
                  <a:schemeClr val="lt2"/>
                </a:solidFill>
              </a:rPr>
              <a:t>III.7. Medidas de Forma</a:t>
            </a:r>
            <a:endParaRPr sz="3240">
              <a:solidFill>
                <a:schemeClr val="lt2"/>
              </a:solidFill>
            </a:endParaRPr>
          </a:p>
        </p:txBody>
      </p:sp>
      <p:sp>
        <p:nvSpPr>
          <p:cNvPr id="193" name="Google Shape;193;p28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p29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Medidas de Forma</a:t>
            </a:r>
            <a:endParaRPr sz="2820"/>
          </a:p>
        </p:txBody>
      </p:sp>
      <p:sp>
        <p:nvSpPr>
          <p:cNvPr id="199" name="Google Shape;199;p29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00" name="Google Shape;200;p29"/>
          <p:cNvSpPr txBox="1"/>
          <p:nvPr>
            <p:ph idx="1" type="body"/>
          </p:nvPr>
        </p:nvSpPr>
        <p:spPr>
          <a:xfrm>
            <a:off x="311700" y="1152475"/>
            <a:ext cx="85206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/>
              <a:t>Solo tienen pleno sentido con </a:t>
            </a:r>
            <a:r>
              <a:rPr b="1" lang="es">
                <a:highlight>
                  <a:srgbClr val="AAD5D4"/>
                </a:highlight>
              </a:rPr>
              <a:t>variables de intervalo o razón</a:t>
            </a:r>
            <a:r>
              <a:rPr lang="es"/>
              <a:t>, pero se puede aplicar a variables ordinales con más de 5 categorías y que distribuyan de manera normal.</a:t>
            </a:r>
            <a:endParaRPr/>
          </a:p>
          <a:p>
            <a:pPr indent="-355600" lvl="0" marL="457200" rtl="0" algn="l">
              <a:spcBef>
                <a:spcPts val="1200"/>
              </a:spcBef>
              <a:spcAft>
                <a:spcPts val="0"/>
              </a:spcAft>
              <a:buSzPts val="2000"/>
              <a:buChar char="●"/>
            </a:pPr>
            <a:r>
              <a:rPr lang="es"/>
              <a:t>Estas medidas son referencias a la distribución normal.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t/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1200"/>
              </a:spcAft>
              <a:buNone/>
            </a:pPr>
            <a:r>
              <a:t/>
            </a:r>
            <a:endParaRPr/>
          </a:p>
        </p:txBody>
      </p:sp>
      <p:pic>
        <p:nvPicPr>
          <p:cNvPr id="201" name="Google Shape;201;p29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233700" y="2571750"/>
            <a:ext cx="4676600" cy="2289474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p30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Asimetría</a:t>
            </a:r>
            <a:endParaRPr sz="2820"/>
          </a:p>
        </p:txBody>
      </p:sp>
      <p:sp>
        <p:nvSpPr>
          <p:cNvPr id="207" name="Google Shape;207;p30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08" name="Google Shape;208;p30"/>
          <p:cNvSpPr txBox="1"/>
          <p:nvPr>
            <p:ph idx="1" type="body"/>
          </p:nvPr>
        </p:nvSpPr>
        <p:spPr>
          <a:xfrm>
            <a:off x="311700" y="1152475"/>
            <a:ext cx="8520600" cy="1043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Medida en que la distribución de una variable </a:t>
            </a:r>
            <a:r>
              <a:rPr b="1" lang="es">
                <a:highlight>
                  <a:srgbClr val="AAD5D4"/>
                </a:highlight>
              </a:rPr>
              <a:t>se aleja de una distribución simétrica</a:t>
            </a:r>
            <a:r>
              <a:rPr lang="es"/>
              <a:t> a ambos lados de su punto central.</a:t>
            </a:r>
            <a:endParaRPr/>
          </a:p>
        </p:txBody>
      </p:sp>
      <p:pic>
        <p:nvPicPr>
          <p:cNvPr id="209" name="Google Shape;209;p30" title="{&quot;red&quot;:0,&quot;green&quot;:0,&quot;blue&quot;:0,&quot;origURL&quot;:&quot;http://www.texrendr.com/?eqn=%0ACA_F%20%3D%20%5Cfrac%7B%5Csum_%7Bi%3D1%7D%5E%7Bn%7D%20(x_i%20-%20%5Cbar%7Bx%7D)%5E3%7D%7B(n%20-%201)%20%5Ccdot%20s%5E3%7D%0A#0&quot;,&quot;size&quot;:20,&quot;width&quot;:365.6456692913386,&quot;height&quot;:135.73228346456693}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946900" y="2510479"/>
            <a:ext cx="2565925" cy="93800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p30" title="{&quot;red&quot;:0,&quot;green&quot;:0,&quot;blue&quot;:0,&quot;origURL&quot;:&quot;http://www.texrendr.com/?eqn=%0Ag_1%20%3D%200%20%5CRightarrow%20%5Ctext%7Bsim%5Cacute%7Be%7Dtrica%7D%2C%20%5C%5C%20%0Ag_1%20%3E%200%20%5CRightarrow%20%5Ctext%7Basimetr%5Cacute%7Bi%7Da%20positiva%20(hacia%20la%20derecha)%7D%2C%20%5C%5C%0Ag_1%20%3C%200%20%5CRightarrow%20%5Ctext%7Basimetr%5Cacute%7Bi%7Da%20negativa%20(hacia%20la%20izquierda)%7D%0A#0&quot;,&quot;size&quot;:20,&quot;width&quot;:365.6456692913386,&quot;height&quot;:208.46456692913387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4274425" y="2599150"/>
            <a:ext cx="4354286" cy="77664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4" name="Shape 21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5" name="Google Shape;215;p31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Asimetría</a:t>
            </a:r>
            <a:endParaRPr sz="2820"/>
          </a:p>
        </p:txBody>
      </p:sp>
      <p:sp>
        <p:nvSpPr>
          <p:cNvPr id="216" name="Google Shape;216;p31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17" name="Google Shape;217;p31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265722" y="691224"/>
            <a:ext cx="4482676" cy="1762300"/>
          </a:xfrm>
          <a:prstGeom prst="rect">
            <a:avLst/>
          </a:prstGeom>
          <a:noFill/>
          <a:ln>
            <a:noFill/>
          </a:ln>
        </p:spPr>
      </p:pic>
      <p:sp>
        <p:nvSpPr>
          <p:cNvPr id="218" name="Google Shape;218;p31"/>
          <p:cNvSpPr txBox="1"/>
          <p:nvPr/>
        </p:nvSpPr>
        <p:spPr>
          <a:xfrm>
            <a:off x="311700" y="1776875"/>
            <a:ext cx="2124600" cy="461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Asimetrías moderadas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19" name="Google Shape;219;p3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411325" y="2781350"/>
            <a:ext cx="4191474" cy="21423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32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Asimetría</a:t>
            </a:r>
            <a:endParaRPr sz="2820"/>
          </a:p>
        </p:txBody>
      </p:sp>
      <p:sp>
        <p:nvSpPr>
          <p:cNvPr id="225" name="Google Shape;225;p32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26" name="Google Shape;226;p32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328775" y="617074"/>
            <a:ext cx="3308524" cy="2280374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p32"/>
          <p:cNvSpPr txBox="1"/>
          <p:nvPr/>
        </p:nvSpPr>
        <p:spPr>
          <a:xfrm>
            <a:off x="311700" y="1776875"/>
            <a:ext cx="1979400" cy="461700"/>
          </a:xfrm>
          <a:prstGeom prst="rect">
            <a:avLst/>
          </a:prstGeom>
          <a:noFill/>
          <a:ln cap="flat" cmpd="sng" w="19050">
            <a:solidFill>
              <a:srgbClr val="A64D79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91425" lIns="91425" spcFirstLastPara="1" rIns="91425" wrap="square" tIns="91425">
            <a:sp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s" sz="1800">
                <a:solidFill>
                  <a:schemeClr val="dk1"/>
                </a:solidFill>
                <a:latin typeface="EB Garamond"/>
                <a:ea typeface="EB Garamond"/>
                <a:cs typeface="EB Garamond"/>
                <a:sym typeface="EB Garamond"/>
              </a:rPr>
              <a:t>Asimetrías extremas</a:t>
            </a:r>
            <a:endParaRPr sz="1800">
              <a:solidFill>
                <a:schemeClr val="dk1"/>
              </a:solidFill>
              <a:latin typeface="EB Garamond"/>
              <a:ea typeface="EB Garamond"/>
              <a:cs typeface="EB Garamond"/>
              <a:sym typeface="EB Garamond"/>
            </a:endParaRPr>
          </a:p>
        </p:txBody>
      </p:sp>
      <p:pic>
        <p:nvPicPr>
          <p:cNvPr id="228" name="Google Shape;228;p32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328774" y="3062350"/>
            <a:ext cx="3692550" cy="18816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32" name="Shape 2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Google Shape;233;p33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Curtosis</a:t>
            </a:r>
            <a:endParaRPr sz="2820"/>
          </a:p>
        </p:txBody>
      </p:sp>
      <p:sp>
        <p:nvSpPr>
          <p:cNvPr id="234" name="Google Shape;234;p33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35" name="Google Shape;235;p33"/>
          <p:cNvSpPr txBox="1"/>
          <p:nvPr>
            <p:ph idx="1" type="body"/>
          </p:nvPr>
        </p:nvSpPr>
        <p:spPr>
          <a:xfrm>
            <a:off x="311700" y="1152475"/>
            <a:ext cx="8520600" cy="11625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lnSpcReduction="10000"/>
          </a:bodyPr>
          <a:lstStyle/>
          <a:p>
            <a:pPr indent="0" lvl="0" marL="0" rtl="0" algn="l">
              <a:spcBef>
                <a:spcPts val="0"/>
              </a:spcBef>
              <a:spcAft>
                <a:spcPts val="1200"/>
              </a:spcAft>
              <a:buNone/>
            </a:pPr>
            <a:r>
              <a:rPr lang="es"/>
              <a:t>Medida del </a:t>
            </a:r>
            <a:r>
              <a:rPr b="1" lang="es">
                <a:highlight>
                  <a:srgbClr val="AAD5D4"/>
                </a:highlight>
              </a:rPr>
              <a:t>grado de apuntamiento o achatamiento</a:t>
            </a:r>
            <a:r>
              <a:rPr lang="es"/>
              <a:t> de los datos de una distribución, respecto a la curva de distribución normal que tiene coeficiente igual a cero.</a:t>
            </a:r>
            <a:endParaRPr/>
          </a:p>
        </p:txBody>
      </p:sp>
      <p:pic>
        <p:nvPicPr>
          <p:cNvPr id="236" name="Google Shape;236;p33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375750" y="2449725"/>
            <a:ext cx="3936601" cy="19643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37" name="Google Shape;237;p33" title="{&quot;red&quot;:0,&quot;green&quot;:0,&quot;blue&quot;:0,&quot;origURL&quot;:&quot;http://www.texrendr.com/?eqn=%0Ag_2%20%3D%20%5Cfrac%7B%5Cfrac%7B1%7D%7Bn%7D%5Csum_%7Bi%3D1%7D%5E%7Bn%7D%20(x_i%20-%20%5Cbar%7Bx%7D)%5E4%7D%7Bs_x%5E4%7D%20-%203%0A#0&quot;,&quot;size&quot;:20,&quot;width&quot;:302.6692913385827,&quot;height&quot;:135.73228346456693}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435375" y="2395575"/>
            <a:ext cx="2032000" cy="675822"/>
          </a:xfrm>
          <a:prstGeom prst="rect">
            <a:avLst/>
          </a:prstGeom>
          <a:noFill/>
          <a:ln>
            <a:noFill/>
          </a:ln>
        </p:spPr>
      </p:pic>
      <p:pic>
        <p:nvPicPr>
          <p:cNvPr id="238" name="Google Shape;238;p33" title="{&quot;red&quot;:0,&quot;green&quot;:0,&quot;blue&quot;:0,&quot;origURL&quot;:&quot;http://www.texrendr.com/?eqn=%0Ag_2%20%3D%200%20%5C%3B%5CRightarrow%5C%3B%20%5Ctext%7Bdistribuci%5Cacute%7Bo%7Dn%20mesoc%5Cacute%7Bu%7Drtica%20(normal)%7D%20%5C%5C%0Ag_2%20%3E%200%20%5C%3B%5CRightarrow%5C%3B%20%5Ctext%7Bdistribuci%5Cacute%7Bo%7Dn%20leptoc%5Cacute%7Bu%7Drtica%20(m%5Cacute%7Ba%7Ds%20apuntada)%7D%20%5C%5C%0Ag_2%20%3C%200%20%5C%3B%5CRightarrow%5C%3B%20%5Ctext%7Bdistribuci%5Cacute%7Bo%7Dn%20platic%5Cacute%7Bu%7Drtica%20(m%5Cacute%7Ba%7Ds%20achatada)%7D%0A#0&quot;,&quot;size&quot;:20,&quot;width&quot;:347.31496062992125,&quot;height&quot;:256.93700787401576}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78025" y="3483875"/>
            <a:ext cx="4354286" cy="686273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A64D79"/>
        </a:solidFill>
      </p:bgPr>
    </p:bg>
    <p:spTree>
      <p:nvGrpSpPr>
        <p:cNvPr id="242" name="Shape 2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3" name="Google Shape;243;p34"/>
          <p:cNvSpPr txBox="1"/>
          <p:nvPr>
            <p:ph type="title"/>
          </p:nvPr>
        </p:nvSpPr>
        <p:spPr>
          <a:xfrm>
            <a:off x="311700" y="2150850"/>
            <a:ext cx="8520600" cy="8418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457200" rtl="0" algn="ctr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3240">
                <a:solidFill>
                  <a:schemeClr val="lt2"/>
                </a:solidFill>
              </a:rPr>
              <a:t>Boxplot</a:t>
            </a:r>
            <a:endParaRPr sz="3240">
              <a:solidFill>
                <a:schemeClr val="lt2"/>
              </a:solidFill>
            </a:endParaRPr>
          </a:p>
        </p:txBody>
      </p:sp>
      <p:sp>
        <p:nvSpPr>
          <p:cNvPr id="244" name="Google Shape;244;p34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48" name="Shape 2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9" name="Google Shape;249;p35"/>
          <p:cNvSpPr txBox="1"/>
          <p:nvPr>
            <p:ph type="title"/>
          </p:nvPr>
        </p:nvSpPr>
        <p:spPr>
          <a:xfrm>
            <a:off x="311700" y="445025"/>
            <a:ext cx="8520600" cy="5727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SzPts val="990"/>
              <a:buNone/>
            </a:pPr>
            <a:r>
              <a:rPr lang="es" sz="2820"/>
              <a:t>Boxplot o diagrama de cajas</a:t>
            </a:r>
            <a:endParaRPr sz="2820"/>
          </a:p>
        </p:txBody>
      </p:sp>
      <p:sp>
        <p:nvSpPr>
          <p:cNvPr id="250" name="Google Shape;250;p35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sp>
        <p:nvSpPr>
          <p:cNvPr id="251" name="Google Shape;251;p35"/>
          <p:cNvSpPr txBox="1"/>
          <p:nvPr>
            <p:ph idx="1" type="body"/>
          </p:nvPr>
        </p:nvSpPr>
        <p:spPr>
          <a:xfrm>
            <a:off x="311700" y="1152475"/>
            <a:ext cx="5857200" cy="34164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77500" lnSpcReduction="10000"/>
          </a:bodyPr>
          <a:lstStyle/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Expone gráficamente la distribución de las puntuaciones de una variable.</a:t>
            </a:r>
            <a:endParaRPr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Presenta los Cuartiles (Caja)</a:t>
            </a:r>
            <a:endParaRPr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Las puntuaciones máximas y mínimas (patillas).</a:t>
            </a:r>
            <a:endParaRPr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Identificación de valores extremos (Círculos y asteriscos)</a:t>
            </a:r>
            <a:endParaRPr/>
          </a:p>
          <a:p>
            <a:pPr indent="0" lvl="0" marL="0" rtl="0" algn="l">
              <a:spcBef>
                <a:spcPts val="1200"/>
              </a:spcBef>
              <a:spcAft>
                <a:spcPts val="0"/>
              </a:spcAft>
              <a:buNone/>
            </a:pPr>
            <a:r>
              <a:rPr lang="es"/>
              <a:t>¿Para qué sirve?</a:t>
            </a:r>
            <a:endParaRPr/>
          </a:p>
          <a:p>
            <a:pPr indent="-327025" lvl="0" marL="457200" rtl="0" algn="l">
              <a:spcBef>
                <a:spcPts val="120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Permite analizar la forma de distribución de la variable en cuanto al nivel de concentración y dispersión de los datos entre rangos de valores, sesgos y los valores extremos.</a:t>
            </a:r>
            <a:endParaRPr/>
          </a:p>
          <a:p>
            <a:pPr indent="-327025" lvl="0" marL="457200" rtl="0" algn="l">
              <a:spcBef>
                <a:spcPts val="0"/>
              </a:spcBef>
              <a:spcAft>
                <a:spcPts val="0"/>
              </a:spcAft>
              <a:buSzPct val="100000"/>
              <a:buChar char="●"/>
            </a:pPr>
            <a:r>
              <a:rPr lang="es"/>
              <a:t>Complementa el análisis de tabla de descriptivos MTD y MD, de la misma variable entre diferentes grupos (Variables de segmentación)</a:t>
            </a:r>
            <a:endParaRPr/>
          </a:p>
        </p:txBody>
      </p:sp>
      <p:pic>
        <p:nvPicPr>
          <p:cNvPr id="252" name="Google Shape;252;p35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82950" y="1113700"/>
            <a:ext cx="2649347" cy="334069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56" name="Shape 2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7" name="Google Shape;257;p36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58" name="Google Shape;258;p36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722450" y="350125"/>
            <a:ext cx="7816725" cy="437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p37"/>
          <p:cNvSpPr txBox="1"/>
          <p:nvPr>
            <p:ph idx="12" type="sldNum"/>
          </p:nvPr>
        </p:nvSpPr>
        <p:spPr>
          <a:xfrm>
            <a:off x="8472458" y="4663217"/>
            <a:ext cx="548700" cy="393600"/>
          </a:xfrm>
          <a:prstGeom prst="rect">
            <a:avLst/>
          </a:prstGeom>
        </p:spPr>
        <p:txBody>
          <a:bodyPr anchorCtr="0" anchor="ctr" bIns="91425" lIns="91425" spcFirstLastPara="1" rIns="91425" wrap="square" tIns="91425">
            <a:normAutofit/>
          </a:bodyPr>
          <a:lstStyle/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264" name="Google Shape;264;p37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2097138" y="152400"/>
            <a:ext cx="4949735" cy="4838702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68" name="Shape 2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9" name="Google Shape;269;p38"/>
          <p:cNvSpPr txBox="1"/>
          <p:nvPr>
            <p:ph type="ctrTitle"/>
          </p:nvPr>
        </p:nvSpPr>
        <p:spPr>
          <a:xfrm>
            <a:off x="311708" y="744575"/>
            <a:ext cx="8520600" cy="2052600"/>
          </a:xfrm>
          <a:prstGeom prst="rect">
            <a:avLst/>
          </a:prstGeom>
        </p:spPr>
        <p:txBody>
          <a:bodyPr anchorCtr="0" anchor="b" bIns="91425" lIns="91425" spcFirstLastPara="1" rIns="91425" wrap="square" tIns="91425">
            <a:norm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>
                <a:latin typeface="EB Garamond"/>
                <a:ea typeface="EB Garamond"/>
                <a:cs typeface="EB Garamond"/>
                <a:sym typeface="EB Garamond"/>
              </a:rPr>
              <a:t>Métodos Cuantitativos</a:t>
            </a:r>
            <a:endParaRPr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0" name="Google Shape;270;p38"/>
          <p:cNvSpPr txBox="1"/>
          <p:nvPr>
            <p:ph idx="1" type="subTitle"/>
          </p:nvPr>
        </p:nvSpPr>
        <p:spPr>
          <a:xfrm>
            <a:off x="311700" y="283412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 fontScale="92500" lnSpcReduction="20000"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s" sz="2600">
                <a:latin typeface="EB Garamond"/>
                <a:ea typeface="EB Garamond"/>
                <a:cs typeface="EB Garamond"/>
                <a:sym typeface="EB Garamond"/>
              </a:rPr>
              <a:t>Clase 08: Unidad III. Estadística Descriptiva y Análisis descriptivo univariado</a:t>
            </a:r>
            <a:endParaRPr sz="26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1" name="Google Shape;271;p38"/>
          <p:cNvSpPr txBox="1"/>
          <p:nvPr>
            <p:ph idx="1" type="subTitle"/>
          </p:nvPr>
        </p:nvSpPr>
        <p:spPr>
          <a:xfrm>
            <a:off x="311700" y="384875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Universidad Diego Portales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Facultad de Ciencias Sociales e Historia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  <a:p>
            <a:pPr indent="0" lvl="0" marL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s" sz="1400">
                <a:latin typeface="EB Garamond"/>
                <a:ea typeface="EB Garamond"/>
                <a:cs typeface="EB Garamond"/>
                <a:sym typeface="EB Garamond"/>
              </a:rPr>
              <a:t>Antropología</a:t>
            </a:r>
            <a:endParaRPr sz="1400">
              <a:latin typeface="EB Garamond"/>
              <a:ea typeface="EB Garamond"/>
              <a:cs typeface="EB Garamond"/>
              <a:sym typeface="EB Garamond"/>
            </a:endParaRPr>
          </a:p>
        </p:txBody>
      </p:sp>
      <p:sp>
        <p:nvSpPr>
          <p:cNvPr id="272" name="Google Shape;272;p38"/>
          <p:cNvSpPr txBox="1"/>
          <p:nvPr>
            <p:ph idx="1" type="subTitle"/>
          </p:nvPr>
        </p:nvSpPr>
        <p:spPr>
          <a:xfrm>
            <a:off x="311700" y="4033150"/>
            <a:ext cx="8520600" cy="7926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rmAutofit/>
          </a:bodyPr>
          <a:lstStyle/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rPr lang="es" sz="1405"/>
              <a:t>Profesora: Daniela Olivares Collío</a:t>
            </a:r>
            <a:endParaRPr sz="1405"/>
          </a:p>
          <a:p>
            <a:pPr indent="0" lvl="0" marL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18"/>
              <a:buNone/>
            </a:pPr>
            <a:r>
              <a:t/>
            </a:r>
            <a:endParaRPr sz="1405"/>
          </a:p>
        </p:txBody>
      </p:sp>
      <p:pic>
        <p:nvPicPr>
          <p:cNvPr id="273" name="Google Shape;273;p38" title="UDP_LogoRGB_2lineas_Color_SinFondo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6169400" y="132725"/>
            <a:ext cx="2662900" cy="6482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Clases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