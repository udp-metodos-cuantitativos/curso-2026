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y="5143500" cx="9144000"/>
  <p:notesSz cx="6858000" cy="9144000"/>
  <p:embeddedFontLst>
    <p:embeddedFont>
      <p:font typeface="EB Garamond"/>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11C666-C65A-4277-B8E9-2374CC1DFB90}">
  <a:tblStyle styleId="{D811C666-C65A-4277-B8E9-2374CC1DFB9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AD48871-FB56-4D40-95C2-87B6C148C408}"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Calibri"/>
          <a:ea typeface="Calibri"/>
          <a:cs typeface="Calibri"/>
        </a:font>
        <a:srgbClr val="FFFFFF"/>
      </a:tcTxStyle>
      <a:tcStyle>
        <a:fill>
          <a:solidFill>
            <a:srgbClr val="000000"/>
          </a:solidFill>
        </a:fill>
      </a:tcStyle>
    </a:lastCol>
    <a:firstCol>
      <a:tcTxStyle b="on" i="off">
        <a:font>
          <a:latin typeface="Calibri"/>
          <a:ea typeface="Calibri"/>
          <a:cs typeface="Calibri"/>
        </a:font>
        <a:srgbClr val="FFFFFF"/>
      </a:tcTxStyle>
      <a:tcStyle>
        <a:fill>
          <a:solidFill>
            <a:srgbClr val="000000"/>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000000"/>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000000"/>
          </a:solidFill>
        </a:fill>
      </a:tcStyle>
    </a:firstRow>
    <a:neCell>
      <a:tcTxStyle/>
    </a:neCell>
    <a:nwCell>
      <a:tcTxStyle/>
    </a:nwCell>
  </a:tblStyle>
  <a:tblStyle styleId="{BD77198A-63D1-4FB9-AA38-57E1537C359A}" styleName="Table_2">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rgbClr val="000000"/>
              </a:solidFill>
              <a:prstDash val="solid"/>
              <a:round/>
              <a:headEnd len="sm" w="sm" type="none"/>
              <a:tailEnd len="sm" w="sm" type="none"/>
            </a:ln>
          </a:top>
          <a:bottom>
            <a:ln cap="flat" cmpd="sng" w="25400">
              <a:solidFill>
                <a:srgbClr val="000000"/>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Calibri"/>
          <a:ea typeface="Calibri"/>
          <a:cs typeface="Calibri"/>
        </a:font>
        <a:srgbClr val="FFFFFF"/>
      </a:tcTxStyle>
      <a:tcStyle>
        <a:fill>
          <a:solidFill>
            <a:srgbClr val="000000"/>
          </a:solidFill>
        </a:fill>
      </a:tcStyle>
    </a:lastCol>
    <a:firstCol>
      <a:tcTxStyle b="on" i="off">
        <a:font>
          <a:latin typeface="Calibri"/>
          <a:ea typeface="Calibri"/>
          <a:cs typeface="Calibri"/>
        </a:font>
        <a:srgbClr val="FFFFFF"/>
      </a:tcTxStyle>
      <a:tcStyle>
        <a:fill>
          <a:solidFill>
            <a:srgbClr val="000000"/>
          </a:solidFill>
        </a:fill>
      </a:tcStyle>
    </a:firstCol>
    <a:lastRow>
      <a:tcTxStyle b="on" i="off"/>
      <a:tcStyle>
        <a:tcBdr>
          <a:top>
            <a:ln cap="flat" cmpd="sng" w="50800">
              <a:solidFill>
                <a:srgbClr val="000000"/>
              </a:solidFill>
              <a:prstDash val="solid"/>
              <a:round/>
              <a:headEnd len="sm" w="sm" type="none"/>
              <a:tailEnd len="sm" w="sm" type="none"/>
            </a:ln>
          </a:top>
        </a:tcBdr>
        <a:fill>
          <a:solidFill>
            <a:srgbClr val="FFFFFF"/>
          </a:solidFill>
        </a:fill>
      </a:tcStyle>
    </a:lastRow>
    <a:seCell>
      <a:tcTxStyle b="on" i="off">
        <a:font>
          <a:latin typeface="Calibri"/>
          <a:ea typeface="Calibri"/>
          <a:cs typeface="Calibri"/>
        </a:font>
        <a:srgbClr val="000000"/>
      </a:tcTxStyle>
    </a:seCell>
    <a:swCell>
      <a:tcTxStyle b="on" i="off">
        <a:font>
          <a:latin typeface="Calibri"/>
          <a:ea typeface="Calibri"/>
          <a:cs typeface="Calibri"/>
        </a:font>
        <a:srgbClr val="000000"/>
      </a:tcTxStyle>
    </a:swCell>
    <a:firstRow>
      <a:tcTxStyle b="on" i="off">
        <a:font>
          <a:latin typeface="Calibri"/>
          <a:ea typeface="Calibri"/>
          <a:cs typeface="Calibri"/>
        </a:font>
        <a:srgbClr val="FFFFFF"/>
      </a:tcTxStyle>
      <a:tcStyle>
        <a:tcBdr>
          <a:bottom>
            <a:ln cap="flat" cmpd="sng" w="25400">
              <a:solidFill>
                <a:srgbClr val="000000"/>
              </a:solidFill>
              <a:prstDash val="solid"/>
              <a:round/>
              <a:headEnd len="sm" w="sm" type="none"/>
              <a:tailEnd len="sm" w="sm" type="none"/>
            </a:ln>
          </a:bottom>
        </a:tcBdr>
        <a:fill>
          <a:solidFill>
            <a:srgbClr val="000000"/>
          </a:solidFill>
        </a:fill>
      </a:tcStyle>
    </a:firstRow>
    <a:neCell>
      <a:tcTxStyle/>
    </a:neCell>
    <a:nwCell>
      <a:tcTxStyle/>
    </a:nwCell>
  </a:tblStyle>
  <a:tblStyle styleId="{22F9FB94-6CE0-400D-A714-B6118AD48B22}" styleName="Table_3">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EBGaramond-bold.fntdata"/><Relationship Id="rId32" Type="http://schemas.openxmlformats.org/officeDocument/2006/relationships/slide" Target="slides/slide26.xml"/><Relationship Id="rId76" Type="http://schemas.openxmlformats.org/officeDocument/2006/relationships/font" Target="fonts/EBGaramond-regular.fntdata"/><Relationship Id="rId35" Type="http://schemas.openxmlformats.org/officeDocument/2006/relationships/slide" Target="slides/slide29.xml"/><Relationship Id="rId79" Type="http://schemas.openxmlformats.org/officeDocument/2006/relationships/font" Target="fonts/EBGaramond-boldItalic.fntdata"/><Relationship Id="rId34" Type="http://schemas.openxmlformats.org/officeDocument/2006/relationships/slide" Target="slides/slide28.xml"/><Relationship Id="rId78" Type="http://schemas.openxmlformats.org/officeDocument/2006/relationships/font" Target="fonts/EBGaramond-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8b9a7bd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8b9a7bd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8b9a7bdb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f8b9a7bdb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be0ec9c984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be0ec9c984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c81b076f5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c81b076f5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81b076f5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c81b076f5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c811221d5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c811221d5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c811221d5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c811221d5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811221d5c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c811221d5c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c811221d5c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c811221d5c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c811221d5c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c811221d5c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c811221d5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c811221d5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c811221d5c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c811221d5c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c811221d5c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c811221d5c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c811221d5c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c811221d5c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c811221d5c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c811221d5c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c811221d5c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c811221d5c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c811221d5c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c811221d5c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c81b076f5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c81b076f5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c81b076f5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c81b076f5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c81b076f5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c81b076f5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c81b076f5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c81b076f5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c81b076f5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c81b076f5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c81b076f5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c81b076f5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877cff9cf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877cff9cf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877cff9cf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877cff9cf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877cff9cf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877cff9cf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877cff9cf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877cff9cf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877cff9cf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877cff9cf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877cff9cf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877cff9cf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877cff9cf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877cff9cf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877cff9cf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877cff9cf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877cff9cf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877cff9cf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877cff9cf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877cff9cf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877cff9cf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877cff9cf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877cff9cf8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877cff9cf8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877cff9cf8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877cff9cf8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877cff9cf8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877cff9cf8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877cff9cf8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877cff9cf8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877cff9cf8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877cff9cf8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877cff9cf8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877cff9cf8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877cff9cf8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877cff9cf8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877cff9cf8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877cff9cf8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877cff9cf8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2877cff9cf8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877cff9cf8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877cff9cf8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2877cff9cf8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2877cff9cf8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877cff9cf8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877cff9cf8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2877cff9cf8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2877cff9cf8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877cff9cf8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877cff9cf8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877cff9cf8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877cff9cf8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877cff9cf8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2877cff9cf8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877cff9cf8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2877cff9cf8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877cff9cf8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2877cff9cf8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877cff9cf8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2877cff9cf8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877cff9cf8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877cff9cf8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877cff9cf8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877cff9cf8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877cff9cf8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2877cff9cf8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2877cff9cf8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2877cff9cf8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2877cff9cf8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2877cff9cf8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877cff9cf8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2877cff9cf8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877cff9cf8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877cff9cf8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877cff9cf8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877cff9cf8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877cff9cf8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877cff9cf8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2877cff9cf8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2877cff9cf8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877cff9cf8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877cff9cf8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877cff9cf8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2877cff9cf8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877cff9cf8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2877cff9cf8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2877cff9cf8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2877cff9cf8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877cff9cf8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2877cff9cf8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f8b9a7bdb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f8b9a7bdb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daniela.olivares2@mail.udp.cl" TargetMode="External"/><Relationship Id="rId4" Type="http://schemas.openxmlformats.org/officeDocument/2006/relationships/hyperlink" Target="mailto:katherine.aravena@mail.udp.c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1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latin typeface="EB Garamond"/>
                <a:ea typeface="EB Garamond"/>
                <a:cs typeface="EB Garamond"/>
                <a:sym typeface="EB Garamond"/>
              </a:rPr>
              <a:t>Métodos Cuantitativos</a:t>
            </a:r>
            <a:endParaRPr>
              <a:latin typeface="EB Garamond"/>
              <a:ea typeface="EB Garamond"/>
              <a:cs typeface="EB Garamond"/>
              <a:sym typeface="EB Garamond"/>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s" sz="2600">
                <a:latin typeface="EB Garamond"/>
                <a:ea typeface="EB Garamond"/>
                <a:cs typeface="EB Garamond"/>
                <a:sym typeface="EB Garamond"/>
              </a:rPr>
              <a:t>Clase 03: Unidad I. Introducción a la investigación social cuantitativa</a:t>
            </a:r>
            <a:endParaRPr sz="2600">
              <a:latin typeface="EB Garamond"/>
              <a:ea typeface="EB Garamond"/>
              <a:cs typeface="EB Garamond"/>
              <a:sym typeface="EB Garamond"/>
            </a:endParaRPr>
          </a:p>
        </p:txBody>
      </p:sp>
      <p:sp>
        <p:nvSpPr>
          <p:cNvPr id="56" name="Google Shape;56;p13"/>
          <p:cNvSpPr txBox="1"/>
          <p:nvPr>
            <p:ph idx="1" type="subTitle"/>
          </p:nvPr>
        </p:nvSpPr>
        <p:spPr>
          <a:xfrm>
            <a:off x="311700" y="384875"/>
            <a:ext cx="8520600" cy="792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s" sz="1400">
                <a:latin typeface="EB Garamond"/>
                <a:ea typeface="EB Garamond"/>
                <a:cs typeface="EB Garamond"/>
                <a:sym typeface="EB Garamond"/>
              </a:rPr>
              <a:t>Universidad Diego Portales</a:t>
            </a:r>
            <a:endParaRPr sz="1400">
              <a:latin typeface="EB Garamond"/>
              <a:ea typeface="EB Garamond"/>
              <a:cs typeface="EB Garamond"/>
              <a:sym typeface="EB Garamond"/>
            </a:endParaRPr>
          </a:p>
          <a:p>
            <a:pPr indent="0" lvl="0" marL="0" rtl="0" algn="l">
              <a:lnSpc>
                <a:spcPct val="80000"/>
              </a:lnSpc>
              <a:spcBef>
                <a:spcPts val="0"/>
              </a:spcBef>
              <a:spcAft>
                <a:spcPts val="0"/>
              </a:spcAft>
              <a:buNone/>
            </a:pPr>
            <a:r>
              <a:rPr lang="es" sz="1400">
                <a:latin typeface="EB Garamond"/>
                <a:ea typeface="EB Garamond"/>
                <a:cs typeface="EB Garamond"/>
                <a:sym typeface="EB Garamond"/>
              </a:rPr>
              <a:t>Facultad de Ciencias Sociales e Historia</a:t>
            </a:r>
            <a:endParaRPr sz="1400">
              <a:latin typeface="EB Garamond"/>
              <a:ea typeface="EB Garamond"/>
              <a:cs typeface="EB Garamond"/>
              <a:sym typeface="EB Garamond"/>
            </a:endParaRPr>
          </a:p>
          <a:p>
            <a:pPr indent="0" lvl="0" marL="0" rtl="0" algn="l">
              <a:lnSpc>
                <a:spcPct val="80000"/>
              </a:lnSpc>
              <a:spcBef>
                <a:spcPts val="0"/>
              </a:spcBef>
              <a:spcAft>
                <a:spcPts val="0"/>
              </a:spcAft>
              <a:buClr>
                <a:schemeClr val="dk1"/>
              </a:buClr>
              <a:buSzPts val="1100"/>
              <a:buFont typeface="Arial"/>
              <a:buNone/>
            </a:pPr>
            <a:r>
              <a:rPr lang="es" sz="1400">
                <a:latin typeface="EB Garamond"/>
                <a:ea typeface="EB Garamond"/>
                <a:cs typeface="EB Garamond"/>
                <a:sym typeface="EB Garamond"/>
              </a:rPr>
              <a:t>Antropología</a:t>
            </a:r>
            <a:endParaRPr sz="1400">
              <a:latin typeface="EB Garamond"/>
              <a:ea typeface="EB Garamond"/>
              <a:cs typeface="EB Garamond"/>
              <a:sym typeface="EB Garamond"/>
            </a:endParaRPr>
          </a:p>
        </p:txBody>
      </p:sp>
      <p:sp>
        <p:nvSpPr>
          <p:cNvPr id="57" name="Google Shape;57;p13"/>
          <p:cNvSpPr txBox="1"/>
          <p:nvPr>
            <p:ph idx="1" type="subTitle"/>
          </p:nvPr>
        </p:nvSpPr>
        <p:spPr>
          <a:xfrm>
            <a:off x="311700" y="4033150"/>
            <a:ext cx="8520600" cy="792600"/>
          </a:xfrm>
          <a:prstGeom prst="rect">
            <a:avLst/>
          </a:prstGeom>
        </p:spPr>
        <p:txBody>
          <a:bodyPr anchorCtr="0" anchor="t" bIns="91425" lIns="91425" spcFirstLastPara="1" rIns="91425" wrap="square" tIns="91425">
            <a:normAutofit/>
          </a:bodyPr>
          <a:lstStyle/>
          <a:p>
            <a:pPr indent="0" lvl="0" marL="0" rtl="0" algn="r">
              <a:lnSpc>
                <a:spcPct val="80000"/>
              </a:lnSpc>
              <a:spcBef>
                <a:spcPts val="0"/>
              </a:spcBef>
              <a:spcAft>
                <a:spcPts val="0"/>
              </a:spcAft>
              <a:buSzPts val="1018"/>
              <a:buNone/>
            </a:pPr>
            <a:r>
              <a:rPr lang="es" sz="1405">
                <a:latin typeface="EB Garamond"/>
                <a:ea typeface="EB Garamond"/>
                <a:cs typeface="EB Garamond"/>
                <a:sym typeface="EB Garamond"/>
              </a:rPr>
              <a:t>Profesora: Daniela Olivares Collío</a:t>
            </a:r>
            <a:endParaRPr sz="1405">
              <a:latin typeface="EB Garamond"/>
              <a:ea typeface="EB Garamond"/>
              <a:cs typeface="EB Garamond"/>
              <a:sym typeface="EB Garamond"/>
            </a:endParaRPr>
          </a:p>
          <a:p>
            <a:pPr indent="0" lvl="0" marL="0" rtl="0" algn="r">
              <a:lnSpc>
                <a:spcPct val="80000"/>
              </a:lnSpc>
              <a:spcBef>
                <a:spcPts val="0"/>
              </a:spcBef>
              <a:spcAft>
                <a:spcPts val="0"/>
              </a:spcAft>
              <a:buSzPts val="1018"/>
              <a:buNone/>
            </a:pPr>
            <a:r>
              <a:rPr lang="es" sz="1405">
                <a:latin typeface="EB Garamond"/>
                <a:ea typeface="EB Garamond"/>
                <a:cs typeface="EB Garamond"/>
                <a:sym typeface="EB Garamond"/>
              </a:rPr>
              <a:t>Ayudante: Katherine Aravena Herrera</a:t>
            </a:r>
            <a:endParaRPr sz="1405">
              <a:latin typeface="EB Garamond"/>
              <a:ea typeface="EB Garamond"/>
              <a:cs typeface="EB Garamond"/>
              <a:sym typeface="EB Garamond"/>
            </a:endParaRPr>
          </a:p>
          <a:p>
            <a:pPr indent="0" lvl="0" marL="0" rtl="0" algn="r">
              <a:lnSpc>
                <a:spcPct val="80000"/>
              </a:lnSpc>
              <a:spcBef>
                <a:spcPts val="0"/>
              </a:spcBef>
              <a:spcAft>
                <a:spcPts val="0"/>
              </a:spcAft>
              <a:buSzPts val="1018"/>
              <a:buNone/>
            </a:pPr>
            <a:r>
              <a:rPr lang="es" sz="1405">
                <a:latin typeface="EB Garamond"/>
                <a:ea typeface="EB Garamond"/>
                <a:cs typeface="EB Garamond"/>
                <a:sym typeface="EB Garamond"/>
              </a:rPr>
              <a:t>2do semestre 2026</a:t>
            </a:r>
            <a:endParaRPr sz="1405">
              <a:latin typeface="EB Garamond"/>
              <a:ea typeface="EB Garamond"/>
              <a:cs typeface="EB Garamond"/>
              <a:sym typeface="EB Garamond"/>
            </a:endParaRPr>
          </a:p>
        </p:txBody>
      </p:sp>
      <p:pic>
        <p:nvPicPr>
          <p:cNvPr id="58" name="Google Shape;58;p13" title="UDP_LogoRGB_2lineas_Color_SinFondo.png"/>
          <p:cNvPicPr preferRelativeResize="0"/>
          <p:nvPr/>
        </p:nvPicPr>
        <p:blipFill>
          <a:blip r:embed="rId3">
            <a:alphaModFix/>
          </a:blip>
          <a:stretch>
            <a:fillRect/>
          </a:stretch>
        </p:blipFill>
        <p:spPr>
          <a:xfrm>
            <a:off x="6169400" y="132725"/>
            <a:ext cx="2662900" cy="648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1090500"/>
            <a:ext cx="8520600" cy="2571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a:latin typeface="EB Garamond"/>
                <a:ea typeface="EB Garamond"/>
                <a:cs typeface="EB Garamond"/>
                <a:sym typeface="EB Garamond"/>
              </a:rPr>
              <a:t>Profesora: Daniela Olivares Collío</a:t>
            </a:r>
            <a:endParaRPr>
              <a:latin typeface="EB Garamond"/>
              <a:ea typeface="EB Garamond"/>
              <a:cs typeface="EB Garamond"/>
              <a:sym typeface="EB Garamond"/>
            </a:endParaRPr>
          </a:p>
          <a:p>
            <a:pPr indent="0" lvl="0" marL="0" rtl="0" algn="ctr">
              <a:spcBef>
                <a:spcPts val="0"/>
              </a:spcBef>
              <a:spcAft>
                <a:spcPts val="0"/>
              </a:spcAft>
              <a:buNone/>
            </a:pPr>
            <a:r>
              <a:rPr lang="es" u="sng">
                <a:solidFill>
                  <a:schemeClr val="hlink"/>
                </a:solidFill>
                <a:latin typeface="EB Garamond"/>
                <a:ea typeface="EB Garamond"/>
                <a:cs typeface="EB Garamond"/>
                <a:sym typeface="EB Garamond"/>
                <a:hlinkClick r:id="rId3"/>
              </a:rPr>
              <a:t>daniela.olivares2@mail.udp.cl</a:t>
            </a:r>
            <a:endParaRPr>
              <a:latin typeface="EB Garamond"/>
              <a:ea typeface="EB Garamond"/>
              <a:cs typeface="EB Garamond"/>
              <a:sym typeface="EB Garamond"/>
            </a:endParaRPr>
          </a:p>
          <a:p>
            <a:pPr indent="0" lvl="0" marL="0" rtl="0" algn="ctr">
              <a:spcBef>
                <a:spcPts val="0"/>
              </a:spcBef>
              <a:spcAft>
                <a:spcPts val="0"/>
              </a:spcAft>
              <a:buNone/>
            </a:pPr>
            <a:r>
              <a:t/>
            </a:r>
            <a:endParaRPr>
              <a:latin typeface="EB Garamond"/>
              <a:ea typeface="EB Garamond"/>
              <a:cs typeface="EB Garamond"/>
              <a:sym typeface="EB Garamond"/>
            </a:endParaRPr>
          </a:p>
          <a:p>
            <a:pPr indent="0" lvl="0" marL="0" rtl="0" algn="ctr">
              <a:spcBef>
                <a:spcPts val="0"/>
              </a:spcBef>
              <a:spcAft>
                <a:spcPts val="0"/>
              </a:spcAft>
              <a:buNone/>
            </a:pPr>
            <a:r>
              <a:rPr lang="es">
                <a:latin typeface="EB Garamond"/>
                <a:ea typeface="EB Garamond"/>
                <a:cs typeface="EB Garamond"/>
                <a:sym typeface="EB Garamond"/>
              </a:rPr>
              <a:t>Ayudante: Katherine Aravena Herrera</a:t>
            </a:r>
            <a:endParaRPr>
              <a:latin typeface="EB Garamond"/>
              <a:ea typeface="EB Garamond"/>
              <a:cs typeface="EB Garamond"/>
              <a:sym typeface="EB Garamond"/>
            </a:endParaRPr>
          </a:p>
          <a:p>
            <a:pPr indent="0" lvl="0" marL="0" rtl="0" algn="ctr">
              <a:spcBef>
                <a:spcPts val="0"/>
              </a:spcBef>
              <a:spcAft>
                <a:spcPts val="0"/>
              </a:spcAft>
              <a:buNone/>
            </a:pPr>
            <a:r>
              <a:rPr lang="es" u="sng">
                <a:solidFill>
                  <a:schemeClr val="hlink"/>
                </a:solidFill>
                <a:latin typeface="EB Garamond"/>
                <a:ea typeface="EB Garamond"/>
                <a:cs typeface="EB Garamond"/>
                <a:sym typeface="EB Garamond"/>
                <a:hlinkClick r:id="rId4"/>
              </a:rPr>
              <a:t>katherine.aravena@mail.udp.cl</a:t>
            </a:r>
            <a:endParaRPr>
              <a:latin typeface="EB Garamond"/>
              <a:ea typeface="EB Garamond"/>
              <a:cs typeface="EB Garamond"/>
              <a:sym typeface="EB Garamond"/>
            </a:endParaRPr>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latin typeface="EB Garamond"/>
                <a:ea typeface="EB Garamond"/>
                <a:cs typeface="EB Garamond"/>
                <a:sym typeface="EB Garamond"/>
              </a:rPr>
              <a:t>Objetivos</a:t>
            </a:r>
            <a:endParaRPr>
              <a:latin typeface="EB Garamond"/>
              <a:ea typeface="EB Garamond"/>
              <a:cs typeface="EB Garamond"/>
              <a:sym typeface="EB Garamond"/>
            </a:endParaRPr>
          </a:p>
        </p:txBody>
      </p:sp>
      <p:sp>
        <p:nvSpPr>
          <p:cNvPr id="70" name="Google Shape;70;p1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b="1" lang="es">
                <a:latin typeface="EB Garamond"/>
                <a:ea typeface="EB Garamond"/>
                <a:cs typeface="EB Garamond"/>
                <a:sym typeface="EB Garamond"/>
              </a:rPr>
              <a:t>Unidad I. Introducción a la investigación social cuantitativa</a:t>
            </a:r>
            <a:endParaRPr b="1">
              <a:latin typeface="EB Garamond"/>
              <a:ea typeface="EB Garamond"/>
              <a:cs typeface="EB Garamond"/>
              <a:sym typeface="EB Garamond"/>
            </a:endParaRPr>
          </a:p>
          <a:p>
            <a:pPr indent="0" lvl="0" marL="0" rtl="0" algn="l">
              <a:spcBef>
                <a:spcPts val="1200"/>
              </a:spcBef>
              <a:spcAft>
                <a:spcPts val="0"/>
              </a:spcAft>
              <a:buNone/>
            </a:pPr>
            <a:r>
              <a:rPr lang="es">
                <a:latin typeface="EB Garamond"/>
                <a:ea typeface="EB Garamond"/>
                <a:cs typeface="EB Garamond"/>
                <a:sym typeface="EB Garamond"/>
              </a:rPr>
              <a:t>I.3. Construcción de un problema de Investigación Cuantitativa</a:t>
            </a:r>
            <a:endParaRPr>
              <a:latin typeface="EB Garamond"/>
              <a:ea typeface="EB Garamond"/>
              <a:cs typeface="EB Garamond"/>
              <a:sym typeface="EB Garamond"/>
            </a:endParaRPr>
          </a:p>
          <a:p>
            <a:pPr indent="0" lvl="0" marL="0" rtl="0" algn="l">
              <a:spcBef>
                <a:spcPts val="1200"/>
              </a:spcBef>
              <a:spcAft>
                <a:spcPts val="0"/>
              </a:spcAft>
              <a:buNone/>
            </a:pPr>
            <a:r>
              <a:rPr lang="es">
                <a:latin typeface="EB Garamond"/>
                <a:ea typeface="EB Garamond"/>
                <a:cs typeface="EB Garamond"/>
                <a:sym typeface="EB Garamond"/>
              </a:rPr>
              <a:t>I.4. Conceptualización de variables e indicadores y operacionalización</a:t>
            </a:r>
            <a:endParaRPr>
              <a:latin typeface="EB Garamond"/>
              <a:ea typeface="EB Garamond"/>
              <a:cs typeface="EB Garamond"/>
              <a:sym typeface="EB Garamond"/>
            </a:endParaRPr>
          </a:p>
          <a:p>
            <a:pPr indent="0" lvl="0" marL="457200" rtl="0" algn="l">
              <a:spcBef>
                <a:spcPts val="1200"/>
              </a:spcBef>
              <a:spcAft>
                <a:spcPts val="0"/>
              </a:spcAft>
              <a:buClr>
                <a:schemeClr val="dk1"/>
              </a:buClr>
              <a:buSzPct val="70301"/>
              <a:buFont typeface="Arial"/>
              <a:buNone/>
            </a:pPr>
            <a:r>
              <a:rPr lang="es" sz="1565">
                <a:latin typeface="EB Garamond"/>
                <a:ea typeface="EB Garamond"/>
                <a:cs typeface="EB Garamond"/>
                <a:sym typeface="EB Garamond"/>
              </a:rPr>
              <a:t>I.4.2. Identificación de variables, atributos y casos.</a:t>
            </a:r>
            <a:endParaRPr sz="1565">
              <a:latin typeface="EB Garamond"/>
              <a:ea typeface="EB Garamond"/>
              <a:cs typeface="EB Garamond"/>
              <a:sym typeface="EB Garamond"/>
            </a:endParaRPr>
          </a:p>
          <a:p>
            <a:pPr indent="0" lvl="0" marL="457200" rtl="0" algn="l">
              <a:spcBef>
                <a:spcPts val="1200"/>
              </a:spcBef>
              <a:spcAft>
                <a:spcPts val="0"/>
              </a:spcAft>
              <a:buClr>
                <a:schemeClr val="dk1"/>
              </a:buClr>
              <a:buSzPct val="70301"/>
              <a:buFont typeface="Arial"/>
              <a:buNone/>
            </a:pPr>
            <a:r>
              <a:rPr lang="es" sz="1565">
                <a:latin typeface="EB Garamond"/>
                <a:ea typeface="EB Garamond"/>
                <a:cs typeface="EB Garamond"/>
                <a:sym typeface="EB Garamond"/>
              </a:rPr>
              <a:t>I.4.3. Tipos de variables y niveles de medición.</a:t>
            </a:r>
            <a:endParaRPr sz="1565">
              <a:latin typeface="EB Garamond"/>
              <a:ea typeface="EB Garamond"/>
              <a:cs typeface="EB Garamond"/>
              <a:sym typeface="EB Garamond"/>
            </a:endParaRPr>
          </a:p>
          <a:p>
            <a:pPr indent="0" lvl="0" marL="457200" rtl="0" algn="l">
              <a:spcBef>
                <a:spcPts val="1200"/>
              </a:spcBef>
              <a:spcAft>
                <a:spcPts val="1200"/>
              </a:spcAft>
              <a:buNone/>
            </a:pPr>
            <a:r>
              <a:rPr lang="es" sz="1565">
                <a:latin typeface="EB Garamond"/>
                <a:ea typeface="EB Garamond"/>
                <a:cs typeface="EB Garamond"/>
                <a:sym typeface="EB Garamond"/>
              </a:rPr>
              <a:t>I.4.4. Transformación de nivel de medición de las variables.</a:t>
            </a:r>
            <a:endParaRPr sz="1565">
              <a:latin typeface="EB Garamond"/>
              <a:ea typeface="EB Garamond"/>
              <a:cs typeface="EB Garamond"/>
              <a:sym typeface="EB Garamond"/>
            </a:endParaRPr>
          </a:p>
        </p:txBody>
      </p:sp>
      <p:sp>
        <p:nvSpPr>
          <p:cNvPr id="71" name="Google Shape;71;p1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latin typeface="EB Garamond"/>
                <a:ea typeface="EB Garamond"/>
                <a:cs typeface="EB Garamond"/>
                <a:sym typeface="EB Garamond"/>
              </a:rPr>
              <a:t>Clase 03</a:t>
            </a:r>
            <a:endParaRPr>
              <a:latin typeface="EB Garamond"/>
              <a:ea typeface="EB Garamond"/>
              <a:cs typeface="EB Garamond"/>
              <a:sym typeface="EB Garamond"/>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Pregunta-Objetivos-Hipótesis</a:t>
            </a:r>
            <a:endParaRPr b="1">
              <a:latin typeface="EB Garamond"/>
              <a:ea typeface="EB Garamond"/>
              <a:cs typeface="EB Garamond"/>
              <a:sym typeface="EB Garamond"/>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latin typeface="EB Garamond"/>
              <a:ea typeface="EB Garamond"/>
              <a:cs typeface="EB Garamond"/>
              <a:sym typeface="EB Garamond"/>
            </a:endParaRPr>
          </a:p>
          <a:p>
            <a:pPr indent="-342900" lvl="0" marL="457200" rtl="0" algn="l">
              <a:spcBef>
                <a:spcPts val="1200"/>
              </a:spcBef>
              <a:spcAft>
                <a:spcPts val="0"/>
              </a:spcAft>
              <a:buSzPts val="1800"/>
              <a:buFont typeface="EB Garamond"/>
              <a:buChar char="★"/>
            </a:pPr>
            <a:r>
              <a:rPr lang="es">
                <a:latin typeface="EB Garamond"/>
                <a:ea typeface="EB Garamond"/>
                <a:cs typeface="EB Garamond"/>
                <a:sym typeface="EB Garamond"/>
              </a:rPr>
              <a:t>Delimitan lo que busca la investigación.</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s">
                <a:latin typeface="EB Garamond"/>
                <a:ea typeface="EB Garamond"/>
                <a:cs typeface="EB Garamond"/>
                <a:sym typeface="EB Garamond"/>
              </a:rPr>
              <a:t>Especifican, dan claridad y coherencia.</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s">
                <a:latin typeface="EB Garamond"/>
                <a:ea typeface="EB Garamond"/>
                <a:cs typeface="EB Garamond"/>
                <a:sym typeface="EB Garamond"/>
              </a:rPr>
              <a:t>Constituyen el núcleo de la investigación.</a:t>
            </a:r>
            <a:endParaRPr>
              <a:latin typeface="EB Garamond"/>
              <a:ea typeface="EB Garamond"/>
              <a:cs typeface="EB Garamond"/>
              <a:sym typeface="EB Garamond"/>
            </a:endParaRPr>
          </a:p>
          <a:p>
            <a:pPr indent="0" lvl="0" marL="0" rtl="0" algn="l">
              <a:spcBef>
                <a:spcPts val="1200"/>
              </a:spcBef>
              <a:spcAft>
                <a:spcPts val="1200"/>
              </a:spcAft>
              <a:buNone/>
            </a:pPr>
            <a:r>
              <a:t/>
            </a:r>
            <a:endParaRPr>
              <a:latin typeface="EB Garamond"/>
              <a:ea typeface="EB Garamond"/>
              <a:cs typeface="EB Garamond"/>
              <a:sym typeface="EB Garamond"/>
            </a:endParaRPr>
          </a:p>
        </p:txBody>
      </p:sp>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Ejemplo</a:t>
            </a:r>
            <a:endParaRPr b="1">
              <a:latin typeface="EB Garamond"/>
              <a:ea typeface="EB Garamond"/>
              <a:cs typeface="EB Garamond"/>
              <a:sym typeface="EB Garamond"/>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rPr b="1" lang="es">
                <a:latin typeface="EB Garamond"/>
                <a:ea typeface="EB Garamond"/>
                <a:cs typeface="EB Garamond"/>
                <a:sym typeface="EB Garamond"/>
              </a:rPr>
              <a:t>Pregunta</a:t>
            </a:r>
            <a:r>
              <a:rPr lang="es">
                <a:latin typeface="EB Garamond"/>
                <a:ea typeface="EB Garamond"/>
                <a:cs typeface="EB Garamond"/>
                <a:sym typeface="EB Garamond"/>
              </a:rPr>
              <a:t>: ¿Cuál es el </a:t>
            </a:r>
            <a:r>
              <a:rPr lang="es">
                <a:highlight>
                  <a:srgbClr val="FFC000"/>
                </a:highlight>
                <a:latin typeface="EB Garamond"/>
                <a:ea typeface="EB Garamond"/>
                <a:cs typeface="EB Garamond"/>
                <a:sym typeface="EB Garamond"/>
              </a:rPr>
              <a:t>efecto de la pandemia</a:t>
            </a:r>
            <a:r>
              <a:rPr lang="es">
                <a:latin typeface="EB Garamond"/>
                <a:ea typeface="EB Garamond"/>
                <a:cs typeface="EB Garamond"/>
                <a:sym typeface="EB Garamond"/>
              </a:rPr>
              <a:t> en la la </a:t>
            </a:r>
            <a:r>
              <a:rPr lang="es">
                <a:solidFill>
                  <a:schemeClr val="lt2"/>
                </a:solidFill>
                <a:highlight>
                  <a:schemeClr val="accent5"/>
                </a:highlight>
                <a:latin typeface="EB Garamond"/>
                <a:ea typeface="EB Garamond"/>
                <a:cs typeface="EB Garamond"/>
                <a:sym typeface="EB Garamond"/>
              </a:rPr>
              <a:t>participación laboral de mujeres</a:t>
            </a:r>
            <a:r>
              <a:rPr lang="es">
                <a:latin typeface="EB Garamond"/>
                <a:ea typeface="EB Garamond"/>
                <a:cs typeface="EB Garamond"/>
                <a:sym typeface="EB Garamond"/>
              </a:rPr>
              <a:t>?</a:t>
            </a:r>
            <a:endParaRPr>
              <a:latin typeface="EB Garamond"/>
              <a:ea typeface="EB Garamond"/>
              <a:cs typeface="EB Garamond"/>
              <a:sym typeface="EB Garamond"/>
            </a:endParaRPr>
          </a:p>
          <a:p>
            <a:pPr indent="0" lvl="0" marL="0" rtl="0" algn="l">
              <a:spcBef>
                <a:spcPts val="1200"/>
              </a:spcBef>
              <a:spcAft>
                <a:spcPts val="0"/>
              </a:spcAft>
              <a:buNone/>
            </a:pPr>
            <a:r>
              <a:rPr b="1" lang="es">
                <a:latin typeface="EB Garamond"/>
                <a:ea typeface="EB Garamond"/>
                <a:cs typeface="EB Garamond"/>
                <a:sym typeface="EB Garamond"/>
              </a:rPr>
              <a:t>Objetivo</a:t>
            </a:r>
            <a:r>
              <a:rPr lang="es">
                <a:latin typeface="EB Garamond"/>
                <a:ea typeface="EB Garamond"/>
                <a:cs typeface="EB Garamond"/>
                <a:sym typeface="EB Garamond"/>
              </a:rPr>
              <a:t>: Determinar el </a:t>
            </a:r>
            <a:r>
              <a:rPr lang="es">
                <a:highlight>
                  <a:srgbClr val="FDBF41"/>
                </a:highlight>
                <a:latin typeface="EB Garamond"/>
                <a:ea typeface="EB Garamond"/>
                <a:cs typeface="EB Garamond"/>
                <a:sym typeface="EB Garamond"/>
              </a:rPr>
              <a:t>efecto de la pandemi</a:t>
            </a:r>
            <a:r>
              <a:rPr lang="es">
                <a:latin typeface="EB Garamond"/>
                <a:ea typeface="EB Garamond"/>
                <a:cs typeface="EB Garamond"/>
                <a:sym typeface="EB Garamond"/>
              </a:rPr>
              <a:t>a en la </a:t>
            </a:r>
            <a:r>
              <a:rPr lang="es">
                <a:solidFill>
                  <a:schemeClr val="lt2"/>
                </a:solidFill>
                <a:highlight>
                  <a:schemeClr val="accent5"/>
                </a:highlight>
                <a:latin typeface="EB Garamond"/>
                <a:ea typeface="EB Garamond"/>
                <a:cs typeface="EB Garamond"/>
                <a:sym typeface="EB Garamond"/>
              </a:rPr>
              <a:t>participación laboral de mujeres</a:t>
            </a:r>
            <a:r>
              <a:rPr lang="es">
                <a:latin typeface="EB Garamond"/>
                <a:ea typeface="EB Garamond"/>
                <a:cs typeface="EB Garamond"/>
                <a:sym typeface="EB Garamond"/>
              </a:rPr>
              <a:t>, que residen en la </a:t>
            </a:r>
            <a:r>
              <a:rPr lang="es">
                <a:highlight>
                  <a:srgbClr val="FBE4D4"/>
                </a:highlight>
                <a:latin typeface="EB Garamond"/>
                <a:ea typeface="EB Garamond"/>
                <a:cs typeface="EB Garamond"/>
                <a:sym typeface="EB Garamond"/>
              </a:rPr>
              <a:t>región metropolitana, entre el año 2019 y 2020</a:t>
            </a:r>
            <a:r>
              <a:rPr lang="es">
                <a:latin typeface="EB Garamond"/>
                <a:ea typeface="EB Garamond"/>
                <a:cs typeface="EB Garamond"/>
                <a:sym typeface="EB Garamond"/>
              </a:rPr>
              <a:t>.</a:t>
            </a:r>
            <a:endParaRPr>
              <a:latin typeface="EB Garamond"/>
              <a:ea typeface="EB Garamond"/>
              <a:cs typeface="EB Garamond"/>
              <a:sym typeface="EB Garamond"/>
            </a:endParaRPr>
          </a:p>
          <a:p>
            <a:pPr indent="0" lvl="0" marL="0" rtl="0" algn="l">
              <a:spcBef>
                <a:spcPts val="1200"/>
              </a:spcBef>
              <a:spcAft>
                <a:spcPts val="1200"/>
              </a:spcAft>
              <a:buNone/>
            </a:pPr>
            <a:r>
              <a:rPr b="1" lang="es">
                <a:latin typeface="EB Garamond"/>
                <a:ea typeface="EB Garamond"/>
                <a:cs typeface="EB Garamond"/>
                <a:sym typeface="EB Garamond"/>
              </a:rPr>
              <a:t>Hipótesis</a:t>
            </a:r>
            <a:r>
              <a:rPr lang="es">
                <a:latin typeface="EB Garamond"/>
                <a:ea typeface="EB Garamond"/>
                <a:cs typeface="EB Garamond"/>
                <a:sym typeface="EB Garamond"/>
              </a:rPr>
              <a:t>: El contexto de </a:t>
            </a:r>
            <a:r>
              <a:rPr lang="es">
                <a:highlight>
                  <a:srgbClr val="FDBF41"/>
                </a:highlight>
                <a:latin typeface="EB Garamond"/>
                <a:ea typeface="EB Garamond"/>
                <a:cs typeface="EB Garamond"/>
                <a:sym typeface="EB Garamond"/>
              </a:rPr>
              <a:t>pandemia ha afectado</a:t>
            </a:r>
            <a:r>
              <a:rPr lang="es">
                <a:latin typeface="EB Garamond"/>
                <a:ea typeface="EB Garamond"/>
                <a:cs typeface="EB Garamond"/>
                <a:sym typeface="EB Garamond"/>
              </a:rPr>
              <a:t> </a:t>
            </a:r>
            <a:r>
              <a:rPr lang="es">
                <a:solidFill>
                  <a:schemeClr val="lt2"/>
                </a:solidFill>
                <a:highlight>
                  <a:srgbClr val="A64D79"/>
                </a:highlight>
                <a:latin typeface="EB Garamond"/>
                <a:ea typeface="EB Garamond"/>
                <a:cs typeface="EB Garamond"/>
                <a:sym typeface="EB Garamond"/>
              </a:rPr>
              <a:t>negativamente</a:t>
            </a:r>
            <a:r>
              <a:rPr lang="es">
                <a:latin typeface="EB Garamond"/>
                <a:ea typeface="EB Garamond"/>
                <a:cs typeface="EB Garamond"/>
                <a:sym typeface="EB Garamond"/>
              </a:rPr>
              <a:t> la </a:t>
            </a:r>
            <a:r>
              <a:rPr lang="es">
                <a:solidFill>
                  <a:schemeClr val="lt2"/>
                </a:solidFill>
                <a:highlight>
                  <a:schemeClr val="accent5"/>
                </a:highlight>
                <a:latin typeface="EB Garamond"/>
                <a:ea typeface="EB Garamond"/>
                <a:cs typeface="EB Garamond"/>
                <a:sym typeface="EB Garamond"/>
              </a:rPr>
              <a:t>participación laboral de mujeres.</a:t>
            </a:r>
            <a:endParaRPr>
              <a:latin typeface="EB Garamond"/>
              <a:ea typeface="EB Garamond"/>
              <a:cs typeface="EB Garamond"/>
              <a:sym typeface="EB Garamond"/>
            </a:endParaRPr>
          </a:p>
        </p:txBody>
      </p:sp>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4D79"/>
        </a:solidFill>
      </p:bgPr>
    </p:bg>
    <p:spTree>
      <p:nvGrpSpPr>
        <p:cNvPr id="90" name="Shape 90"/>
        <p:cNvGrpSpPr/>
        <p:nvPr/>
      </p:nvGrpSpPr>
      <p:grpSpPr>
        <a:xfrm>
          <a:off x="0" y="0"/>
          <a:ext cx="0" cy="0"/>
          <a:chOff x="0" y="0"/>
          <a:chExt cx="0" cy="0"/>
        </a:xfrm>
      </p:grpSpPr>
      <p:sp>
        <p:nvSpPr>
          <p:cNvPr id="91" name="Google Shape;91;p1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457200" rtl="0" algn="ctr">
              <a:spcBef>
                <a:spcPts val="0"/>
              </a:spcBef>
              <a:spcAft>
                <a:spcPts val="0"/>
              </a:spcAft>
              <a:buClr>
                <a:schemeClr val="dk1"/>
              </a:buClr>
              <a:buSzPct val="30556"/>
              <a:buFont typeface="Arial"/>
              <a:buNone/>
            </a:pPr>
            <a:r>
              <a:rPr lang="es">
                <a:solidFill>
                  <a:schemeClr val="lt2"/>
                </a:solidFill>
                <a:latin typeface="EB Garamond"/>
                <a:ea typeface="EB Garamond"/>
                <a:cs typeface="EB Garamond"/>
                <a:sym typeface="EB Garamond"/>
              </a:rPr>
              <a:t>I.3. Formulación de hipótesis en investigaciones cuantitativas</a:t>
            </a:r>
            <a:endParaRPr/>
          </a:p>
        </p:txBody>
      </p:sp>
      <p:sp>
        <p:nvSpPr>
          <p:cNvPr id="92" name="Google Shape;9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¿Qué son las hipótesis de investigación?</a:t>
            </a:r>
            <a:endParaRPr b="1">
              <a:latin typeface="EB Garamond"/>
              <a:ea typeface="EB Garamond"/>
              <a:cs typeface="EB Garamond"/>
              <a:sym typeface="EB Garamond"/>
            </a:endParaRPr>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99" name="Google Shape;9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lt2"/>
              </a:solidFill>
              <a:highlight>
                <a:schemeClr val="accent5"/>
              </a:highlight>
              <a:latin typeface="EB Garamond"/>
              <a:ea typeface="EB Garamond"/>
              <a:cs typeface="EB Garamond"/>
              <a:sym typeface="EB Garamond"/>
            </a:endParaRPr>
          </a:p>
          <a:p>
            <a:pPr indent="-342900" lvl="0" marL="457200" rtl="0" algn="l">
              <a:spcBef>
                <a:spcPts val="1200"/>
              </a:spcBef>
              <a:spcAft>
                <a:spcPts val="0"/>
              </a:spcAft>
              <a:buSzPts val="1800"/>
              <a:buFont typeface="EB Garamond"/>
              <a:buChar char="★"/>
            </a:pPr>
            <a:r>
              <a:rPr lang="es">
                <a:solidFill>
                  <a:schemeClr val="lt2"/>
                </a:solidFill>
                <a:highlight>
                  <a:schemeClr val="accent5"/>
                </a:highlight>
                <a:latin typeface="EB Garamond"/>
                <a:ea typeface="EB Garamond"/>
                <a:cs typeface="EB Garamond"/>
                <a:sym typeface="EB Garamond"/>
              </a:rPr>
              <a:t>Guías</a:t>
            </a:r>
            <a:r>
              <a:rPr lang="es">
                <a:latin typeface="EB Garamond"/>
                <a:ea typeface="EB Garamond"/>
                <a:cs typeface="EB Garamond"/>
                <a:sym typeface="EB Garamond"/>
              </a:rPr>
              <a:t> para una investigación o estudio.</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s">
                <a:latin typeface="EB Garamond"/>
                <a:ea typeface="EB Garamond"/>
                <a:cs typeface="EB Garamond"/>
                <a:sym typeface="EB Garamond"/>
              </a:rPr>
              <a:t>Indica lo que se intenta probar, define </a:t>
            </a:r>
            <a:r>
              <a:rPr lang="es">
                <a:highlight>
                  <a:srgbClr val="FDBF41"/>
                </a:highlight>
                <a:latin typeface="EB Garamond"/>
                <a:ea typeface="EB Garamond"/>
                <a:cs typeface="EB Garamond"/>
                <a:sym typeface="EB Garamond"/>
              </a:rPr>
              <a:t>explicaciones tentativas</a:t>
            </a:r>
            <a:r>
              <a:rPr lang="es">
                <a:latin typeface="EB Garamond"/>
                <a:ea typeface="EB Garamond"/>
                <a:cs typeface="EB Garamond"/>
                <a:sym typeface="EB Garamond"/>
              </a:rPr>
              <a:t> del fenómeno investigado.</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s">
                <a:latin typeface="EB Garamond"/>
                <a:ea typeface="EB Garamond"/>
                <a:cs typeface="EB Garamond"/>
                <a:sym typeface="EB Garamond"/>
              </a:rPr>
              <a:t>Nacen de la teoría existente, de la literatura.</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s">
                <a:latin typeface="EB Garamond"/>
                <a:ea typeface="EB Garamond"/>
                <a:cs typeface="EB Garamond"/>
                <a:sym typeface="EB Garamond"/>
              </a:rPr>
              <a:t>Proposiciones tentativas acerca de la relación entre dos o más variables.</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Char char="★"/>
            </a:pPr>
            <a:r>
              <a:rPr lang="es">
                <a:solidFill>
                  <a:schemeClr val="lt2"/>
                </a:solidFill>
                <a:highlight>
                  <a:schemeClr val="accent3"/>
                </a:highlight>
                <a:latin typeface="EB Garamond"/>
                <a:ea typeface="EB Garamond"/>
                <a:cs typeface="EB Garamond"/>
                <a:sym typeface="EB Garamond"/>
              </a:rPr>
              <a:t>Relación estrecha entre: problema-objetivos-literatura-hipótesis</a:t>
            </a:r>
            <a:r>
              <a:rPr lang="es">
                <a:latin typeface="EB Garamond"/>
                <a:ea typeface="EB Garamond"/>
                <a:cs typeface="EB Garamond"/>
                <a:sym typeface="EB Garamond"/>
              </a:rPr>
              <a:t>.</a:t>
            </a:r>
            <a:endParaRPr>
              <a:latin typeface="EB Garamond"/>
              <a:ea typeface="EB Garamond"/>
              <a:cs typeface="EB Garamond"/>
              <a:sym typeface="EB 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Lo que NO son</a:t>
            </a:r>
            <a:endParaRPr b="1">
              <a:latin typeface="EB Garamond"/>
              <a:ea typeface="EB Garamond"/>
              <a:cs typeface="EB Garamond"/>
              <a:sym typeface="EB Garamond"/>
            </a:endParaRPr>
          </a:p>
        </p:txBody>
      </p:sp>
      <p:sp>
        <p:nvSpPr>
          <p:cNvPr id="105" name="Google Shape;10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Clr>
                <a:schemeClr val="dk1"/>
              </a:buClr>
              <a:buSzPts val="1100"/>
              <a:buFont typeface="Arial"/>
              <a:buNone/>
            </a:pPr>
            <a:r>
              <a:rPr lang="es">
                <a:latin typeface="EB Garamond"/>
                <a:ea typeface="EB Garamond"/>
                <a:cs typeface="EB Garamond"/>
                <a:sym typeface="EB Garamond"/>
              </a:rPr>
              <a:t>X 	</a:t>
            </a:r>
            <a:r>
              <a:rPr lang="es">
                <a:solidFill>
                  <a:schemeClr val="lt2"/>
                </a:solidFill>
                <a:highlight>
                  <a:srgbClr val="A64D79"/>
                </a:highlight>
                <a:latin typeface="EB Garamond"/>
                <a:ea typeface="EB Garamond"/>
                <a:cs typeface="EB Garamond"/>
                <a:sym typeface="EB Garamond"/>
              </a:rPr>
              <a:t>No es la afirmación</a:t>
            </a:r>
            <a:r>
              <a:rPr lang="es">
                <a:latin typeface="EB Garamond"/>
                <a:ea typeface="EB Garamond"/>
                <a:cs typeface="EB Garamond"/>
                <a:sym typeface="EB Garamond"/>
              </a:rPr>
              <a:t> de un hecho, está sujeta a comprobación.</a:t>
            </a:r>
            <a:endParaRPr>
              <a:latin typeface="EB Garamond"/>
              <a:ea typeface="EB Garamond"/>
              <a:cs typeface="EB Garamond"/>
              <a:sym typeface="EB Garamond"/>
            </a:endParaRPr>
          </a:p>
          <a:p>
            <a:pPr indent="0" lvl="0" marL="0" rtl="0" algn="l">
              <a:spcBef>
                <a:spcPts val="1200"/>
              </a:spcBef>
              <a:spcAft>
                <a:spcPts val="0"/>
              </a:spcAft>
              <a:buClr>
                <a:schemeClr val="dk1"/>
              </a:buClr>
              <a:buSzPts val="1100"/>
              <a:buFont typeface="Arial"/>
              <a:buNone/>
            </a:pPr>
            <a:r>
              <a:rPr lang="es">
                <a:latin typeface="EB Garamond"/>
                <a:ea typeface="EB Garamond"/>
                <a:cs typeface="EB Garamond"/>
                <a:sym typeface="EB Garamond"/>
              </a:rPr>
              <a:t>X 	</a:t>
            </a:r>
            <a:r>
              <a:rPr lang="es">
                <a:solidFill>
                  <a:schemeClr val="lt2"/>
                </a:solidFill>
                <a:highlight>
                  <a:srgbClr val="A64D79"/>
                </a:highlight>
                <a:latin typeface="EB Garamond"/>
                <a:ea typeface="EB Garamond"/>
                <a:cs typeface="EB Garamond"/>
                <a:sym typeface="EB Garamond"/>
              </a:rPr>
              <a:t>No siempre ilustran todo</a:t>
            </a:r>
            <a:r>
              <a:rPr lang="es">
                <a:latin typeface="EB Garamond"/>
                <a:ea typeface="EB Garamond"/>
                <a:cs typeface="EB Garamond"/>
                <a:sym typeface="EB Garamond"/>
              </a:rPr>
              <a:t> lo que se busca investigar.</a:t>
            </a:r>
            <a:endParaRPr>
              <a:latin typeface="EB Garamond"/>
              <a:ea typeface="EB Garamond"/>
              <a:cs typeface="EB Garamond"/>
              <a:sym typeface="EB Garamond"/>
            </a:endParaRPr>
          </a:p>
          <a:p>
            <a:pPr indent="0" lvl="0" marL="0" rtl="0" algn="l">
              <a:spcBef>
                <a:spcPts val="1200"/>
              </a:spcBef>
              <a:spcAft>
                <a:spcPts val="1200"/>
              </a:spcAft>
              <a:buNone/>
            </a:pPr>
            <a:r>
              <a:rPr lang="es">
                <a:latin typeface="EB Garamond"/>
                <a:ea typeface="EB Garamond"/>
                <a:cs typeface="EB Garamond"/>
                <a:sym typeface="EB Garamond"/>
              </a:rPr>
              <a:t>X 	</a:t>
            </a:r>
            <a:r>
              <a:rPr lang="es">
                <a:solidFill>
                  <a:schemeClr val="lt2"/>
                </a:solidFill>
                <a:highlight>
                  <a:srgbClr val="A64D79"/>
                </a:highlight>
                <a:latin typeface="EB Garamond"/>
                <a:ea typeface="EB Garamond"/>
                <a:cs typeface="EB Garamond"/>
                <a:sym typeface="EB Garamond"/>
              </a:rPr>
              <a:t>No</a:t>
            </a:r>
            <a:r>
              <a:rPr lang="es">
                <a:latin typeface="EB Garamond"/>
                <a:ea typeface="EB Garamond"/>
                <a:cs typeface="EB Garamond"/>
                <a:sym typeface="EB Garamond"/>
              </a:rPr>
              <a:t> necesariamente surgen de un </a:t>
            </a:r>
            <a:r>
              <a:rPr lang="es">
                <a:solidFill>
                  <a:schemeClr val="lt2"/>
                </a:solidFill>
                <a:highlight>
                  <a:srgbClr val="A64D79"/>
                </a:highlight>
                <a:latin typeface="EB Garamond"/>
                <a:ea typeface="EB Garamond"/>
                <a:cs typeface="EB Garamond"/>
                <a:sym typeface="EB Garamond"/>
              </a:rPr>
              <a:t>cuerpo teórico abundante</a:t>
            </a:r>
            <a:r>
              <a:rPr lang="es">
                <a:latin typeface="EB Garamond"/>
                <a:ea typeface="EB Garamond"/>
                <a:cs typeface="EB Garamond"/>
                <a:sym typeface="EB Garamond"/>
              </a:rPr>
              <a:t>.</a:t>
            </a:r>
            <a:endParaRPr>
              <a:latin typeface="EB Garamond"/>
              <a:ea typeface="EB Garamond"/>
              <a:cs typeface="EB Garamond"/>
              <a:sym typeface="EB Garamond"/>
            </a:endParaRPr>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 hipótesis de investigación según tipo de investigación</a:t>
            </a:r>
            <a:endParaRPr b="1">
              <a:latin typeface="EB Garamond"/>
              <a:ea typeface="EB Garamond"/>
              <a:cs typeface="EB Garamond"/>
              <a:sym typeface="EB Garamond"/>
            </a:endParaRPr>
          </a:p>
        </p:txBody>
      </p:sp>
      <p:sp>
        <p:nvSpPr>
          <p:cNvPr id="112" name="Google Shape;11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pSp>
        <p:nvGrpSpPr>
          <p:cNvPr id="113" name="Google Shape;113;p21"/>
          <p:cNvGrpSpPr/>
          <p:nvPr/>
        </p:nvGrpSpPr>
        <p:grpSpPr>
          <a:xfrm>
            <a:off x="606319" y="1349468"/>
            <a:ext cx="8020466" cy="2096036"/>
            <a:chOff x="4153" y="959175"/>
            <a:chExt cx="8020466" cy="2096036"/>
          </a:xfrm>
        </p:grpSpPr>
        <p:sp>
          <p:nvSpPr>
            <p:cNvPr id="114" name="Google Shape;114;p21"/>
            <p:cNvSpPr/>
            <p:nvPr/>
          </p:nvSpPr>
          <p:spPr>
            <a:xfrm>
              <a:off x="4014439" y="1825327"/>
              <a:ext cx="3144000" cy="363900"/>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15" name="Google Shape;115;p21"/>
            <p:cNvSpPr/>
            <p:nvPr/>
          </p:nvSpPr>
          <p:spPr>
            <a:xfrm>
              <a:off x="4014439" y="1825327"/>
              <a:ext cx="1047900" cy="363900"/>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16" name="Google Shape;116;p21"/>
            <p:cNvSpPr/>
            <p:nvPr/>
          </p:nvSpPr>
          <p:spPr>
            <a:xfrm>
              <a:off x="2966394" y="1825327"/>
              <a:ext cx="1047900" cy="363900"/>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17" name="Google Shape;117;p21"/>
            <p:cNvSpPr/>
            <p:nvPr/>
          </p:nvSpPr>
          <p:spPr>
            <a:xfrm>
              <a:off x="870305" y="1825327"/>
              <a:ext cx="3144000" cy="363900"/>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18" name="Google Shape;118;p21"/>
            <p:cNvSpPr/>
            <p:nvPr/>
          </p:nvSpPr>
          <p:spPr>
            <a:xfrm>
              <a:off x="3148286" y="959175"/>
              <a:ext cx="1732200" cy="866100"/>
            </a:xfrm>
            <a:prstGeom prst="rect">
              <a:avLst/>
            </a:prstGeom>
            <a:solidFill>
              <a:srgbClr val="A5A5A5"/>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1"/>
            <p:cNvSpPr txBox="1"/>
            <p:nvPr/>
          </p:nvSpPr>
          <p:spPr>
            <a:xfrm>
              <a:off x="3148286" y="959175"/>
              <a:ext cx="1732200" cy="866100"/>
            </a:xfrm>
            <a:prstGeom prst="rect">
              <a:avLst/>
            </a:prstGeom>
            <a:solidFill>
              <a:schemeClr val="accent3"/>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lt2"/>
                  </a:solidFill>
                  <a:latin typeface="EB Garamond"/>
                  <a:ea typeface="EB Garamond"/>
                  <a:cs typeface="EB Garamond"/>
                  <a:sym typeface="EB Garamond"/>
                </a:rPr>
                <a:t>Investigación cuantitativa</a:t>
              </a:r>
              <a:endParaRPr>
                <a:solidFill>
                  <a:schemeClr val="lt2"/>
                </a:solidFill>
                <a:latin typeface="EB Garamond"/>
                <a:ea typeface="EB Garamond"/>
                <a:cs typeface="EB Garamond"/>
                <a:sym typeface="EB Garamond"/>
              </a:endParaRPr>
            </a:p>
          </p:txBody>
        </p:sp>
        <p:sp>
          <p:nvSpPr>
            <p:cNvPr id="120" name="Google Shape;120;p21"/>
            <p:cNvSpPr/>
            <p:nvPr/>
          </p:nvSpPr>
          <p:spPr>
            <a:xfrm>
              <a:off x="4153" y="2189111"/>
              <a:ext cx="1732200" cy="866100"/>
            </a:xfrm>
            <a:prstGeom prst="rect">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1"/>
            <p:cNvSpPr txBox="1"/>
            <p:nvPr/>
          </p:nvSpPr>
          <p:spPr>
            <a:xfrm>
              <a:off x="4153" y="2189111"/>
              <a:ext cx="1732200" cy="8661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Exploratoria</a:t>
              </a:r>
              <a:endParaRPr>
                <a:solidFill>
                  <a:schemeClr val="dk2"/>
                </a:solidFill>
                <a:latin typeface="EB Garamond"/>
                <a:ea typeface="EB Garamond"/>
                <a:cs typeface="EB Garamond"/>
                <a:sym typeface="EB Garamond"/>
              </a:endParaRPr>
            </a:p>
          </p:txBody>
        </p:sp>
        <p:sp>
          <p:nvSpPr>
            <p:cNvPr id="122" name="Google Shape;122;p21"/>
            <p:cNvSpPr/>
            <p:nvPr/>
          </p:nvSpPr>
          <p:spPr>
            <a:xfrm>
              <a:off x="2100242" y="2189111"/>
              <a:ext cx="1732200" cy="866100"/>
            </a:xfrm>
            <a:prstGeom prst="rect">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nvSpPr>
          <p:spPr>
            <a:xfrm>
              <a:off x="2100242" y="2189111"/>
              <a:ext cx="1732200" cy="8661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Descriptiva</a:t>
              </a:r>
              <a:endParaRPr>
                <a:solidFill>
                  <a:schemeClr val="dk2"/>
                </a:solidFill>
                <a:latin typeface="EB Garamond"/>
                <a:ea typeface="EB Garamond"/>
                <a:cs typeface="EB Garamond"/>
                <a:sym typeface="EB Garamond"/>
              </a:endParaRPr>
            </a:p>
          </p:txBody>
        </p:sp>
        <p:sp>
          <p:nvSpPr>
            <p:cNvPr id="124" name="Google Shape;124;p21"/>
            <p:cNvSpPr/>
            <p:nvPr/>
          </p:nvSpPr>
          <p:spPr>
            <a:xfrm>
              <a:off x="4196331" y="2189111"/>
              <a:ext cx="1732200" cy="866100"/>
            </a:xfrm>
            <a:prstGeom prst="rect">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nvSpPr>
          <p:spPr>
            <a:xfrm>
              <a:off x="4196331" y="2189111"/>
              <a:ext cx="1732200" cy="8661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Correlacional</a:t>
              </a:r>
              <a:endParaRPr>
                <a:solidFill>
                  <a:schemeClr val="dk2"/>
                </a:solidFill>
                <a:latin typeface="EB Garamond"/>
                <a:ea typeface="EB Garamond"/>
                <a:cs typeface="EB Garamond"/>
                <a:sym typeface="EB Garamond"/>
              </a:endParaRPr>
            </a:p>
          </p:txBody>
        </p:sp>
        <p:sp>
          <p:nvSpPr>
            <p:cNvPr id="126" name="Google Shape;126;p21"/>
            <p:cNvSpPr/>
            <p:nvPr/>
          </p:nvSpPr>
          <p:spPr>
            <a:xfrm>
              <a:off x="6292419" y="2189111"/>
              <a:ext cx="1732200" cy="866100"/>
            </a:xfrm>
            <a:prstGeom prst="rect">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txBox="1"/>
            <p:nvPr/>
          </p:nvSpPr>
          <p:spPr>
            <a:xfrm>
              <a:off x="6292419" y="2189111"/>
              <a:ext cx="1732200" cy="8661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Causal</a:t>
              </a:r>
              <a:endParaRPr>
                <a:solidFill>
                  <a:schemeClr val="dk2"/>
                </a:solidFill>
                <a:latin typeface="EB Garamond"/>
                <a:ea typeface="EB Garamond"/>
                <a:cs typeface="EB Garamond"/>
                <a:sym typeface="EB Garamond"/>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pSp>
        <p:nvGrpSpPr>
          <p:cNvPr id="133" name="Google Shape;133;p22"/>
          <p:cNvGrpSpPr/>
          <p:nvPr/>
        </p:nvGrpSpPr>
        <p:grpSpPr>
          <a:xfrm>
            <a:off x="605008" y="1019234"/>
            <a:ext cx="8023096" cy="3156618"/>
            <a:chOff x="2842" y="628941"/>
            <a:chExt cx="8023096" cy="3156618"/>
          </a:xfrm>
        </p:grpSpPr>
        <p:sp>
          <p:nvSpPr>
            <p:cNvPr id="134" name="Google Shape;134;p22"/>
            <p:cNvSpPr/>
            <p:nvPr/>
          </p:nvSpPr>
          <p:spPr>
            <a:xfrm>
              <a:off x="6135324" y="2618298"/>
              <a:ext cx="246600" cy="7563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35" name="Google Shape;135;p22"/>
            <p:cNvSpPr/>
            <p:nvPr/>
          </p:nvSpPr>
          <p:spPr>
            <a:xfrm>
              <a:off x="3808926" y="1450989"/>
              <a:ext cx="2984100" cy="345300"/>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36" name="Google Shape;136;p22"/>
            <p:cNvSpPr/>
            <p:nvPr/>
          </p:nvSpPr>
          <p:spPr>
            <a:xfrm>
              <a:off x="4145966" y="2618298"/>
              <a:ext cx="246600" cy="7563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37" name="Google Shape;137;p22"/>
            <p:cNvSpPr/>
            <p:nvPr/>
          </p:nvSpPr>
          <p:spPr>
            <a:xfrm>
              <a:off x="3808926" y="1450989"/>
              <a:ext cx="994800" cy="345300"/>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38" name="Google Shape;138;p22"/>
            <p:cNvSpPr/>
            <p:nvPr/>
          </p:nvSpPr>
          <p:spPr>
            <a:xfrm>
              <a:off x="2156609" y="2618298"/>
              <a:ext cx="246600" cy="7563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39" name="Google Shape;139;p22"/>
            <p:cNvSpPr/>
            <p:nvPr/>
          </p:nvSpPr>
          <p:spPr>
            <a:xfrm>
              <a:off x="2814248" y="1450989"/>
              <a:ext cx="994800" cy="345300"/>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40" name="Google Shape;140;p22"/>
            <p:cNvSpPr/>
            <p:nvPr/>
          </p:nvSpPr>
          <p:spPr>
            <a:xfrm>
              <a:off x="167251" y="2618298"/>
              <a:ext cx="246600" cy="7563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41" name="Google Shape;141;p22"/>
            <p:cNvSpPr/>
            <p:nvPr/>
          </p:nvSpPr>
          <p:spPr>
            <a:xfrm>
              <a:off x="824890" y="1450989"/>
              <a:ext cx="2984100" cy="345300"/>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42" name="Google Shape;142;p22"/>
            <p:cNvSpPr/>
            <p:nvPr/>
          </p:nvSpPr>
          <p:spPr>
            <a:xfrm>
              <a:off x="2986878" y="628941"/>
              <a:ext cx="1644000" cy="822000"/>
            </a:xfrm>
            <a:prstGeom prst="rect">
              <a:avLst/>
            </a:prstGeom>
            <a:solidFill>
              <a:srgbClr val="A5A5A5"/>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2"/>
            <p:cNvSpPr txBox="1"/>
            <p:nvPr/>
          </p:nvSpPr>
          <p:spPr>
            <a:xfrm>
              <a:off x="2986878" y="628941"/>
              <a:ext cx="1644000" cy="822000"/>
            </a:xfrm>
            <a:prstGeom prst="rect">
              <a:avLst/>
            </a:prstGeom>
            <a:solidFill>
              <a:schemeClr val="accent3"/>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lt2"/>
                  </a:solidFill>
                  <a:latin typeface="EB Garamond"/>
                  <a:ea typeface="EB Garamond"/>
                  <a:cs typeface="EB Garamond"/>
                  <a:sym typeface="EB Garamond"/>
                </a:rPr>
                <a:t>Investigación cuantitativa</a:t>
              </a:r>
              <a:endParaRPr>
                <a:solidFill>
                  <a:schemeClr val="lt2"/>
                </a:solidFill>
                <a:latin typeface="EB Garamond"/>
                <a:ea typeface="EB Garamond"/>
                <a:cs typeface="EB Garamond"/>
                <a:sym typeface="EB Garamond"/>
              </a:endParaRPr>
            </a:p>
          </p:txBody>
        </p:sp>
        <p:sp>
          <p:nvSpPr>
            <p:cNvPr id="144" name="Google Shape;144;p22"/>
            <p:cNvSpPr/>
            <p:nvPr/>
          </p:nvSpPr>
          <p:spPr>
            <a:xfrm>
              <a:off x="2842" y="1796250"/>
              <a:ext cx="1644000" cy="822000"/>
            </a:xfrm>
            <a:prstGeom prst="rect">
              <a:avLst/>
            </a:prstGeom>
            <a:solidFill>
              <a:srgbClr val="FBE4D4"/>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2"/>
            <p:cNvSpPr txBox="1"/>
            <p:nvPr/>
          </p:nvSpPr>
          <p:spPr>
            <a:xfrm>
              <a:off x="2842" y="1796250"/>
              <a:ext cx="1644000" cy="8220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Exploratoria</a:t>
              </a:r>
              <a:endParaRPr>
                <a:solidFill>
                  <a:schemeClr val="dk2"/>
                </a:solidFill>
                <a:latin typeface="EB Garamond"/>
                <a:ea typeface="EB Garamond"/>
                <a:cs typeface="EB Garamond"/>
                <a:sym typeface="EB Garamond"/>
              </a:endParaRPr>
            </a:p>
          </p:txBody>
        </p:sp>
        <p:sp>
          <p:nvSpPr>
            <p:cNvPr id="146" name="Google Shape;146;p22"/>
            <p:cNvSpPr/>
            <p:nvPr/>
          </p:nvSpPr>
          <p:spPr>
            <a:xfrm>
              <a:off x="413866" y="2963559"/>
              <a:ext cx="1644000" cy="822000"/>
            </a:xfrm>
            <a:prstGeom prst="rect">
              <a:avLst/>
            </a:prstGeom>
            <a:solidFill>
              <a:srgbClr val="D8165D"/>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txBox="1"/>
            <p:nvPr/>
          </p:nvSpPr>
          <p:spPr>
            <a:xfrm>
              <a:off x="413866" y="2963559"/>
              <a:ext cx="1644000" cy="822000"/>
            </a:xfrm>
            <a:prstGeom prst="rect">
              <a:avLst/>
            </a:prstGeom>
            <a:solidFill>
              <a:srgbClr val="FBE4D4"/>
            </a:solid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No necesariamente se formulan</a:t>
              </a:r>
              <a:endParaRPr>
                <a:solidFill>
                  <a:schemeClr val="dk2"/>
                </a:solidFill>
                <a:latin typeface="EB Garamond"/>
                <a:ea typeface="EB Garamond"/>
                <a:cs typeface="EB Garamond"/>
                <a:sym typeface="EB Garamond"/>
              </a:endParaRPr>
            </a:p>
          </p:txBody>
        </p:sp>
        <p:sp>
          <p:nvSpPr>
            <p:cNvPr id="148" name="Google Shape;148;p22"/>
            <p:cNvSpPr/>
            <p:nvPr/>
          </p:nvSpPr>
          <p:spPr>
            <a:xfrm>
              <a:off x="1992199" y="1796250"/>
              <a:ext cx="1644000" cy="822000"/>
            </a:xfrm>
            <a:prstGeom prst="rect">
              <a:avLst/>
            </a:prstGeom>
            <a:solidFill>
              <a:srgbClr val="FEE599"/>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2"/>
            <p:cNvSpPr txBox="1"/>
            <p:nvPr/>
          </p:nvSpPr>
          <p:spPr>
            <a:xfrm>
              <a:off x="1992199" y="1796250"/>
              <a:ext cx="1644000" cy="8220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Descriptiva</a:t>
              </a:r>
              <a:endParaRPr>
                <a:solidFill>
                  <a:schemeClr val="dk2"/>
                </a:solidFill>
                <a:latin typeface="EB Garamond"/>
                <a:ea typeface="EB Garamond"/>
                <a:cs typeface="EB Garamond"/>
                <a:sym typeface="EB Garamond"/>
              </a:endParaRPr>
            </a:p>
          </p:txBody>
        </p:sp>
        <p:sp>
          <p:nvSpPr>
            <p:cNvPr id="150" name="Google Shape;150;p22"/>
            <p:cNvSpPr/>
            <p:nvPr/>
          </p:nvSpPr>
          <p:spPr>
            <a:xfrm>
              <a:off x="2403223" y="2963559"/>
              <a:ext cx="1644000" cy="822000"/>
            </a:xfrm>
            <a:prstGeom prst="rect">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2"/>
            <p:cNvSpPr txBox="1"/>
            <p:nvPr/>
          </p:nvSpPr>
          <p:spPr>
            <a:xfrm>
              <a:off x="2403223" y="2963559"/>
              <a:ext cx="1644000" cy="82200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Solo se formulan cuando se pronostica un hecho o dato</a:t>
              </a:r>
              <a:endParaRPr>
                <a:solidFill>
                  <a:schemeClr val="dk2"/>
                </a:solidFill>
                <a:latin typeface="EB Garamond"/>
                <a:ea typeface="EB Garamond"/>
                <a:cs typeface="EB Garamond"/>
                <a:sym typeface="EB Garamond"/>
              </a:endParaRPr>
            </a:p>
          </p:txBody>
        </p:sp>
        <p:sp>
          <p:nvSpPr>
            <p:cNvPr id="152" name="Google Shape;152;p22"/>
            <p:cNvSpPr/>
            <p:nvPr/>
          </p:nvSpPr>
          <p:spPr>
            <a:xfrm>
              <a:off x="3981557" y="1796250"/>
              <a:ext cx="1644000" cy="822000"/>
            </a:xfrm>
            <a:prstGeom prst="rect">
              <a:avLst/>
            </a:prstGeom>
            <a:solidFill>
              <a:srgbClr val="C4E0B2"/>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2"/>
            <p:cNvSpPr txBox="1"/>
            <p:nvPr/>
          </p:nvSpPr>
          <p:spPr>
            <a:xfrm>
              <a:off x="3981557" y="1796250"/>
              <a:ext cx="1644000" cy="8220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Correlacional</a:t>
              </a:r>
              <a:endParaRPr>
                <a:solidFill>
                  <a:schemeClr val="dk2"/>
                </a:solidFill>
                <a:latin typeface="EB Garamond"/>
                <a:ea typeface="EB Garamond"/>
                <a:cs typeface="EB Garamond"/>
                <a:sym typeface="EB Garamond"/>
              </a:endParaRPr>
            </a:p>
          </p:txBody>
        </p:sp>
        <p:sp>
          <p:nvSpPr>
            <p:cNvPr id="154" name="Google Shape;154;p22"/>
            <p:cNvSpPr/>
            <p:nvPr/>
          </p:nvSpPr>
          <p:spPr>
            <a:xfrm>
              <a:off x="4392581" y="2963559"/>
              <a:ext cx="1644000" cy="822000"/>
            </a:xfrm>
            <a:prstGeom prst="rect">
              <a:avLst/>
            </a:prstGeom>
            <a:solidFill>
              <a:srgbClr val="70AD47"/>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2"/>
            <p:cNvSpPr txBox="1"/>
            <p:nvPr/>
          </p:nvSpPr>
          <p:spPr>
            <a:xfrm>
              <a:off x="4392581" y="2963559"/>
              <a:ext cx="1644000" cy="82200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S</a:t>
              </a:r>
              <a:r>
                <a:rPr lang="es" sz="1200">
                  <a:solidFill>
                    <a:schemeClr val="dk2"/>
                  </a:solidFill>
                  <a:latin typeface="EB Garamond"/>
                  <a:ea typeface="EB Garamond"/>
                  <a:cs typeface="EB Garamond"/>
                  <a:sym typeface="EB Garamond"/>
                </a:rPr>
                <a:t>í</a:t>
              </a:r>
              <a:r>
                <a:rPr lang="es" sz="1200">
                  <a:solidFill>
                    <a:schemeClr val="dk2"/>
                  </a:solidFill>
                  <a:latin typeface="EB Garamond"/>
                  <a:ea typeface="EB Garamond"/>
                  <a:cs typeface="EB Garamond"/>
                  <a:sym typeface="EB Garamond"/>
                </a:rPr>
                <a:t>, correlacionales</a:t>
              </a:r>
              <a:endParaRPr>
                <a:solidFill>
                  <a:schemeClr val="dk2"/>
                </a:solidFill>
                <a:latin typeface="EB Garamond"/>
                <a:ea typeface="EB Garamond"/>
                <a:cs typeface="EB Garamond"/>
                <a:sym typeface="EB Garamond"/>
              </a:endParaRPr>
            </a:p>
          </p:txBody>
        </p:sp>
        <p:sp>
          <p:nvSpPr>
            <p:cNvPr id="156" name="Google Shape;156;p22"/>
            <p:cNvSpPr/>
            <p:nvPr/>
          </p:nvSpPr>
          <p:spPr>
            <a:xfrm>
              <a:off x="5970914" y="1796250"/>
              <a:ext cx="1644000" cy="822000"/>
            </a:xfrm>
            <a:prstGeom prst="rect">
              <a:avLst/>
            </a:prstGeom>
            <a:solidFill>
              <a:srgbClr val="C4E0B2"/>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2"/>
            <p:cNvSpPr txBox="1"/>
            <p:nvPr/>
          </p:nvSpPr>
          <p:spPr>
            <a:xfrm>
              <a:off x="5970914" y="1796250"/>
              <a:ext cx="1644000" cy="8220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Causal</a:t>
              </a:r>
              <a:endParaRPr>
                <a:solidFill>
                  <a:schemeClr val="dk2"/>
                </a:solidFill>
                <a:latin typeface="EB Garamond"/>
                <a:ea typeface="EB Garamond"/>
                <a:cs typeface="EB Garamond"/>
                <a:sym typeface="EB Garamond"/>
              </a:endParaRPr>
            </a:p>
          </p:txBody>
        </p:sp>
        <p:sp>
          <p:nvSpPr>
            <p:cNvPr id="158" name="Google Shape;158;p22"/>
            <p:cNvSpPr/>
            <p:nvPr/>
          </p:nvSpPr>
          <p:spPr>
            <a:xfrm>
              <a:off x="6381938" y="2963559"/>
              <a:ext cx="1644000" cy="822000"/>
            </a:xfrm>
            <a:prstGeom prst="rect">
              <a:avLst/>
            </a:prstGeom>
            <a:solidFill>
              <a:srgbClr val="70AD47"/>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txBox="1"/>
            <p:nvPr/>
          </p:nvSpPr>
          <p:spPr>
            <a:xfrm>
              <a:off x="6381938" y="2963559"/>
              <a:ext cx="1644000" cy="82200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Sí</a:t>
              </a:r>
              <a:r>
                <a:rPr lang="es" sz="1200">
                  <a:solidFill>
                    <a:schemeClr val="dk2"/>
                  </a:solidFill>
                  <a:latin typeface="EB Garamond"/>
                  <a:ea typeface="EB Garamond"/>
                  <a:cs typeface="EB Garamond"/>
                  <a:sym typeface="EB Garamond"/>
                </a:rPr>
                <a:t>, causales</a:t>
              </a:r>
              <a:endParaRPr>
                <a:solidFill>
                  <a:schemeClr val="dk2"/>
                </a:solidFill>
                <a:latin typeface="EB Garamond"/>
                <a:ea typeface="EB Garamond"/>
                <a:cs typeface="EB Garamond"/>
                <a:sym typeface="EB Garamond"/>
              </a:endParaRPr>
            </a:p>
          </p:txBody>
        </p:sp>
      </p:grpSp>
      <p:sp>
        <p:nvSpPr>
          <p:cNvPr id="160" name="Google Shape;16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 hipótesis de investigación según tipo de investigación</a:t>
            </a:r>
            <a:endParaRPr b="1">
              <a:latin typeface="EB Garamond"/>
              <a:ea typeface="EB Garamond"/>
              <a:cs typeface="EB Garamond"/>
              <a:sym typeface="EB 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pSp>
        <p:nvGrpSpPr>
          <p:cNvPr id="166" name="Google Shape;166;p23"/>
          <p:cNvGrpSpPr/>
          <p:nvPr/>
        </p:nvGrpSpPr>
        <p:grpSpPr>
          <a:xfrm>
            <a:off x="562289" y="309930"/>
            <a:ext cx="8019481" cy="4111200"/>
            <a:chOff x="4728" y="151614"/>
            <a:chExt cx="8019481" cy="4111200"/>
          </a:xfrm>
        </p:grpSpPr>
        <p:sp>
          <p:nvSpPr>
            <p:cNvPr id="167" name="Google Shape;167;p23"/>
            <p:cNvSpPr/>
            <p:nvPr/>
          </p:nvSpPr>
          <p:spPr>
            <a:xfrm>
              <a:off x="6226423" y="2043134"/>
              <a:ext cx="234600" cy="18291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68" name="Google Shape;168;p23"/>
            <p:cNvSpPr/>
            <p:nvPr/>
          </p:nvSpPr>
          <p:spPr>
            <a:xfrm>
              <a:off x="6226423" y="2043134"/>
              <a:ext cx="234600" cy="7191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69" name="Google Shape;169;p23"/>
            <p:cNvSpPr/>
            <p:nvPr/>
          </p:nvSpPr>
          <p:spPr>
            <a:xfrm>
              <a:off x="3819034" y="933234"/>
              <a:ext cx="3032700" cy="328200"/>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70" name="Google Shape;170;p23"/>
            <p:cNvSpPr/>
            <p:nvPr/>
          </p:nvSpPr>
          <p:spPr>
            <a:xfrm>
              <a:off x="3819034" y="933234"/>
              <a:ext cx="1141200" cy="328200"/>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71" name="Google Shape;171;p23"/>
            <p:cNvSpPr/>
            <p:nvPr/>
          </p:nvSpPr>
          <p:spPr>
            <a:xfrm>
              <a:off x="2052573" y="2043134"/>
              <a:ext cx="234600" cy="18291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72" name="Google Shape;172;p23"/>
            <p:cNvSpPr/>
            <p:nvPr/>
          </p:nvSpPr>
          <p:spPr>
            <a:xfrm>
              <a:off x="2052573" y="2043134"/>
              <a:ext cx="234600" cy="7191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73" name="Google Shape;173;p23"/>
            <p:cNvSpPr/>
            <p:nvPr/>
          </p:nvSpPr>
          <p:spPr>
            <a:xfrm>
              <a:off x="2677868" y="933234"/>
              <a:ext cx="1141200" cy="328200"/>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74" name="Google Shape;174;p23"/>
            <p:cNvSpPr/>
            <p:nvPr/>
          </p:nvSpPr>
          <p:spPr>
            <a:xfrm>
              <a:off x="161052" y="2043134"/>
              <a:ext cx="234600" cy="18291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75" name="Google Shape;175;p23"/>
            <p:cNvSpPr/>
            <p:nvPr/>
          </p:nvSpPr>
          <p:spPr>
            <a:xfrm>
              <a:off x="161052" y="2043134"/>
              <a:ext cx="234600" cy="7191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76" name="Google Shape;176;p23"/>
            <p:cNvSpPr/>
            <p:nvPr/>
          </p:nvSpPr>
          <p:spPr>
            <a:xfrm>
              <a:off x="786348" y="933234"/>
              <a:ext cx="3032700" cy="328200"/>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77" name="Google Shape;177;p23"/>
            <p:cNvSpPr/>
            <p:nvPr/>
          </p:nvSpPr>
          <p:spPr>
            <a:xfrm>
              <a:off x="3037414" y="151614"/>
              <a:ext cx="1563300" cy="781500"/>
            </a:xfrm>
            <a:prstGeom prst="rect">
              <a:avLst/>
            </a:prstGeom>
            <a:solidFill>
              <a:srgbClr val="A5A5A5"/>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3"/>
            <p:cNvSpPr txBox="1"/>
            <p:nvPr/>
          </p:nvSpPr>
          <p:spPr>
            <a:xfrm>
              <a:off x="3037414" y="151614"/>
              <a:ext cx="1563300" cy="781500"/>
            </a:xfrm>
            <a:prstGeom prst="rect">
              <a:avLst/>
            </a:prstGeom>
            <a:solidFill>
              <a:schemeClr val="accent3"/>
            </a:solid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lt2"/>
                  </a:solidFill>
                  <a:latin typeface="EB Garamond"/>
                  <a:ea typeface="EB Garamond"/>
                  <a:cs typeface="EB Garamond"/>
                  <a:sym typeface="EB Garamond"/>
                </a:rPr>
                <a:t>Investigación cuantitativa</a:t>
              </a:r>
              <a:endParaRPr>
                <a:solidFill>
                  <a:schemeClr val="lt2"/>
                </a:solidFill>
                <a:latin typeface="EB Garamond"/>
                <a:ea typeface="EB Garamond"/>
                <a:cs typeface="EB Garamond"/>
                <a:sym typeface="EB Garamond"/>
              </a:endParaRPr>
            </a:p>
          </p:txBody>
        </p:sp>
        <p:sp>
          <p:nvSpPr>
            <p:cNvPr id="179" name="Google Shape;179;p23"/>
            <p:cNvSpPr/>
            <p:nvPr/>
          </p:nvSpPr>
          <p:spPr>
            <a:xfrm>
              <a:off x="4728" y="1261514"/>
              <a:ext cx="1563300" cy="781500"/>
            </a:xfrm>
            <a:prstGeom prst="rect">
              <a:avLst/>
            </a:prstGeom>
            <a:solidFill>
              <a:srgbClr val="FBE4D4"/>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3"/>
            <p:cNvSpPr txBox="1"/>
            <p:nvPr/>
          </p:nvSpPr>
          <p:spPr>
            <a:xfrm>
              <a:off x="4728" y="1261514"/>
              <a:ext cx="1563300" cy="7815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Exploratoria</a:t>
              </a:r>
              <a:endParaRPr>
                <a:solidFill>
                  <a:schemeClr val="dk2"/>
                </a:solidFill>
                <a:latin typeface="EB Garamond"/>
                <a:ea typeface="EB Garamond"/>
                <a:cs typeface="EB Garamond"/>
                <a:sym typeface="EB Garamond"/>
              </a:endParaRPr>
            </a:p>
          </p:txBody>
        </p:sp>
        <p:sp>
          <p:nvSpPr>
            <p:cNvPr id="181" name="Google Shape;181;p23"/>
            <p:cNvSpPr/>
            <p:nvPr/>
          </p:nvSpPr>
          <p:spPr>
            <a:xfrm>
              <a:off x="395538" y="2371414"/>
              <a:ext cx="1563300" cy="781500"/>
            </a:xfrm>
            <a:prstGeom prst="rect">
              <a:avLst/>
            </a:prstGeom>
            <a:solidFill>
              <a:srgbClr val="FBE4D4"/>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3"/>
            <p:cNvSpPr txBox="1"/>
            <p:nvPr/>
          </p:nvSpPr>
          <p:spPr>
            <a:xfrm>
              <a:off x="395538" y="2371414"/>
              <a:ext cx="1563300" cy="78150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No se formulan</a:t>
              </a:r>
              <a:endParaRPr>
                <a:solidFill>
                  <a:schemeClr val="dk2"/>
                </a:solidFill>
                <a:latin typeface="EB Garamond"/>
                <a:ea typeface="EB Garamond"/>
                <a:cs typeface="EB Garamond"/>
                <a:sym typeface="EB Garamond"/>
              </a:endParaRPr>
            </a:p>
          </p:txBody>
        </p:sp>
        <p:sp>
          <p:nvSpPr>
            <p:cNvPr id="183" name="Google Shape;183;p23"/>
            <p:cNvSpPr/>
            <p:nvPr/>
          </p:nvSpPr>
          <p:spPr>
            <a:xfrm>
              <a:off x="395538" y="3481314"/>
              <a:ext cx="1563300" cy="781500"/>
            </a:xfrm>
            <a:prstGeom prst="rect">
              <a:avLst/>
            </a:prstGeom>
            <a:solidFill>
              <a:srgbClr val="D8165D"/>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3"/>
            <p:cNvSpPr txBox="1"/>
            <p:nvPr/>
          </p:nvSpPr>
          <p:spPr>
            <a:xfrm>
              <a:off x="395538" y="3481314"/>
              <a:ext cx="1563300" cy="781500"/>
            </a:xfrm>
            <a:prstGeom prst="rect">
              <a:avLst/>
            </a:prstGeom>
            <a:solidFill>
              <a:srgbClr val="FBE4D4"/>
            </a:solid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a:t>
              </a:r>
              <a:endParaRPr>
                <a:solidFill>
                  <a:schemeClr val="dk2"/>
                </a:solidFill>
                <a:latin typeface="EB Garamond"/>
                <a:ea typeface="EB Garamond"/>
                <a:cs typeface="EB Garamond"/>
                <a:sym typeface="EB Garamond"/>
              </a:endParaRPr>
            </a:p>
          </p:txBody>
        </p:sp>
        <p:sp>
          <p:nvSpPr>
            <p:cNvPr id="185" name="Google Shape;185;p23"/>
            <p:cNvSpPr/>
            <p:nvPr/>
          </p:nvSpPr>
          <p:spPr>
            <a:xfrm>
              <a:off x="1896249" y="1261514"/>
              <a:ext cx="1563300" cy="781500"/>
            </a:xfrm>
            <a:prstGeom prst="rect">
              <a:avLst/>
            </a:prstGeom>
            <a:solidFill>
              <a:srgbClr val="FEE599"/>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3"/>
            <p:cNvSpPr txBox="1"/>
            <p:nvPr/>
          </p:nvSpPr>
          <p:spPr>
            <a:xfrm>
              <a:off x="1896249" y="1261514"/>
              <a:ext cx="1563300" cy="7815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Descriptiva</a:t>
              </a:r>
              <a:endParaRPr>
                <a:solidFill>
                  <a:schemeClr val="dk2"/>
                </a:solidFill>
                <a:latin typeface="EB Garamond"/>
                <a:ea typeface="EB Garamond"/>
                <a:cs typeface="EB Garamond"/>
                <a:sym typeface="EB Garamond"/>
              </a:endParaRPr>
            </a:p>
          </p:txBody>
        </p:sp>
        <p:sp>
          <p:nvSpPr>
            <p:cNvPr id="187" name="Google Shape;187;p23"/>
            <p:cNvSpPr/>
            <p:nvPr/>
          </p:nvSpPr>
          <p:spPr>
            <a:xfrm>
              <a:off x="2287059" y="2371414"/>
              <a:ext cx="1563300" cy="781500"/>
            </a:xfrm>
            <a:prstGeom prst="rect">
              <a:avLst/>
            </a:prstGeom>
            <a:solidFill>
              <a:srgbClr val="FFF2CC"/>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3"/>
            <p:cNvSpPr txBox="1"/>
            <p:nvPr/>
          </p:nvSpPr>
          <p:spPr>
            <a:xfrm>
              <a:off x="2287059" y="2371414"/>
              <a:ext cx="1563300" cy="78150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Solo se formulan cuando se pronostica un hecho o dato</a:t>
              </a:r>
              <a:endParaRPr>
                <a:solidFill>
                  <a:schemeClr val="dk2"/>
                </a:solidFill>
                <a:latin typeface="EB Garamond"/>
                <a:ea typeface="EB Garamond"/>
                <a:cs typeface="EB Garamond"/>
                <a:sym typeface="EB Garamond"/>
              </a:endParaRPr>
            </a:p>
          </p:txBody>
        </p:sp>
        <p:sp>
          <p:nvSpPr>
            <p:cNvPr id="189" name="Google Shape;189;p23"/>
            <p:cNvSpPr/>
            <p:nvPr/>
          </p:nvSpPr>
          <p:spPr>
            <a:xfrm>
              <a:off x="2287059" y="3481314"/>
              <a:ext cx="1563300" cy="781500"/>
            </a:xfrm>
            <a:prstGeom prst="rect">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3"/>
            <p:cNvSpPr txBox="1"/>
            <p:nvPr/>
          </p:nvSpPr>
          <p:spPr>
            <a:xfrm>
              <a:off x="2287059" y="3481314"/>
              <a:ext cx="1563300" cy="781500"/>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None/>
              </a:pPr>
              <a:r>
                <a:rPr lang="es" sz="1000">
                  <a:solidFill>
                    <a:schemeClr val="dk2"/>
                  </a:solidFill>
                  <a:latin typeface="EB Garamond"/>
                  <a:ea typeface="EB Garamond"/>
                  <a:cs typeface="EB Garamond"/>
                  <a:sym typeface="EB Garamond"/>
                </a:rPr>
                <a:t>Ej. "El índice delictivo para el siguiente semestre será menor a un delito por cada mil habitantes” </a:t>
              </a:r>
              <a:endParaRPr>
                <a:solidFill>
                  <a:schemeClr val="dk2"/>
                </a:solidFill>
                <a:latin typeface="EB Garamond"/>
                <a:ea typeface="EB Garamond"/>
                <a:cs typeface="EB Garamond"/>
                <a:sym typeface="EB Garamond"/>
              </a:endParaRPr>
            </a:p>
          </p:txBody>
        </p:sp>
        <p:sp>
          <p:nvSpPr>
            <p:cNvPr id="191" name="Google Shape;191;p23"/>
            <p:cNvSpPr/>
            <p:nvPr/>
          </p:nvSpPr>
          <p:spPr>
            <a:xfrm>
              <a:off x="4178579" y="1261514"/>
              <a:ext cx="1563300" cy="781500"/>
            </a:xfrm>
            <a:prstGeom prst="rect">
              <a:avLst/>
            </a:prstGeom>
            <a:solidFill>
              <a:srgbClr val="C4E0B2"/>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3"/>
            <p:cNvSpPr txBox="1"/>
            <p:nvPr/>
          </p:nvSpPr>
          <p:spPr>
            <a:xfrm>
              <a:off x="4178579" y="1261514"/>
              <a:ext cx="1563300" cy="7815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Correlacional</a:t>
              </a:r>
              <a:endParaRPr>
                <a:solidFill>
                  <a:schemeClr val="dk2"/>
                </a:solidFill>
                <a:latin typeface="EB Garamond"/>
                <a:ea typeface="EB Garamond"/>
                <a:cs typeface="EB Garamond"/>
                <a:sym typeface="EB Garamond"/>
              </a:endParaRPr>
            </a:p>
          </p:txBody>
        </p:sp>
        <p:sp>
          <p:nvSpPr>
            <p:cNvPr id="193" name="Google Shape;193;p23"/>
            <p:cNvSpPr/>
            <p:nvPr/>
          </p:nvSpPr>
          <p:spPr>
            <a:xfrm>
              <a:off x="4553729" y="2371414"/>
              <a:ext cx="1563300" cy="781500"/>
            </a:xfrm>
            <a:prstGeom prst="rect">
              <a:avLst/>
            </a:prstGeom>
            <a:solidFill>
              <a:srgbClr val="C4E0B2"/>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3"/>
            <p:cNvSpPr txBox="1"/>
            <p:nvPr/>
          </p:nvSpPr>
          <p:spPr>
            <a:xfrm>
              <a:off x="4506779" y="2371414"/>
              <a:ext cx="1563300" cy="78150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S</a:t>
              </a:r>
              <a:r>
                <a:rPr lang="es" sz="1200">
                  <a:solidFill>
                    <a:schemeClr val="dk2"/>
                  </a:solidFill>
                  <a:latin typeface="EB Garamond"/>
                  <a:ea typeface="EB Garamond"/>
                  <a:cs typeface="EB Garamond"/>
                  <a:sym typeface="EB Garamond"/>
                </a:rPr>
                <a:t>í</a:t>
              </a:r>
              <a:r>
                <a:rPr lang="es" sz="1200">
                  <a:solidFill>
                    <a:schemeClr val="dk2"/>
                  </a:solidFill>
                  <a:latin typeface="EB Garamond"/>
                  <a:ea typeface="EB Garamond"/>
                  <a:cs typeface="EB Garamond"/>
                  <a:sym typeface="EB Garamond"/>
                </a:rPr>
                <a:t>, correlacionales</a:t>
              </a:r>
              <a:endParaRPr>
                <a:solidFill>
                  <a:schemeClr val="dk2"/>
                </a:solidFill>
                <a:latin typeface="EB Garamond"/>
                <a:ea typeface="EB Garamond"/>
                <a:cs typeface="EB Garamond"/>
                <a:sym typeface="EB Garamond"/>
              </a:endParaRPr>
            </a:p>
          </p:txBody>
        </p:sp>
        <p:sp>
          <p:nvSpPr>
            <p:cNvPr id="195" name="Google Shape;195;p23"/>
            <p:cNvSpPr/>
            <p:nvPr/>
          </p:nvSpPr>
          <p:spPr>
            <a:xfrm>
              <a:off x="4569389" y="3481314"/>
              <a:ext cx="1563300" cy="781500"/>
            </a:xfrm>
            <a:prstGeom prst="rect">
              <a:avLst/>
            </a:prstGeom>
            <a:solidFill>
              <a:srgbClr val="70AD47"/>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3"/>
            <p:cNvSpPr txBox="1"/>
            <p:nvPr/>
          </p:nvSpPr>
          <p:spPr>
            <a:xfrm>
              <a:off x="4569389" y="3481314"/>
              <a:ext cx="1563300" cy="781500"/>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None/>
              </a:pPr>
              <a:r>
                <a:rPr lang="es" sz="1000">
                  <a:solidFill>
                    <a:schemeClr val="dk2"/>
                  </a:solidFill>
                  <a:latin typeface="EB Garamond"/>
                  <a:ea typeface="EB Garamond"/>
                  <a:cs typeface="EB Garamond"/>
                  <a:sym typeface="EB Garamond"/>
                </a:rPr>
                <a:t>Ej. "A mayor nivel educativo alcanzado por mujeres, se observará menor brecha salarial con hombres en mismo cargo" </a:t>
              </a:r>
              <a:endParaRPr>
                <a:solidFill>
                  <a:schemeClr val="dk2"/>
                </a:solidFill>
                <a:latin typeface="EB Garamond"/>
                <a:ea typeface="EB Garamond"/>
                <a:cs typeface="EB Garamond"/>
                <a:sym typeface="EB Garamond"/>
              </a:endParaRPr>
            </a:p>
          </p:txBody>
        </p:sp>
        <p:sp>
          <p:nvSpPr>
            <p:cNvPr id="197" name="Google Shape;197;p23"/>
            <p:cNvSpPr/>
            <p:nvPr/>
          </p:nvSpPr>
          <p:spPr>
            <a:xfrm>
              <a:off x="6070099" y="1261514"/>
              <a:ext cx="1563300" cy="781500"/>
            </a:xfrm>
            <a:prstGeom prst="rect">
              <a:avLst/>
            </a:prstGeom>
            <a:solidFill>
              <a:srgbClr val="C4E0B2"/>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txBox="1"/>
            <p:nvPr/>
          </p:nvSpPr>
          <p:spPr>
            <a:xfrm>
              <a:off x="6070099" y="1261514"/>
              <a:ext cx="1563300" cy="781500"/>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None/>
              </a:pPr>
              <a:r>
                <a:rPr lang="es" sz="1800">
                  <a:solidFill>
                    <a:schemeClr val="dk2"/>
                  </a:solidFill>
                  <a:latin typeface="EB Garamond"/>
                  <a:ea typeface="EB Garamond"/>
                  <a:cs typeface="EB Garamond"/>
                  <a:sym typeface="EB Garamond"/>
                </a:rPr>
                <a:t>Causal</a:t>
              </a:r>
              <a:endParaRPr>
                <a:solidFill>
                  <a:schemeClr val="dk2"/>
                </a:solidFill>
                <a:latin typeface="EB Garamond"/>
                <a:ea typeface="EB Garamond"/>
                <a:cs typeface="EB Garamond"/>
                <a:sym typeface="EB Garamond"/>
              </a:endParaRPr>
            </a:p>
          </p:txBody>
        </p:sp>
        <p:sp>
          <p:nvSpPr>
            <p:cNvPr id="199" name="Google Shape;199;p23"/>
            <p:cNvSpPr/>
            <p:nvPr/>
          </p:nvSpPr>
          <p:spPr>
            <a:xfrm>
              <a:off x="6460909" y="2371414"/>
              <a:ext cx="1563300" cy="781500"/>
            </a:xfrm>
            <a:prstGeom prst="rect">
              <a:avLst/>
            </a:prstGeom>
            <a:solidFill>
              <a:srgbClr val="C4E0B2"/>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txBox="1"/>
            <p:nvPr/>
          </p:nvSpPr>
          <p:spPr>
            <a:xfrm>
              <a:off x="6460909" y="2371414"/>
              <a:ext cx="1563300" cy="78150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None/>
              </a:pPr>
              <a:r>
                <a:rPr lang="es" sz="1200">
                  <a:solidFill>
                    <a:schemeClr val="dk2"/>
                  </a:solidFill>
                  <a:latin typeface="EB Garamond"/>
                  <a:ea typeface="EB Garamond"/>
                  <a:cs typeface="EB Garamond"/>
                  <a:sym typeface="EB Garamond"/>
                </a:rPr>
                <a:t>Sí</a:t>
              </a:r>
              <a:r>
                <a:rPr lang="es" sz="1200">
                  <a:solidFill>
                    <a:schemeClr val="dk2"/>
                  </a:solidFill>
                  <a:latin typeface="EB Garamond"/>
                  <a:ea typeface="EB Garamond"/>
                  <a:cs typeface="EB Garamond"/>
                  <a:sym typeface="EB Garamond"/>
                </a:rPr>
                <a:t>, causales</a:t>
              </a:r>
              <a:endParaRPr>
                <a:solidFill>
                  <a:schemeClr val="dk2"/>
                </a:solidFill>
                <a:latin typeface="EB Garamond"/>
                <a:ea typeface="EB Garamond"/>
                <a:cs typeface="EB Garamond"/>
                <a:sym typeface="EB Garamond"/>
              </a:endParaRPr>
            </a:p>
          </p:txBody>
        </p:sp>
        <p:sp>
          <p:nvSpPr>
            <p:cNvPr id="201" name="Google Shape;201;p23"/>
            <p:cNvSpPr/>
            <p:nvPr/>
          </p:nvSpPr>
          <p:spPr>
            <a:xfrm>
              <a:off x="6460909" y="3481314"/>
              <a:ext cx="1563300" cy="781500"/>
            </a:xfrm>
            <a:prstGeom prst="rect">
              <a:avLst/>
            </a:prstGeom>
            <a:solidFill>
              <a:srgbClr val="70AD47"/>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3"/>
            <p:cNvSpPr txBox="1"/>
            <p:nvPr/>
          </p:nvSpPr>
          <p:spPr>
            <a:xfrm>
              <a:off x="6460909" y="3481314"/>
              <a:ext cx="1563300" cy="781500"/>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None/>
              </a:pPr>
              <a:r>
                <a:rPr lang="es" sz="1000">
                  <a:solidFill>
                    <a:schemeClr val="dk2"/>
                  </a:solidFill>
                  <a:latin typeface="EB Garamond"/>
                  <a:ea typeface="EB Garamond"/>
                  <a:cs typeface="EB Garamond"/>
                  <a:sym typeface="EB Garamond"/>
                </a:rPr>
                <a:t>Ej. "La vacuna generará anticuerpos que disminuirán las probabilidades de mortalidad por covid"</a:t>
              </a:r>
              <a:endParaRPr>
                <a:solidFill>
                  <a:schemeClr val="dk2"/>
                </a:solidFill>
                <a:latin typeface="EB Garamond"/>
                <a:ea typeface="EB Garamond"/>
                <a:cs typeface="EB Garamond"/>
                <a:sym typeface="EB Garamond"/>
              </a:endParaRPr>
            </a:p>
          </p:txBody>
        </p:sp>
      </p:grpSp>
      <p:sp>
        <p:nvSpPr>
          <p:cNvPr id="203" name="Google Shape;203;p23"/>
          <p:cNvSpPr/>
          <p:nvPr/>
        </p:nvSpPr>
        <p:spPr>
          <a:xfrm>
            <a:off x="4890959" y="2199800"/>
            <a:ext cx="234600" cy="18291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204" name="Google Shape;204;p23"/>
          <p:cNvSpPr/>
          <p:nvPr/>
        </p:nvSpPr>
        <p:spPr>
          <a:xfrm>
            <a:off x="4890951" y="2199800"/>
            <a:ext cx="234600" cy="779100"/>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 ¿cuáles variables se vinculan en cada ejemplo?</a:t>
            </a:r>
            <a:endParaRPr>
              <a:latin typeface="EB Garamond"/>
              <a:ea typeface="EB Garamond"/>
              <a:cs typeface="EB Garamond"/>
              <a:sym typeface="EB Garamond"/>
            </a:endParaRPr>
          </a:p>
        </p:txBody>
      </p:sp>
      <p:sp>
        <p:nvSpPr>
          <p:cNvPr id="210" name="Google Shape;210;p24"/>
          <p:cNvSpPr txBox="1"/>
          <p:nvPr>
            <p:ph idx="1" type="body"/>
          </p:nvPr>
        </p:nvSpPr>
        <p:spPr>
          <a:xfrm>
            <a:off x="311700" y="1152475"/>
            <a:ext cx="4593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lang="es">
                <a:solidFill>
                  <a:schemeClr val="lt2"/>
                </a:solidFill>
                <a:highlight>
                  <a:srgbClr val="156C77"/>
                </a:highlight>
                <a:latin typeface="EB Garamond"/>
                <a:ea typeface="EB Garamond"/>
                <a:cs typeface="EB Garamond"/>
                <a:sym typeface="EB Garamond"/>
              </a:rPr>
              <a:t>Ejemplos</a:t>
            </a:r>
            <a:endParaRPr>
              <a:solidFill>
                <a:schemeClr val="lt2"/>
              </a:solidFill>
              <a:highlight>
                <a:srgbClr val="156C77"/>
              </a:highlight>
              <a:latin typeface="EB Garamond"/>
              <a:ea typeface="EB Garamond"/>
              <a:cs typeface="EB Garamond"/>
              <a:sym typeface="EB Garamond"/>
            </a:endParaRPr>
          </a:p>
          <a:p>
            <a:pPr indent="-334328" lvl="0" marL="457200" rtl="0" algn="l">
              <a:spcBef>
                <a:spcPts val="1200"/>
              </a:spcBef>
              <a:spcAft>
                <a:spcPts val="0"/>
              </a:spcAft>
              <a:buSzPct val="100000"/>
              <a:buFont typeface="EB Garamond"/>
              <a:buAutoNum type="arabicPeriod"/>
            </a:pPr>
            <a:r>
              <a:rPr lang="es">
                <a:latin typeface="EB Garamond"/>
                <a:ea typeface="EB Garamond"/>
                <a:cs typeface="EB Garamond"/>
                <a:sym typeface="EB Garamond"/>
              </a:rPr>
              <a:t>La proximidad geográfica entre los hogares de las parejas de novios está vinculada positivamente con el nivel de satisfacción que les proporciona su relación.</a:t>
            </a:r>
            <a:endParaRPr>
              <a:latin typeface="EB Garamond"/>
              <a:ea typeface="EB Garamond"/>
              <a:cs typeface="EB Garamond"/>
              <a:sym typeface="EB Garamond"/>
            </a:endParaRPr>
          </a:p>
          <a:p>
            <a:pPr indent="0" lvl="0" marL="457200" rtl="0" algn="l">
              <a:spcBef>
                <a:spcPts val="1200"/>
              </a:spcBef>
              <a:spcAft>
                <a:spcPts val="0"/>
              </a:spcAft>
              <a:buNone/>
            </a:pPr>
            <a:r>
              <a:t/>
            </a:r>
            <a:endParaRPr>
              <a:latin typeface="EB Garamond"/>
              <a:ea typeface="EB Garamond"/>
              <a:cs typeface="EB Garamond"/>
              <a:sym typeface="EB Garamond"/>
            </a:endParaRPr>
          </a:p>
          <a:p>
            <a:pPr indent="-33432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El índice de cáncer pulmonar es mayor entre los fumadores que entre los no fumadores.</a:t>
            </a:r>
            <a:endParaRPr>
              <a:latin typeface="EB Garamond"/>
              <a:ea typeface="EB Garamond"/>
              <a:cs typeface="EB Garamond"/>
              <a:sym typeface="EB Garamond"/>
            </a:endParaRPr>
          </a:p>
          <a:p>
            <a:pPr indent="0" lvl="0" marL="457200" rtl="0" algn="l">
              <a:spcBef>
                <a:spcPts val="1200"/>
              </a:spcBef>
              <a:spcAft>
                <a:spcPts val="0"/>
              </a:spcAft>
              <a:buNone/>
            </a:pPr>
            <a:r>
              <a:t/>
            </a:r>
            <a:endParaRPr>
              <a:latin typeface="EB Garamond"/>
              <a:ea typeface="EB Garamond"/>
              <a:cs typeface="EB Garamond"/>
              <a:sym typeface="EB Garamond"/>
            </a:endParaRPr>
          </a:p>
          <a:p>
            <a:pPr indent="-33432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A mayor variedad en el trabajo, habrá mayor motivación intrínseca hacia éste.</a:t>
            </a:r>
            <a:endParaRPr>
              <a:latin typeface="EB Garamond"/>
              <a:ea typeface="EB Garamond"/>
              <a:cs typeface="EB Garamond"/>
              <a:sym typeface="EB Garamond"/>
            </a:endParaRPr>
          </a:p>
        </p:txBody>
      </p:sp>
      <p:sp>
        <p:nvSpPr>
          <p:cNvPr id="211" name="Google Shape;21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12" name="Google Shape;212;p24"/>
          <p:cNvSpPr txBox="1"/>
          <p:nvPr/>
        </p:nvSpPr>
        <p:spPr>
          <a:xfrm>
            <a:off x="5607075" y="1152475"/>
            <a:ext cx="1026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lt2"/>
                </a:solidFill>
                <a:highlight>
                  <a:srgbClr val="156C77"/>
                </a:highlight>
                <a:latin typeface="EB Garamond"/>
                <a:ea typeface="EB Garamond"/>
                <a:cs typeface="EB Garamond"/>
                <a:sym typeface="EB Garamond"/>
              </a:rPr>
              <a:t>Variables</a:t>
            </a:r>
            <a:endParaRPr sz="1700">
              <a:solidFill>
                <a:schemeClr val="lt2"/>
              </a:solidFill>
              <a:highlight>
                <a:srgbClr val="156C77"/>
              </a:highlight>
              <a:latin typeface="EB Garamond"/>
              <a:ea typeface="EB Garamond"/>
              <a:cs typeface="EB Garamond"/>
              <a:sym typeface="EB Garamo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Características de las hipótesis</a:t>
            </a:r>
            <a:endParaRPr b="1">
              <a:latin typeface="EB Garamond"/>
              <a:ea typeface="EB Garamond"/>
              <a:cs typeface="EB Garamond"/>
              <a:sym typeface="EB Garamond"/>
            </a:endParaRPr>
          </a:p>
        </p:txBody>
      </p:sp>
      <p:sp>
        <p:nvSpPr>
          <p:cNvPr id="218" name="Google Shape;21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a:latin typeface="EB Garamond"/>
                <a:ea typeface="EB Garamond"/>
                <a:cs typeface="EB Garamond"/>
                <a:sym typeface="EB Garamond"/>
              </a:rPr>
              <a:t>*</a:t>
            </a:r>
            <a:r>
              <a:rPr b="1" lang="es">
                <a:latin typeface="EB Garamond"/>
                <a:ea typeface="EB Garamond"/>
                <a:cs typeface="EB Garamond"/>
                <a:sym typeface="EB Garamond"/>
              </a:rPr>
              <a:t>Son la médula del método deductivo cuantitativo</a:t>
            </a:r>
            <a:r>
              <a:rPr lang="es">
                <a:latin typeface="EB Garamond"/>
                <a:ea typeface="EB Garamond"/>
                <a:cs typeface="EB Garamond"/>
                <a:sym typeface="EB Garamond"/>
              </a:rPr>
              <a:t>.</a:t>
            </a:r>
            <a:endParaRPr>
              <a:latin typeface="EB Garamond"/>
              <a:ea typeface="EB Garamond"/>
              <a:cs typeface="EB Garamond"/>
              <a:sym typeface="EB Garamond"/>
            </a:endParaRPr>
          </a:p>
          <a:p>
            <a:pPr indent="-342900" lvl="0" marL="457200" rtl="0" algn="l">
              <a:spcBef>
                <a:spcPts val="120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Reales</a:t>
            </a:r>
            <a:r>
              <a:rPr lang="es">
                <a:latin typeface="EB Garamond"/>
                <a:ea typeface="EB Garamond"/>
                <a:cs typeface="EB Garamond"/>
                <a:sym typeface="EB Garamond"/>
              </a:rPr>
              <a:t>: “Los niños han disminuido su aprendizaje”</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Variables precisas</a:t>
            </a:r>
            <a:r>
              <a:rPr lang="es">
                <a:latin typeface="EB Garamond"/>
                <a:ea typeface="EB Garamond"/>
                <a:cs typeface="EB Garamond"/>
                <a:sym typeface="EB Garamond"/>
              </a:rPr>
              <a:t>: “Cambiará el clima”</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Lógica clara y verosímil</a:t>
            </a:r>
            <a:r>
              <a:rPr lang="es">
                <a:latin typeface="EB Garamond"/>
                <a:ea typeface="EB Garamond"/>
                <a:cs typeface="EB Garamond"/>
                <a:sym typeface="EB Garamond"/>
              </a:rPr>
              <a:t>: “N. Cage influye en la producción de agua”</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Observable y medible</a:t>
            </a:r>
            <a:r>
              <a:rPr lang="es">
                <a:latin typeface="EB Garamond"/>
                <a:ea typeface="EB Garamond"/>
                <a:cs typeface="EB Garamond"/>
                <a:sym typeface="EB Garamond"/>
              </a:rPr>
              <a:t>: “La pandemia aumentó la fuerza espiritual”</a:t>
            </a:r>
            <a:endParaRPr>
              <a:latin typeface="EB Garamond"/>
              <a:ea typeface="EB Garamond"/>
              <a:cs typeface="EB Garamond"/>
              <a:sym typeface="EB Garamond"/>
            </a:endParaRPr>
          </a:p>
          <a:p>
            <a:pPr indent="-342900" lvl="0" marL="457200" rtl="0" algn="l">
              <a:spcBef>
                <a:spcPts val="0"/>
              </a:spcBef>
              <a:spcAft>
                <a:spcPts val="0"/>
              </a:spcAft>
              <a:buSzPts val="1800"/>
              <a:buFont typeface="EB Garamond"/>
              <a:buAutoNum type="arabicPeriod"/>
            </a:pPr>
            <a:r>
              <a:rPr lang="es">
                <a:solidFill>
                  <a:schemeClr val="lt2"/>
                </a:solidFill>
                <a:highlight>
                  <a:srgbClr val="156C77"/>
                </a:highlight>
                <a:latin typeface="EB Garamond"/>
                <a:ea typeface="EB Garamond"/>
                <a:cs typeface="EB Garamond"/>
                <a:sym typeface="EB Garamond"/>
              </a:rPr>
              <a:t>Condiciones disponibles</a:t>
            </a:r>
            <a:r>
              <a:rPr lang="es">
                <a:latin typeface="EB Garamond"/>
                <a:ea typeface="EB Garamond"/>
                <a:cs typeface="EB Garamond"/>
                <a:sym typeface="EB Garamond"/>
              </a:rPr>
              <a:t> para probarlas: técnicas o herramientas.</a:t>
            </a:r>
            <a:endParaRPr>
              <a:latin typeface="EB Garamond"/>
              <a:ea typeface="EB Garamond"/>
              <a:cs typeface="EB Garamond"/>
              <a:sym typeface="EB Garamond"/>
            </a:endParaRPr>
          </a:p>
        </p:txBody>
      </p:sp>
      <p:sp>
        <p:nvSpPr>
          <p:cNvPr id="219" name="Google Shape;21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225" name="Google Shape;22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Imagen que contiene Escala de tiempo&#10;&#10;Descripción generada automáticamente" id="226" name="Google Shape;226;p26"/>
          <p:cNvPicPr preferRelativeResize="0"/>
          <p:nvPr/>
        </p:nvPicPr>
        <p:blipFill rotWithShape="1">
          <a:blip r:embed="rId3">
            <a:alphaModFix/>
          </a:blip>
          <a:srcRect b="0" l="0" r="0" t="0"/>
          <a:stretch/>
        </p:blipFill>
        <p:spPr>
          <a:xfrm>
            <a:off x="1450899" y="1017725"/>
            <a:ext cx="6242224" cy="3893075"/>
          </a:xfrm>
          <a:prstGeom prst="rect">
            <a:avLst/>
          </a:prstGeom>
          <a:noFill/>
          <a:ln>
            <a:noFill/>
          </a:ln>
        </p:spPr>
      </p:pic>
      <p:sp>
        <p:nvSpPr>
          <p:cNvPr id="227" name="Google Shape;227;p26"/>
          <p:cNvSpPr/>
          <p:nvPr/>
        </p:nvSpPr>
        <p:spPr>
          <a:xfrm>
            <a:off x="3868075" y="1670275"/>
            <a:ext cx="3390600" cy="2543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
                <a:latin typeface="EB Garamond"/>
                <a:ea typeface="EB Garamond"/>
                <a:cs typeface="EB Garamond"/>
                <a:sym typeface="EB Garamond"/>
              </a:rPr>
              <a:t>Ejercicio</a:t>
            </a:r>
            <a:endParaRPr b="1">
              <a:latin typeface="EB Garamond"/>
              <a:ea typeface="EB Garamond"/>
              <a:cs typeface="EB Garamond"/>
              <a:sym typeface="EB Garamond"/>
            </a:endParaRPr>
          </a:p>
        </p:txBody>
      </p:sp>
      <p:sp>
        <p:nvSpPr>
          <p:cNvPr id="233" name="Google Shape;23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Imagen que contiene Escala de tiempo&#10;&#10;Descripción generada automáticamente" id="234" name="Google Shape;234;p27"/>
          <p:cNvPicPr preferRelativeResize="0"/>
          <p:nvPr/>
        </p:nvPicPr>
        <p:blipFill rotWithShape="1">
          <a:blip r:embed="rId3">
            <a:alphaModFix/>
          </a:blip>
          <a:srcRect b="0" l="0" r="0" t="0"/>
          <a:stretch/>
        </p:blipFill>
        <p:spPr>
          <a:xfrm>
            <a:off x="1450899" y="1017725"/>
            <a:ext cx="6242224" cy="3893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
                <a:latin typeface="EB Garamond"/>
                <a:ea typeface="EB Garamond"/>
                <a:cs typeface="EB Garamond"/>
                <a:sym typeface="EB Garamond"/>
              </a:rPr>
              <a:t>Ejercicio</a:t>
            </a:r>
            <a:endParaRPr b="1">
              <a:latin typeface="EB Garamond"/>
              <a:ea typeface="EB Garamond"/>
              <a:cs typeface="EB Garamond"/>
              <a:sym typeface="EB Garamond"/>
            </a:endParaRPr>
          </a:p>
        </p:txBody>
      </p:sp>
      <p:sp>
        <p:nvSpPr>
          <p:cNvPr id="240" name="Google Shape;24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Gráfico, Gráfico de barras&#10;&#10;Descripción generada automáticamente" id="241" name="Google Shape;241;p28"/>
          <p:cNvPicPr preferRelativeResize="0"/>
          <p:nvPr/>
        </p:nvPicPr>
        <p:blipFill rotWithShape="1">
          <a:blip r:embed="rId3">
            <a:alphaModFix/>
          </a:blip>
          <a:srcRect b="0" l="0" r="0" t="0"/>
          <a:stretch/>
        </p:blipFill>
        <p:spPr>
          <a:xfrm>
            <a:off x="1970000" y="976276"/>
            <a:ext cx="5204024" cy="3794150"/>
          </a:xfrm>
          <a:prstGeom prst="rect">
            <a:avLst/>
          </a:prstGeom>
          <a:noFill/>
          <a:ln>
            <a:noFill/>
          </a:ln>
        </p:spPr>
      </p:pic>
      <p:sp>
        <p:nvSpPr>
          <p:cNvPr id="242" name="Google Shape;242;p28"/>
          <p:cNvSpPr/>
          <p:nvPr/>
        </p:nvSpPr>
        <p:spPr>
          <a:xfrm>
            <a:off x="3987925" y="1601800"/>
            <a:ext cx="3390600" cy="2543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
                <a:latin typeface="EB Garamond"/>
                <a:ea typeface="EB Garamond"/>
                <a:cs typeface="EB Garamond"/>
                <a:sym typeface="EB Garamond"/>
              </a:rPr>
              <a:t>Ejercicio</a:t>
            </a:r>
            <a:endParaRPr b="1">
              <a:latin typeface="EB Garamond"/>
              <a:ea typeface="EB Garamond"/>
              <a:cs typeface="EB Garamond"/>
              <a:sym typeface="EB Garamond"/>
            </a:endParaRPr>
          </a:p>
        </p:txBody>
      </p:sp>
      <p:sp>
        <p:nvSpPr>
          <p:cNvPr id="248" name="Google Shape;24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Gráfico, Gráfico de barras&#10;&#10;Descripción generada automáticamente" id="249" name="Google Shape;249;p29"/>
          <p:cNvPicPr preferRelativeResize="0"/>
          <p:nvPr/>
        </p:nvPicPr>
        <p:blipFill rotWithShape="1">
          <a:blip r:embed="rId3">
            <a:alphaModFix/>
          </a:blip>
          <a:srcRect b="0" l="0" r="0" t="0"/>
          <a:stretch/>
        </p:blipFill>
        <p:spPr>
          <a:xfrm>
            <a:off x="1970000" y="976276"/>
            <a:ext cx="5204024" cy="3794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¿Qué dice el estudio?</a:t>
            </a:r>
            <a:endParaRPr>
              <a:latin typeface="EB Garamond"/>
              <a:ea typeface="EB Garamond"/>
              <a:cs typeface="EB Garamond"/>
              <a:sym typeface="EB Garamond"/>
            </a:endParaRPr>
          </a:p>
        </p:txBody>
      </p:sp>
      <p:sp>
        <p:nvSpPr>
          <p:cNvPr id="255" name="Google Shape;255;p30"/>
          <p:cNvSpPr txBox="1"/>
          <p:nvPr>
            <p:ph idx="1" type="body"/>
          </p:nvPr>
        </p:nvSpPr>
        <p:spPr>
          <a:xfrm>
            <a:off x="311700" y="1152475"/>
            <a:ext cx="37815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61111"/>
              <a:buFont typeface="Arial"/>
              <a:buNone/>
            </a:pPr>
            <a:r>
              <a:rPr lang="es">
                <a:latin typeface="EB Garamond"/>
                <a:ea typeface="EB Garamond"/>
                <a:cs typeface="EB Garamond"/>
                <a:sym typeface="EB Garamond"/>
              </a:rPr>
              <a:t>“Según el documento, la tasa de participación laboral de las mujeres se situó en 46% en 2020, mientras que la de los hombres en 69% (en 2019 alcanzaron un 52% y un 73,6%, respectivamente)2</a:t>
            </a:r>
            <a:endParaRPr>
              <a:latin typeface="EB Garamond"/>
              <a:ea typeface="EB Garamond"/>
              <a:cs typeface="EB Garamond"/>
              <a:sym typeface="EB Garamond"/>
            </a:endParaRPr>
          </a:p>
          <a:p>
            <a:pPr indent="0" lvl="0" marL="0" rtl="0" algn="l">
              <a:spcBef>
                <a:spcPts val="1200"/>
              </a:spcBef>
              <a:spcAft>
                <a:spcPts val="0"/>
              </a:spcAft>
              <a:buClr>
                <a:schemeClr val="dk1"/>
              </a:buClr>
              <a:buSzPct val="61111"/>
              <a:buFont typeface="Arial"/>
              <a:buNone/>
            </a:pPr>
            <a:r>
              <a:t/>
            </a:r>
            <a:endParaRPr>
              <a:latin typeface="EB Garamond"/>
              <a:ea typeface="EB Garamond"/>
              <a:cs typeface="EB Garamond"/>
              <a:sym typeface="EB Garamond"/>
            </a:endParaRPr>
          </a:p>
          <a:p>
            <a:pPr indent="0" lvl="0" marL="0" rtl="0" algn="l">
              <a:spcBef>
                <a:spcPts val="1200"/>
              </a:spcBef>
              <a:spcAft>
                <a:spcPts val="1200"/>
              </a:spcAft>
              <a:buNone/>
            </a:pPr>
            <a:r>
              <a:rPr lang="es">
                <a:latin typeface="EB Garamond"/>
                <a:ea typeface="EB Garamond"/>
                <a:cs typeface="EB Garamond"/>
                <a:sym typeface="EB Garamond"/>
              </a:rPr>
              <a:t>“En 2020, explica el estudio, se registró una contundente salida de mujeres de la fuerza laboral, quienes, por tener que atender las demandas de cuidados en sus hogares, no retomaron la búsqueda de empleo.”</a:t>
            </a:r>
            <a:endParaRPr>
              <a:latin typeface="EB Garamond"/>
              <a:ea typeface="EB Garamond"/>
              <a:cs typeface="EB Garamond"/>
              <a:sym typeface="EB Garamond"/>
            </a:endParaRPr>
          </a:p>
        </p:txBody>
      </p:sp>
      <p:sp>
        <p:nvSpPr>
          <p:cNvPr id="256" name="Google Shape;25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Interfaz de usuario gráfica, Texto, Aplicación, Correo electrónico&#10;&#10;Descripción generada automáticamente" id="257" name="Google Shape;257;p30"/>
          <p:cNvPicPr preferRelativeResize="0"/>
          <p:nvPr/>
        </p:nvPicPr>
        <p:blipFill rotWithShape="1">
          <a:blip r:embed="rId3">
            <a:alphaModFix/>
          </a:blip>
          <a:srcRect b="0" l="0" r="0" t="0"/>
          <a:stretch/>
        </p:blipFill>
        <p:spPr>
          <a:xfrm>
            <a:off x="4093315" y="0"/>
            <a:ext cx="5050686"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Estructura de hipótesis</a:t>
            </a:r>
            <a:endParaRPr b="1">
              <a:latin typeface="EB Garamond"/>
              <a:ea typeface="EB Garamond"/>
              <a:cs typeface="EB Garamond"/>
              <a:sym typeface="EB Garamond"/>
            </a:endParaRPr>
          </a:p>
        </p:txBody>
      </p:sp>
      <p:sp>
        <p:nvSpPr>
          <p:cNvPr id="263" name="Google Shape;263;p31"/>
          <p:cNvSpPr txBox="1"/>
          <p:nvPr>
            <p:ph idx="1" type="body"/>
          </p:nvPr>
        </p:nvSpPr>
        <p:spPr>
          <a:xfrm>
            <a:off x="311700" y="1152475"/>
            <a:ext cx="8520600" cy="15807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es">
                <a:latin typeface="EB Garamond"/>
                <a:ea typeface="EB Garamond"/>
                <a:cs typeface="EB Garamond"/>
                <a:sym typeface="EB Garamond"/>
              </a:rPr>
              <a:t>Ejemplo:</a:t>
            </a:r>
            <a:endParaRPr>
              <a:latin typeface="EB Garamond"/>
              <a:ea typeface="EB Garamond"/>
              <a:cs typeface="EB Garamond"/>
              <a:sym typeface="EB Garamond"/>
            </a:endParaRPr>
          </a:p>
          <a:p>
            <a:pPr indent="0" lvl="0" marL="0" rtl="0" algn="l">
              <a:spcBef>
                <a:spcPts val="1200"/>
              </a:spcBef>
              <a:spcAft>
                <a:spcPts val="0"/>
              </a:spcAft>
              <a:buClr>
                <a:schemeClr val="dk1"/>
              </a:buClr>
              <a:buSzPct val="61111"/>
              <a:buFont typeface="Arial"/>
              <a:buNone/>
            </a:pPr>
            <a:r>
              <a:rPr b="1" lang="es">
                <a:latin typeface="EB Garamond"/>
                <a:ea typeface="EB Garamond"/>
                <a:cs typeface="EB Garamond"/>
                <a:sym typeface="EB Garamond"/>
              </a:rPr>
              <a:t>Pregunta</a:t>
            </a:r>
            <a:r>
              <a:rPr lang="es">
                <a:latin typeface="EB Garamond"/>
                <a:ea typeface="EB Garamond"/>
                <a:cs typeface="EB Garamond"/>
                <a:sym typeface="EB Garamond"/>
              </a:rPr>
              <a:t>: ¿Cuál es el efecto de la pandemia en la la participación laboral de mujeres?</a:t>
            </a:r>
            <a:endParaRPr>
              <a:latin typeface="EB Garamond"/>
              <a:ea typeface="EB Garamond"/>
              <a:cs typeface="EB Garamond"/>
              <a:sym typeface="EB Garamond"/>
            </a:endParaRPr>
          </a:p>
          <a:p>
            <a:pPr indent="0" lvl="0" marL="0" rtl="0" algn="l">
              <a:spcBef>
                <a:spcPts val="1200"/>
              </a:spcBef>
              <a:spcAft>
                <a:spcPts val="0"/>
              </a:spcAft>
              <a:buClr>
                <a:schemeClr val="dk1"/>
              </a:buClr>
              <a:buSzPct val="61111"/>
              <a:buFont typeface="Arial"/>
              <a:buNone/>
            </a:pPr>
            <a:r>
              <a:rPr b="1" lang="es">
                <a:latin typeface="EB Garamond"/>
                <a:ea typeface="EB Garamond"/>
                <a:cs typeface="EB Garamond"/>
                <a:sym typeface="EB Garamond"/>
              </a:rPr>
              <a:t>Objetivo</a:t>
            </a:r>
            <a:r>
              <a:rPr lang="es">
                <a:latin typeface="EB Garamond"/>
                <a:ea typeface="EB Garamond"/>
                <a:cs typeface="EB Garamond"/>
                <a:sym typeface="EB Garamond"/>
              </a:rPr>
              <a:t>: Determinar el efecto de la pandemia en la participación laboral de mujeres, que residen en la región metropolitana, entre el año 2019 y 2020.</a:t>
            </a:r>
            <a:endParaRPr>
              <a:latin typeface="EB Garamond"/>
              <a:ea typeface="EB Garamond"/>
              <a:cs typeface="EB Garamond"/>
              <a:sym typeface="EB Garamond"/>
            </a:endParaRPr>
          </a:p>
          <a:p>
            <a:pPr indent="0" lvl="0" marL="0" rtl="0" algn="l">
              <a:spcBef>
                <a:spcPts val="1200"/>
              </a:spcBef>
              <a:spcAft>
                <a:spcPts val="1200"/>
              </a:spcAft>
              <a:buNone/>
            </a:pPr>
            <a:r>
              <a:rPr b="1" lang="es">
                <a:latin typeface="EB Garamond"/>
                <a:ea typeface="EB Garamond"/>
                <a:cs typeface="EB Garamond"/>
                <a:sym typeface="EB Garamond"/>
              </a:rPr>
              <a:t>Hipótesis</a:t>
            </a:r>
            <a:r>
              <a:rPr lang="es">
                <a:latin typeface="EB Garamond"/>
                <a:ea typeface="EB Garamond"/>
                <a:cs typeface="EB Garamond"/>
                <a:sym typeface="EB Garamond"/>
              </a:rPr>
              <a:t>: El contexto de pandemia ha afectado negativamente la participación laboral de mujeres</a:t>
            </a:r>
            <a:endParaRPr>
              <a:latin typeface="EB Garamond"/>
              <a:ea typeface="EB Garamond"/>
              <a:cs typeface="EB Garamond"/>
              <a:sym typeface="EB Garamond"/>
            </a:endParaRPr>
          </a:p>
        </p:txBody>
      </p:sp>
      <p:sp>
        <p:nvSpPr>
          <p:cNvPr id="264" name="Google Shape;26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65" name="Google Shape;265;p31"/>
          <p:cNvSpPr/>
          <p:nvPr/>
        </p:nvSpPr>
        <p:spPr>
          <a:xfrm>
            <a:off x="1439333" y="3251200"/>
            <a:ext cx="2446800" cy="516600"/>
          </a:xfrm>
          <a:prstGeom prst="roundRect">
            <a:avLst>
              <a:gd fmla="val 16667" name="adj"/>
            </a:avLst>
          </a:prstGeom>
          <a:solidFill>
            <a:srgbClr val="FFC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chemeClr val="dk2"/>
                </a:solidFill>
                <a:latin typeface="EB Garamond"/>
                <a:ea typeface="EB Garamond"/>
                <a:cs typeface="EB Garamond"/>
                <a:sym typeface="EB Garamond"/>
              </a:rPr>
              <a:t>Variable 1</a:t>
            </a:r>
            <a:endParaRPr>
              <a:solidFill>
                <a:schemeClr val="dk2"/>
              </a:solidFill>
              <a:latin typeface="EB Garamond"/>
              <a:ea typeface="EB Garamond"/>
              <a:cs typeface="EB Garamond"/>
              <a:sym typeface="EB Garamond"/>
            </a:endParaRPr>
          </a:p>
        </p:txBody>
      </p:sp>
      <p:sp>
        <p:nvSpPr>
          <p:cNvPr id="266" name="Google Shape;266;p31"/>
          <p:cNvSpPr/>
          <p:nvPr/>
        </p:nvSpPr>
        <p:spPr>
          <a:xfrm>
            <a:off x="5359400" y="3251200"/>
            <a:ext cx="2446800" cy="516600"/>
          </a:xfrm>
          <a:prstGeom prst="roundRect">
            <a:avLst>
              <a:gd fmla="val 16667" name="adj"/>
            </a:avLst>
          </a:prstGeom>
          <a:solidFill>
            <a:srgbClr val="FFC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chemeClr val="dk2"/>
                </a:solidFill>
                <a:latin typeface="EB Garamond"/>
                <a:ea typeface="EB Garamond"/>
                <a:cs typeface="EB Garamond"/>
                <a:sym typeface="EB Garamond"/>
              </a:rPr>
              <a:t>Variable 2</a:t>
            </a:r>
            <a:endParaRPr>
              <a:solidFill>
                <a:schemeClr val="dk2"/>
              </a:solidFill>
              <a:latin typeface="EB Garamond"/>
              <a:ea typeface="EB Garamond"/>
              <a:cs typeface="EB Garamond"/>
              <a:sym typeface="EB Garamond"/>
            </a:endParaRPr>
          </a:p>
        </p:txBody>
      </p:sp>
      <p:sp>
        <p:nvSpPr>
          <p:cNvPr id="267" name="Google Shape;267;p31"/>
          <p:cNvSpPr/>
          <p:nvPr/>
        </p:nvSpPr>
        <p:spPr>
          <a:xfrm>
            <a:off x="3487956" y="4248112"/>
            <a:ext cx="2446800" cy="516600"/>
          </a:xfrm>
          <a:prstGeom prst="roundRect">
            <a:avLst>
              <a:gd fmla="val 16667" name="adj"/>
            </a:avLst>
          </a:prstGeom>
          <a:solidFill>
            <a:srgbClr val="FFC0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chemeClr val="dk2"/>
                </a:solidFill>
                <a:latin typeface="EB Garamond"/>
                <a:ea typeface="EB Garamond"/>
                <a:cs typeface="EB Garamond"/>
                <a:sym typeface="EB Garamond"/>
              </a:rPr>
              <a:t>Variable 3</a:t>
            </a:r>
            <a:endParaRPr>
              <a:solidFill>
                <a:schemeClr val="dk2"/>
              </a:solidFill>
              <a:latin typeface="EB Garamond"/>
              <a:ea typeface="EB Garamond"/>
              <a:cs typeface="EB Garamond"/>
              <a:sym typeface="EB Garamond"/>
            </a:endParaRPr>
          </a:p>
        </p:txBody>
      </p:sp>
      <p:cxnSp>
        <p:nvCxnSpPr>
          <p:cNvPr id="268" name="Google Shape;268;p31"/>
          <p:cNvCxnSpPr>
            <a:stCxn id="265" idx="3"/>
            <a:endCxn id="266" idx="1"/>
          </p:cNvCxnSpPr>
          <p:nvPr/>
        </p:nvCxnSpPr>
        <p:spPr>
          <a:xfrm>
            <a:off x="3886133" y="3509500"/>
            <a:ext cx="1473300" cy="0"/>
          </a:xfrm>
          <a:prstGeom prst="straightConnector1">
            <a:avLst/>
          </a:prstGeom>
          <a:noFill/>
          <a:ln cap="flat" cmpd="sng" w="38100">
            <a:solidFill>
              <a:srgbClr val="000000"/>
            </a:solidFill>
            <a:prstDash val="dash"/>
            <a:miter lim="800000"/>
            <a:headEnd len="sm" w="sm" type="none"/>
            <a:tailEnd len="med" w="med" type="triangle"/>
          </a:ln>
        </p:spPr>
      </p:cxnSp>
      <p:sp>
        <p:nvSpPr>
          <p:cNvPr id="269" name="Google Shape;269;p31"/>
          <p:cNvSpPr txBox="1"/>
          <p:nvPr/>
        </p:nvSpPr>
        <p:spPr>
          <a:xfrm>
            <a:off x="4271276" y="2955427"/>
            <a:ext cx="601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700">
                <a:solidFill>
                  <a:schemeClr val="dk2"/>
                </a:solidFill>
                <a:latin typeface="EB Garamond"/>
                <a:ea typeface="EB Garamond"/>
                <a:cs typeface="EB Garamond"/>
                <a:sym typeface="EB Garamond"/>
              </a:rPr>
              <a:t>(+/-)</a:t>
            </a:r>
            <a:endParaRPr sz="1300">
              <a:solidFill>
                <a:schemeClr val="dk2"/>
              </a:solidFill>
              <a:latin typeface="EB Garamond"/>
              <a:ea typeface="EB Garamond"/>
              <a:cs typeface="EB Garamond"/>
              <a:sym typeface="EB Garamond"/>
            </a:endParaRPr>
          </a:p>
        </p:txBody>
      </p:sp>
      <p:cxnSp>
        <p:nvCxnSpPr>
          <p:cNvPr id="270" name="Google Shape;270;p31"/>
          <p:cNvCxnSpPr>
            <a:stCxn id="267" idx="0"/>
          </p:cNvCxnSpPr>
          <p:nvPr/>
        </p:nvCxnSpPr>
        <p:spPr>
          <a:xfrm rot="10800000">
            <a:off x="4711356" y="3694012"/>
            <a:ext cx="0" cy="554100"/>
          </a:xfrm>
          <a:prstGeom prst="straightConnector1">
            <a:avLst/>
          </a:prstGeom>
          <a:noFill/>
          <a:ln cap="flat" cmpd="sng" w="38100">
            <a:solidFill>
              <a:srgbClr val="000000"/>
            </a:solidFill>
            <a:prstDash val="dash"/>
            <a:miter lim="800000"/>
            <a:headEnd len="sm" w="sm" type="none"/>
            <a:tailEnd len="med" w="med" type="triangle"/>
          </a:ln>
        </p:spPr>
      </p:cxnSp>
      <p:sp>
        <p:nvSpPr>
          <p:cNvPr id="271" name="Google Shape;271;p31"/>
          <p:cNvSpPr txBox="1"/>
          <p:nvPr/>
        </p:nvSpPr>
        <p:spPr>
          <a:xfrm>
            <a:off x="4740788" y="3805214"/>
            <a:ext cx="601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700">
                <a:solidFill>
                  <a:schemeClr val="dk2"/>
                </a:solidFill>
                <a:latin typeface="EB Garamond"/>
                <a:ea typeface="EB Garamond"/>
                <a:cs typeface="EB Garamond"/>
                <a:sym typeface="EB Garamond"/>
              </a:rPr>
              <a:t>(+/-)</a:t>
            </a:r>
            <a:endParaRPr sz="1300">
              <a:solidFill>
                <a:schemeClr val="dk2"/>
              </a:solidFill>
              <a:latin typeface="EB Garamond"/>
              <a:ea typeface="EB Garamond"/>
              <a:cs typeface="EB Garamond"/>
              <a:sym typeface="EB Garamo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Otro ejemplo</a:t>
            </a:r>
            <a:endParaRPr b="1">
              <a:latin typeface="EB Garamond"/>
              <a:ea typeface="EB Garamond"/>
              <a:cs typeface="EB Garamond"/>
              <a:sym typeface="EB Garamond"/>
            </a:endParaRPr>
          </a:p>
        </p:txBody>
      </p:sp>
      <p:sp>
        <p:nvSpPr>
          <p:cNvPr id="277" name="Google Shape;277;p32"/>
          <p:cNvSpPr txBox="1"/>
          <p:nvPr>
            <p:ph idx="1" type="body"/>
          </p:nvPr>
        </p:nvSpPr>
        <p:spPr>
          <a:xfrm>
            <a:off x="311700" y="1152475"/>
            <a:ext cx="8520600" cy="35625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b="1" lang="es">
                <a:latin typeface="EB Garamond"/>
                <a:ea typeface="EB Garamond"/>
                <a:cs typeface="EB Garamond"/>
                <a:sym typeface="EB Garamond"/>
              </a:rPr>
              <a:t>EL EFECTO DE LA MATERNIDAD EN EL SALARIO FEMENINO EN CHILE, (Emilia Seissus E., 2017)</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a:p>
            <a:pPr indent="0" lvl="0" marL="0" rtl="0" algn="l">
              <a:spcBef>
                <a:spcPts val="0"/>
              </a:spcBef>
              <a:spcAft>
                <a:spcPts val="0"/>
              </a:spcAft>
              <a:buClr>
                <a:schemeClr val="dk1"/>
              </a:buClr>
              <a:buSzPct val="61111"/>
              <a:buFont typeface="Arial"/>
              <a:buNone/>
            </a:pPr>
            <a:r>
              <a:rPr b="1" lang="es">
                <a:latin typeface="EB Garamond"/>
                <a:ea typeface="EB Garamond"/>
                <a:cs typeface="EB Garamond"/>
                <a:sym typeface="EB Garamond"/>
              </a:rPr>
              <a:t>Pregunta de investigación</a:t>
            </a:r>
            <a:endParaRPr b="1">
              <a:latin typeface="EB Garamond"/>
              <a:ea typeface="EB Garamond"/>
              <a:cs typeface="EB Garamond"/>
              <a:sym typeface="EB Garamond"/>
            </a:endParaRPr>
          </a:p>
          <a:p>
            <a:pPr indent="0" lvl="0" marL="0" rtl="0" algn="l">
              <a:spcBef>
                <a:spcPts val="0"/>
              </a:spcBef>
              <a:spcAft>
                <a:spcPts val="0"/>
              </a:spcAft>
              <a:buClr>
                <a:schemeClr val="dk1"/>
              </a:buClr>
              <a:buSzPct val="61111"/>
              <a:buFont typeface="Arial"/>
              <a:buNone/>
            </a:pPr>
            <a:r>
              <a:rPr lang="es">
                <a:latin typeface="EB Garamond"/>
                <a:ea typeface="EB Garamond"/>
                <a:cs typeface="EB Garamond"/>
                <a:sym typeface="EB Garamond"/>
              </a:rPr>
              <a:t>¿Cuál es el efecto de la maternidad sobre los salarios obtenidos por las mujeres trabajadoras en Chile?</a:t>
            </a:r>
            <a:endParaRPr>
              <a:latin typeface="EB Garamond"/>
              <a:ea typeface="EB Garamond"/>
              <a:cs typeface="EB Garamond"/>
              <a:sym typeface="EB Garamond"/>
            </a:endParaRPr>
          </a:p>
          <a:p>
            <a:pPr indent="0" lvl="0" marL="0" rtl="0" algn="l">
              <a:spcBef>
                <a:spcPts val="1200"/>
              </a:spcBef>
              <a:spcAft>
                <a:spcPts val="0"/>
              </a:spcAft>
              <a:buClr>
                <a:schemeClr val="dk1"/>
              </a:buClr>
              <a:buSzPct val="61111"/>
              <a:buFont typeface="Arial"/>
              <a:buNone/>
            </a:pPr>
            <a:r>
              <a:rPr b="1" lang="es">
                <a:latin typeface="EB Garamond"/>
                <a:ea typeface="EB Garamond"/>
                <a:cs typeface="EB Garamond"/>
                <a:sym typeface="EB Garamond"/>
              </a:rPr>
              <a:t>Objetivo general</a:t>
            </a:r>
            <a:endParaRPr b="1">
              <a:latin typeface="EB Garamond"/>
              <a:ea typeface="EB Garamond"/>
              <a:cs typeface="EB Garamond"/>
              <a:sym typeface="EB Garamond"/>
            </a:endParaRPr>
          </a:p>
          <a:p>
            <a:pPr indent="0" lvl="0" marL="0" rtl="0" algn="l">
              <a:spcBef>
                <a:spcPts val="0"/>
              </a:spcBef>
              <a:spcAft>
                <a:spcPts val="0"/>
              </a:spcAft>
              <a:buClr>
                <a:schemeClr val="dk1"/>
              </a:buClr>
              <a:buSzPct val="61111"/>
              <a:buFont typeface="Arial"/>
              <a:buNone/>
            </a:pPr>
            <a:r>
              <a:rPr lang="es">
                <a:latin typeface="EB Garamond"/>
                <a:ea typeface="EB Garamond"/>
                <a:cs typeface="EB Garamond"/>
                <a:sym typeface="EB Garamond"/>
              </a:rPr>
              <a:t>Determinar el efecto de la maternidad sobre los salarios obtenidos por las mujeres trabajadoras en Chile.</a:t>
            </a:r>
            <a:endParaRPr>
              <a:latin typeface="EB Garamond"/>
              <a:ea typeface="EB Garamond"/>
              <a:cs typeface="EB Garamond"/>
              <a:sym typeface="EB Garamond"/>
            </a:endParaRPr>
          </a:p>
          <a:p>
            <a:pPr indent="0" lvl="0" marL="0" rtl="0" algn="l">
              <a:spcBef>
                <a:spcPts val="1200"/>
              </a:spcBef>
              <a:spcAft>
                <a:spcPts val="0"/>
              </a:spcAft>
              <a:buClr>
                <a:schemeClr val="dk1"/>
              </a:buClr>
              <a:buSzPct val="61111"/>
              <a:buFont typeface="Arial"/>
              <a:buNone/>
            </a:pPr>
            <a:r>
              <a:rPr b="1" lang="es">
                <a:latin typeface="EB Garamond"/>
                <a:ea typeface="EB Garamond"/>
                <a:cs typeface="EB Garamond"/>
                <a:sym typeface="EB Garamond"/>
              </a:rPr>
              <a:t>Objetivos específicos</a:t>
            </a:r>
            <a:endParaRPr b="1">
              <a:latin typeface="EB Garamond"/>
              <a:ea typeface="EB Garamond"/>
              <a:cs typeface="EB Garamond"/>
              <a:sym typeface="EB Garamond"/>
            </a:endParaRPr>
          </a:p>
          <a:p>
            <a:pPr indent="-30003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Caracterizar según factores sociodemográficos a las madres trabajadoras en Chile, tanto aquellas que poseen un hijo como las que poseen dos.</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Determinar el efecto de tener un hijo (margen extensivo) sobre los salarios de las mujeres trabajadoras en Chile.</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Determinar el efecto de tener más de un hijo (margen intensivo) sobre los salarios de las mujeres trabajadoras en Chile.</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Analizar las diferencias en el efecto de la maternidad sobre los salarios de las mujeres en el margen extensivo e intensivo en Chile.</a:t>
            </a:r>
            <a:endParaRPr>
              <a:latin typeface="EB Garamond"/>
              <a:ea typeface="EB Garamond"/>
              <a:cs typeface="EB Garamond"/>
              <a:sym typeface="EB Garamond"/>
            </a:endParaRPr>
          </a:p>
          <a:p>
            <a:pPr indent="0" lvl="0" marL="0" rtl="0" algn="l">
              <a:spcBef>
                <a:spcPts val="1200"/>
              </a:spcBef>
              <a:spcAft>
                <a:spcPts val="0"/>
              </a:spcAft>
              <a:buClr>
                <a:schemeClr val="dk1"/>
              </a:buClr>
              <a:buSzPct val="61111"/>
              <a:buFont typeface="Arial"/>
              <a:buNone/>
            </a:pPr>
            <a:r>
              <a:rPr b="1" lang="es">
                <a:latin typeface="EB Garamond"/>
                <a:ea typeface="EB Garamond"/>
                <a:cs typeface="EB Garamond"/>
                <a:sym typeface="EB Garamond"/>
              </a:rPr>
              <a:t>Hipótesis</a:t>
            </a:r>
            <a:endParaRPr b="1">
              <a:latin typeface="EB Garamond"/>
              <a:ea typeface="EB Garamond"/>
              <a:cs typeface="EB Garamond"/>
              <a:sym typeface="EB Garamond"/>
            </a:endParaRPr>
          </a:p>
          <a:p>
            <a:pPr indent="-30003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Tener un hijo disminuirá los salarios obtenidos por las mujeres trabajadoras (margen extensivo), en comparación con el de las mujeres embarazadas sin hijos.</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Tener más de un hijo disminuirá los salarios obtenidos por las mujeres trabajadoras (margen intensivo), en comparación con las madres de un hijo.</a:t>
            </a:r>
            <a:endParaRPr>
              <a:latin typeface="EB Garamond"/>
              <a:ea typeface="EB Garamond"/>
              <a:cs typeface="EB Garamond"/>
              <a:sym typeface="EB Garamond"/>
            </a:endParaRPr>
          </a:p>
          <a:p>
            <a:pPr indent="-300038" lvl="0" marL="457200" rtl="0" algn="l">
              <a:spcBef>
                <a:spcPts val="0"/>
              </a:spcBef>
              <a:spcAft>
                <a:spcPts val="0"/>
              </a:spcAft>
              <a:buSzPct val="100000"/>
              <a:buFont typeface="EB Garamond"/>
              <a:buAutoNum type="arabicPeriod"/>
            </a:pPr>
            <a:r>
              <a:rPr lang="es">
                <a:latin typeface="EB Garamond"/>
                <a:ea typeface="EB Garamond"/>
                <a:cs typeface="EB Garamond"/>
                <a:sym typeface="EB Garamond"/>
              </a:rPr>
              <a:t>El efecto de los hijos en el salario de las mujeres trabajadoras será mayor en el margen extensivo que en el intensivo.</a:t>
            </a:r>
            <a:endParaRPr>
              <a:latin typeface="EB Garamond"/>
              <a:ea typeface="EB Garamond"/>
              <a:cs typeface="EB Garamond"/>
              <a:sym typeface="EB Garamond"/>
            </a:endParaRPr>
          </a:p>
        </p:txBody>
      </p:sp>
      <p:sp>
        <p:nvSpPr>
          <p:cNvPr id="278" name="Google Shape;278;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Diagrama&#10;&#10;Descripción generada automáticamente" id="284" name="Google Shape;284;p33"/>
          <p:cNvPicPr preferRelativeResize="0"/>
          <p:nvPr/>
        </p:nvPicPr>
        <p:blipFill rotWithShape="1">
          <a:blip r:embed="rId3">
            <a:alphaModFix/>
          </a:blip>
          <a:srcRect b="0" l="0" r="0" t="0"/>
          <a:stretch/>
        </p:blipFill>
        <p:spPr>
          <a:xfrm>
            <a:off x="1796064" y="315600"/>
            <a:ext cx="5551874" cy="4512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Otro ejemplo</a:t>
            </a:r>
            <a:endParaRPr b="1">
              <a:latin typeface="EB Garamond"/>
              <a:ea typeface="EB Garamond"/>
              <a:cs typeface="EB Garamond"/>
              <a:sym typeface="EB Garamond"/>
            </a:endParaRPr>
          </a:p>
        </p:txBody>
      </p:sp>
      <p:sp>
        <p:nvSpPr>
          <p:cNvPr id="290" name="Google Shape;290;p34"/>
          <p:cNvSpPr txBox="1"/>
          <p:nvPr>
            <p:ph idx="1" type="body"/>
          </p:nvPr>
        </p:nvSpPr>
        <p:spPr>
          <a:xfrm>
            <a:off x="311700" y="1152475"/>
            <a:ext cx="8520600" cy="356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latin typeface="EB Garamond"/>
                <a:ea typeface="EB Garamond"/>
                <a:cs typeface="EB Garamond"/>
                <a:sym typeface="EB Garamond"/>
              </a:rPr>
              <a:t>EL EFECTO DE LA MATERNIDAD EN EL SALARIO FEMENINO EN CHILE, (Emilia Seissus E., 2017)</a:t>
            </a:r>
            <a:endParaRPr b="1">
              <a:latin typeface="EB Garamond"/>
              <a:ea typeface="EB Garamond"/>
              <a:cs typeface="EB Garamond"/>
              <a:sym typeface="EB Garamond"/>
            </a:endParaRPr>
          </a:p>
          <a:p>
            <a:pPr indent="0" lvl="0" marL="0" rtl="0" algn="l">
              <a:spcBef>
                <a:spcPts val="0"/>
              </a:spcBef>
              <a:spcAft>
                <a:spcPts val="0"/>
              </a:spcAft>
              <a:buNone/>
            </a:pPr>
            <a:r>
              <a:t/>
            </a:r>
            <a:endParaRPr b="1">
              <a:latin typeface="EB Garamond"/>
              <a:ea typeface="EB Garamond"/>
              <a:cs typeface="EB Garamond"/>
              <a:sym typeface="EB Garamond"/>
            </a:endParaRPr>
          </a:p>
          <a:p>
            <a:pPr indent="0" lvl="0" marL="0" rtl="0" algn="l">
              <a:spcBef>
                <a:spcPts val="0"/>
              </a:spcBef>
              <a:spcAft>
                <a:spcPts val="0"/>
              </a:spcAft>
              <a:buNone/>
            </a:pPr>
            <a:r>
              <a:rPr b="1" lang="es">
                <a:latin typeface="EB Garamond"/>
                <a:ea typeface="EB Garamond"/>
                <a:cs typeface="EB Garamond"/>
                <a:sym typeface="EB Garamond"/>
              </a:rPr>
              <a:t>Resultado principal</a:t>
            </a:r>
            <a:endParaRPr b="1">
              <a:latin typeface="EB Garamond"/>
              <a:ea typeface="EB Garamond"/>
              <a:cs typeface="EB Garamond"/>
              <a:sym typeface="EB Garamond"/>
            </a:endParaRPr>
          </a:p>
          <a:p>
            <a:pPr indent="0" lvl="0" marL="0" rtl="0" algn="l">
              <a:spcBef>
                <a:spcPts val="1200"/>
              </a:spcBef>
              <a:spcAft>
                <a:spcPts val="1200"/>
              </a:spcAft>
              <a:buNone/>
            </a:pPr>
            <a:r>
              <a:rPr lang="es">
                <a:latin typeface="EB Garamond"/>
                <a:ea typeface="EB Garamond"/>
                <a:cs typeface="EB Garamond"/>
                <a:sym typeface="EB Garamond"/>
              </a:rPr>
              <a:t>Para el  margen extensivo, efectivamente existe una disminución del salario hora promedio para las madres de un hijo en relación a las mujeres embarazadas. Sin embargo, para el margen intensivo, las madres de dos hijos obtienen una bonificación por este hijo extra al compararlas con las madres de uno.</a:t>
            </a:r>
            <a:endParaRPr>
              <a:latin typeface="EB Garamond"/>
              <a:ea typeface="EB Garamond"/>
              <a:cs typeface="EB Garamond"/>
              <a:sym typeface="EB Garamond"/>
            </a:endParaRPr>
          </a:p>
        </p:txBody>
      </p:sp>
      <p:sp>
        <p:nvSpPr>
          <p:cNvPr id="291" name="Google Shape;29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Actividad</a:t>
            </a:r>
            <a:endParaRPr>
              <a:latin typeface="EB Garamond"/>
              <a:ea typeface="EB Garamond"/>
              <a:cs typeface="EB Garamond"/>
              <a:sym typeface="EB Garamond"/>
            </a:endParaRPr>
          </a:p>
        </p:txBody>
      </p:sp>
      <p:sp>
        <p:nvSpPr>
          <p:cNvPr id="297" name="Google Shape;29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298" name="Google Shape;298;p35"/>
          <p:cNvGraphicFramePr/>
          <p:nvPr/>
        </p:nvGraphicFramePr>
        <p:xfrm>
          <a:off x="848072" y="1152536"/>
          <a:ext cx="3000000" cy="3000000"/>
        </p:xfrm>
        <a:graphic>
          <a:graphicData uri="http://schemas.openxmlformats.org/drawingml/2006/table">
            <a:tbl>
              <a:tblPr>
                <a:noFill/>
                <a:tableStyleId>{D811C666-C65A-4277-B8E9-2374CC1DFB90}</a:tableStyleId>
              </a:tblPr>
              <a:tblGrid>
                <a:gridCol w="1860700"/>
                <a:gridCol w="1860700"/>
                <a:gridCol w="2044800"/>
                <a:gridCol w="1860700"/>
              </a:tblGrid>
              <a:tr h="478950">
                <a:tc gridSpan="4">
                  <a:txBody>
                    <a:bodyPr/>
                    <a:lstStyle/>
                    <a:p>
                      <a:pPr indent="0" lvl="0" marL="0" marR="0" rtl="0" algn="ctr">
                        <a:spcBef>
                          <a:spcPts val="0"/>
                        </a:spcBef>
                        <a:spcAft>
                          <a:spcPts val="0"/>
                        </a:spcAft>
                        <a:buNone/>
                      </a:pPr>
                      <a:r>
                        <a:rPr b="1" i="0" lang="es" sz="1200" u="none" cap="none" strike="noStrike">
                          <a:solidFill>
                            <a:schemeClr val="dk2"/>
                          </a:solidFill>
                          <a:latin typeface="EB Garamond"/>
                          <a:ea typeface="EB Garamond"/>
                          <a:cs typeface="EB Garamond"/>
                          <a:sym typeface="EB Garamond"/>
                        </a:rPr>
                        <a:t>EJECICIO PROPUESTA DE INVESTIGACIÓN</a:t>
                      </a:r>
                      <a:endParaRPr>
                        <a:solidFill>
                          <a:schemeClr val="dk2"/>
                        </a:solidFill>
                        <a:latin typeface="EB Garamond"/>
                        <a:ea typeface="EB Garamond"/>
                        <a:cs typeface="EB Garamond"/>
                        <a:sym typeface="EB Garamond"/>
                      </a:endParaRPr>
                    </a:p>
                  </a:txBody>
                  <a:tcPr marT="5075" marB="0" marR="5075" marL="5075"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C000"/>
                    </a:solidFill>
                  </a:tcPr>
                </a:tc>
                <a:tc hMerge="1"/>
                <a:tc hMerge="1"/>
                <a:tc hMerge="1"/>
              </a:tr>
              <a:tr h="685525">
                <a:tc gridSpan="4">
                  <a:txBody>
                    <a:bodyPr/>
                    <a:lstStyle/>
                    <a:p>
                      <a:pPr indent="0" lvl="0" marL="0" marR="0" rtl="0" algn="l">
                        <a:spcBef>
                          <a:spcPts val="0"/>
                        </a:spcBef>
                        <a:spcAft>
                          <a:spcPts val="0"/>
                        </a:spcAft>
                        <a:buNone/>
                      </a:pPr>
                      <a:r>
                        <a:rPr b="1" i="0" lang="es" sz="1100" u="none" cap="none" strike="noStrike">
                          <a:solidFill>
                            <a:schemeClr val="dk2"/>
                          </a:solidFill>
                          <a:latin typeface="EB Garamond"/>
                          <a:ea typeface="EB Garamond"/>
                          <a:cs typeface="EB Garamond"/>
                          <a:sym typeface="EB Garamond"/>
                        </a:rPr>
                        <a:t>1. Problema de investigación</a:t>
                      </a:r>
                      <a:endParaRPr>
                        <a:solidFill>
                          <a:schemeClr val="dk2"/>
                        </a:solidFill>
                        <a:latin typeface="EB Garamond"/>
                        <a:ea typeface="EB Garamond"/>
                        <a:cs typeface="EB Garamond"/>
                        <a:sym typeface="EB Garamond"/>
                      </a:endParaRPr>
                    </a:p>
                  </a:txBody>
                  <a:tcPr marT="5075" marB="0" marR="5075" marL="5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hMerge="1"/>
              </a:tr>
              <a:tr h="685525">
                <a:tc gridSpan="4">
                  <a:txBody>
                    <a:bodyPr/>
                    <a:lstStyle/>
                    <a:p>
                      <a:pPr indent="0" lvl="0" marL="0" marR="0" rtl="0" algn="l">
                        <a:spcBef>
                          <a:spcPts val="0"/>
                        </a:spcBef>
                        <a:spcAft>
                          <a:spcPts val="0"/>
                        </a:spcAft>
                        <a:buNone/>
                      </a:pPr>
                      <a:r>
                        <a:rPr b="1" i="0" lang="es" sz="1100" u="none" cap="none" strike="noStrike">
                          <a:solidFill>
                            <a:schemeClr val="dk2"/>
                          </a:solidFill>
                          <a:latin typeface="EB Garamond"/>
                          <a:ea typeface="EB Garamond"/>
                          <a:cs typeface="EB Garamond"/>
                          <a:sym typeface="EB Garamond"/>
                        </a:rPr>
                        <a:t>2. Pregunta de investigación</a:t>
                      </a:r>
                      <a:endParaRPr>
                        <a:solidFill>
                          <a:schemeClr val="dk2"/>
                        </a:solidFill>
                        <a:latin typeface="EB Garamond"/>
                        <a:ea typeface="EB Garamond"/>
                        <a:cs typeface="EB Garamond"/>
                        <a:sym typeface="EB Garamond"/>
                      </a:endParaRPr>
                    </a:p>
                  </a:txBody>
                  <a:tcPr marT="5075" marB="0" marR="5075" marL="5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hMerge="1"/>
              </a:tr>
              <a:tr h="685525">
                <a:tc gridSpan="4">
                  <a:txBody>
                    <a:bodyPr/>
                    <a:lstStyle/>
                    <a:p>
                      <a:pPr indent="0" lvl="0" marL="0" marR="0" rtl="0" algn="l">
                        <a:spcBef>
                          <a:spcPts val="0"/>
                        </a:spcBef>
                        <a:spcAft>
                          <a:spcPts val="0"/>
                        </a:spcAft>
                        <a:buNone/>
                      </a:pPr>
                      <a:r>
                        <a:rPr b="1" i="0" lang="es" sz="1100" u="none" cap="none" strike="noStrike">
                          <a:solidFill>
                            <a:schemeClr val="dk2"/>
                          </a:solidFill>
                          <a:latin typeface="EB Garamond"/>
                          <a:ea typeface="EB Garamond"/>
                          <a:cs typeface="EB Garamond"/>
                          <a:sym typeface="EB Garamond"/>
                        </a:rPr>
                        <a:t>3. Hipótesis de investigación </a:t>
                      </a:r>
                      <a:endParaRPr i="0" sz="1100" u="none" cap="none" strike="noStrike">
                        <a:solidFill>
                          <a:schemeClr val="dk2"/>
                        </a:solidFill>
                        <a:latin typeface="EB Garamond"/>
                        <a:ea typeface="EB Garamond"/>
                        <a:cs typeface="EB Garamond"/>
                        <a:sym typeface="EB Garamond"/>
                      </a:endParaRPr>
                    </a:p>
                  </a:txBody>
                  <a:tcPr marT="5075" marB="0" marR="5075" marL="50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hMerge="1"/>
              </a:tr>
              <a:tr h="171050">
                <a:tc gridSpan="4">
                  <a:txBody>
                    <a:bodyPr/>
                    <a:lstStyle/>
                    <a:p>
                      <a:pPr indent="0" lvl="0" marL="0" marR="0" rtl="0" algn="l">
                        <a:spcBef>
                          <a:spcPts val="0"/>
                        </a:spcBef>
                        <a:spcAft>
                          <a:spcPts val="0"/>
                        </a:spcAft>
                        <a:buNone/>
                      </a:pPr>
                      <a:r>
                        <a:rPr b="1" i="0" lang="es" sz="1100" u="none" cap="none" strike="noStrike">
                          <a:solidFill>
                            <a:schemeClr val="dk2"/>
                          </a:solidFill>
                          <a:latin typeface="EB Garamond"/>
                          <a:ea typeface="EB Garamond"/>
                          <a:cs typeface="EB Garamond"/>
                          <a:sym typeface="EB Garamond"/>
                        </a:rPr>
                        <a:t>4. Operacionalización</a:t>
                      </a:r>
                      <a:endParaRPr b="1" i="0" sz="1100" u="none" cap="none" strike="noStrike">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c hMerge="1"/>
              </a:tr>
              <a:tr h="171050">
                <a:tc>
                  <a:txBody>
                    <a:bodyPr/>
                    <a:lstStyle/>
                    <a:p>
                      <a:pPr indent="0" lvl="0" marL="0" marR="0" rtl="0" algn="ctr">
                        <a:spcBef>
                          <a:spcPts val="0"/>
                        </a:spcBef>
                        <a:spcAft>
                          <a:spcPts val="0"/>
                        </a:spcAft>
                        <a:buNone/>
                      </a:pPr>
                      <a:r>
                        <a:rPr b="1" i="0" lang="es" sz="1100" u="none" cap="none" strike="noStrike">
                          <a:solidFill>
                            <a:schemeClr val="dk2"/>
                          </a:solidFill>
                          <a:latin typeface="EB Garamond"/>
                          <a:ea typeface="EB Garamond"/>
                          <a:cs typeface="EB Garamond"/>
                          <a:sym typeface="EB Garamond"/>
                        </a:rPr>
                        <a:t>Concepto</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solidFill>
                      <a:prstDash val="solid"/>
                      <a:round/>
                      <a:headEnd len="sm" w="sm" type="none"/>
                      <a:tailEnd len="sm" w="sm" type="none"/>
                    </a:lnB>
                    <a:solidFill>
                      <a:srgbClr val="9CC2E5"/>
                    </a:solidFill>
                  </a:tcPr>
                </a:tc>
                <a:tc>
                  <a:txBody>
                    <a:bodyPr/>
                    <a:lstStyle/>
                    <a:p>
                      <a:pPr indent="0" lvl="0" marL="0" marR="0" rtl="0" algn="ctr">
                        <a:spcBef>
                          <a:spcPts val="0"/>
                        </a:spcBef>
                        <a:spcAft>
                          <a:spcPts val="0"/>
                        </a:spcAft>
                        <a:buNone/>
                      </a:pPr>
                      <a:r>
                        <a:rPr b="1" i="0" lang="es" sz="1100" u="none" cap="none" strike="noStrike">
                          <a:solidFill>
                            <a:schemeClr val="dk2"/>
                          </a:solidFill>
                          <a:latin typeface="EB Garamond"/>
                          <a:ea typeface="EB Garamond"/>
                          <a:cs typeface="EB Garamond"/>
                          <a:sym typeface="EB Garamond"/>
                        </a:rPr>
                        <a:t>Dimensiones</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solidFill>
                      <a:prstDash val="solid"/>
                      <a:round/>
                      <a:headEnd len="sm" w="sm" type="none"/>
                      <a:tailEnd len="sm" w="sm" type="none"/>
                    </a:lnB>
                    <a:solidFill>
                      <a:srgbClr val="9CC2E5"/>
                    </a:solidFill>
                  </a:tcPr>
                </a:tc>
                <a:tc>
                  <a:txBody>
                    <a:bodyPr/>
                    <a:lstStyle/>
                    <a:p>
                      <a:pPr indent="0" lvl="0" marL="0" marR="0" rtl="0" algn="ctr">
                        <a:spcBef>
                          <a:spcPts val="0"/>
                        </a:spcBef>
                        <a:spcAft>
                          <a:spcPts val="0"/>
                        </a:spcAft>
                        <a:buNone/>
                      </a:pPr>
                      <a:r>
                        <a:rPr b="1" i="0" lang="es" sz="1100" u="none" cap="none" strike="noStrike">
                          <a:solidFill>
                            <a:schemeClr val="dk2"/>
                          </a:solidFill>
                          <a:latin typeface="EB Garamond"/>
                          <a:ea typeface="EB Garamond"/>
                          <a:cs typeface="EB Garamond"/>
                          <a:sym typeface="EB Garamond"/>
                        </a:rPr>
                        <a:t>Indicador y atributo</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solidFill>
                      <a:prstDash val="solid"/>
                      <a:round/>
                      <a:headEnd len="sm" w="sm" type="none"/>
                      <a:tailEnd len="sm" w="sm" type="none"/>
                    </a:lnB>
                    <a:solidFill>
                      <a:srgbClr val="9CC2E5"/>
                    </a:solidFill>
                  </a:tcPr>
                </a:tc>
                <a:tc>
                  <a:txBody>
                    <a:bodyPr/>
                    <a:lstStyle/>
                    <a:p>
                      <a:pPr indent="0" lvl="0" marL="0" marR="0" rtl="0" algn="ctr">
                        <a:spcBef>
                          <a:spcPts val="0"/>
                        </a:spcBef>
                        <a:spcAft>
                          <a:spcPts val="0"/>
                        </a:spcAft>
                        <a:buNone/>
                      </a:pPr>
                      <a:r>
                        <a:rPr b="1" i="0" lang="es" sz="1100" u="none" cap="none" strike="noStrike">
                          <a:solidFill>
                            <a:schemeClr val="dk2"/>
                          </a:solidFill>
                          <a:latin typeface="EB Garamond"/>
                          <a:ea typeface="EB Garamond"/>
                          <a:cs typeface="EB Garamond"/>
                          <a:sym typeface="EB Garamond"/>
                        </a:rPr>
                        <a:t>Pregunta y atributo</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solidFill>
                      <a:prstDash val="solid"/>
                      <a:round/>
                      <a:headEnd len="sm" w="sm" type="none"/>
                      <a:tailEnd len="sm" w="sm" type="none"/>
                    </a:lnB>
                    <a:solidFill>
                      <a:srgbClr val="9CC2E5"/>
                    </a:solidFill>
                  </a:tcPr>
                </a:tc>
              </a:tr>
              <a:tr h="337125">
                <a:tc rowSpan="4">
                  <a:txBody>
                    <a:bodyPr/>
                    <a:lstStyle/>
                    <a:p>
                      <a:pPr indent="0" lvl="0" marL="0" marR="0" rtl="0" algn="ctr">
                        <a:spcBef>
                          <a:spcPts val="0"/>
                        </a:spcBef>
                        <a:spcAft>
                          <a:spcPts val="0"/>
                        </a:spcAft>
                        <a:buNone/>
                      </a:pPr>
                      <a:r>
                        <a:rPr i="0" lang="es" sz="1100" u="none" cap="none" strike="noStrike">
                          <a:solidFill>
                            <a:schemeClr val="dk2"/>
                          </a:solidFill>
                          <a:latin typeface="EB Garamond"/>
                          <a:ea typeface="EB Garamond"/>
                          <a:cs typeface="EB Garamond"/>
                          <a:sym typeface="EB Garamond"/>
                        </a:rPr>
                        <a:t>*Nombre concepto y definición breve</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i="0" lang="es" sz="1100" u="none" cap="none" strike="noStrike">
                          <a:solidFill>
                            <a:schemeClr val="dk2"/>
                          </a:solidFill>
                          <a:latin typeface="EB Garamond"/>
                          <a:ea typeface="EB Garamond"/>
                          <a:cs typeface="EB Garamond"/>
                          <a:sym typeface="EB Garamond"/>
                        </a:rPr>
                        <a:t>1.</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i="1" lang="es" sz="1100" u="none" cap="none" strike="noStrike">
                          <a:solidFill>
                            <a:schemeClr val="dk2"/>
                          </a:solidFill>
                          <a:latin typeface="EB Garamond"/>
                          <a:ea typeface="EB Garamond"/>
                          <a:cs typeface="EB Garamond"/>
                          <a:sym typeface="EB Garamond"/>
                        </a:rPr>
                        <a:t>*Se recomienda 1 indicador por dimensión</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i="1" lang="es" sz="1100" u="none" cap="none" strike="noStrike">
                          <a:solidFill>
                            <a:schemeClr val="dk2"/>
                          </a:solidFill>
                          <a:latin typeface="EB Garamond"/>
                          <a:ea typeface="EB Garamond"/>
                          <a:cs typeface="EB Garamond"/>
                          <a:sym typeface="EB Garamond"/>
                        </a:rPr>
                        <a:t>*Se recomienda 1 pregunta  por indicador</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34775">
                <a:tc vMerge="1"/>
                <a:tc>
                  <a:txBody>
                    <a:bodyPr/>
                    <a:lstStyle/>
                    <a:p>
                      <a:pPr indent="0" lvl="0" marL="0" marR="0" rtl="0" algn="l">
                        <a:spcBef>
                          <a:spcPts val="0"/>
                        </a:spcBef>
                        <a:spcAft>
                          <a:spcPts val="0"/>
                        </a:spcAft>
                        <a:buNone/>
                      </a:pPr>
                      <a:r>
                        <a:rPr i="0" lang="es" sz="1100" u="none" cap="none" strike="noStrike">
                          <a:solidFill>
                            <a:schemeClr val="dk2"/>
                          </a:solidFill>
                          <a:latin typeface="EB Garamond"/>
                          <a:ea typeface="EB Garamond"/>
                          <a:cs typeface="EB Garamond"/>
                          <a:sym typeface="EB Garamond"/>
                        </a:rPr>
                        <a:t>2.</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b="1" i="0" lang="es" sz="1100" u="none" cap="none" strike="noStrik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i="0" lang="es" sz="1100" u="none" cap="none" strike="noStrik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34775">
                <a:tc vMerge="1"/>
                <a:tc>
                  <a:txBody>
                    <a:bodyPr/>
                    <a:lstStyle/>
                    <a:p>
                      <a:pPr indent="0" lvl="0" marL="0" marR="0" rtl="0" algn="l">
                        <a:spcBef>
                          <a:spcPts val="0"/>
                        </a:spcBef>
                        <a:spcAft>
                          <a:spcPts val="0"/>
                        </a:spcAft>
                        <a:buNone/>
                      </a:pPr>
                      <a:r>
                        <a:rPr i="0" lang="es" sz="1100" u="none" cap="none" strike="noStrike">
                          <a:solidFill>
                            <a:schemeClr val="dk2"/>
                          </a:solidFill>
                          <a:latin typeface="EB Garamond"/>
                          <a:ea typeface="EB Garamond"/>
                          <a:cs typeface="EB Garamond"/>
                          <a:sym typeface="EB Garamond"/>
                        </a:rPr>
                        <a:t>3.</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b="1" i="0" lang="es" sz="1100" u="none" cap="none" strike="noStrik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i="0" lang="es" sz="1100" u="none" cap="none" strike="noStrik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234775">
                <a:tc vMerge="1"/>
                <a:tc>
                  <a:txBody>
                    <a:bodyPr/>
                    <a:lstStyle/>
                    <a:p>
                      <a:pPr indent="0" lvl="0" marL="0" marR="0" rtl="0" algn="l">
                        <a:spcBef>
                          <a:spcPts val="0"/>
                        </a:spcBef>
                        <a:spcAft>
                          <a:spcPts val="0"/>
                        </a:spcAft>
                        <a:buNone/>
                      </a:pPr>
                      <a:r>
                        <a:rPr i="1" lang="es" sz="1100" u="none" cap="none" strike="noStrike">
                          <a:solidFill>
                            <a:schemeClr val="dk2"/>
                          </a:solidFill>
                          <a:latin typeface="EB Garamond"/>
                          <a:ea typeface="EB Garamond"/>
                          <a:cs typeface="EB Garamond"/>
                          <a:sym typeface="EB Garamond"/>
                        </a:rPr>
                        <a:t>n. *Pueden ser más de 3</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b="1" i="0" lang="es" sz="1100" u="none" cap="none" strike="noStrik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i="0" lang="es" sz="1100" u="none" cap="none" strike="noStrike">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T="5075" marB="0" marR="5075" marL="50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302" name="Shape 302"/>
        <p:cNvGrpSpPr/>
        <p:nvPr/>
      </p:nvGrpSpPr>
      <p:grpSpPr>
        <a:xfrm>
          <a:off x="0" y="0"/>
          <a:ext cx="0" cy="0"/>
          <a:chOff x="0" y="0"/>
          <a:chExt cx="0" cy="0"/>
        </a:xfrm>
      </p:grpSpPr>
      <p:sp>
        <p:nvSpPr>
          <p:cNvPr id="303" name="Google Shape;303;p3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457200" rtl="0" algn="ctr">
              <a:spcBef>
                <a:spcPts val="0"/>
              </a:spcBef>
              <a:spcAft>
                <a:spcPts val="0"/>
              </a:spcAft>
              <a:buNone/>
            </a:pPr>
            <a:r>
              <a:rPr lang="es">
                <a:solidFill>
                  <a:schemeClr val="lt2"/>
                </a:solidFill>
                <a:latin typeface="EB Garamond"/>
                <a:ea typeface="EB Garamond"/>
                <a:cs typeface="EB Garamond"/>
                <a:sym typeface="EB Garamond"/>
              </a:rPr>
              <a:t>I.4. Conceptualización de variables e indicadores y operacionalización</a:t>
            </a:r>
            <a:endParaRPr>
              <a:solidFill>
                <a:schemeClr val="lt2"/>
              </a:solidFill>
              <a:latin typeface="EB Garamond"/>
              <a:ea typeface="EB Garamond"/>
              <a:cs typeface="EB Garamond"/>
              <a:sym typeface="EB Garamond"/>
            </a:endParaRPr>
          </a:p>
          <a:p>
            <a:pPr indent="0" lvl="0" marL="457200" rtl="0" algn="ctr">
              <a:spcBef>
                <a:spcPts val="0"/>
              </a:spcBef>
              <a:spcAft>
                <a:spcPts val="0"/>
              </a:spcAft>
              <a:buNone/>
            </a:pPr>
            <a:r>
              <a:t/>
            </a:r>
            <a:endParaRPr>
              <a:solidFill>
                <a:schemeClr val="lt2"/>
              </a:solidFill>
              <a:latin typeface="EB Garamond"/>
              <a:ea typeface="EB Garamond"/>
              <a:cs typeface="EB Garamond"/>
              <a:sym typeface="EB Garamond"/>
            </a:endParaRPr>
          </a:p>
          <a:p>
            <a:pPr indent="0" lvl="0" marL="457200" rtl="0" algn="ctr">
              <a:spcBef>
                <a:spcPts val="0"/>
              </a:spcBef>
              <a:spcAft>
                <a:spcPts val="0"/>
              </a:spcAft>
              <a:buNone/>
            </a:pPr>
            <a:r>
              <a:rPr lang="es" sz="3267">
                <a:solidFill>
                  <a:schemeClr val="lt2"/>
                </a:solidFill>
                <a:latin typeface="EB Garamond"/>
                <a:ea typeface="EB Garamond"/>
                <a:cs typeface="EB Garamond"/>
                <a:sym typeface="EB Garamond"/>
              </a:rPr>
              <a:t>I.4.2.. Identificación de variables, atributos y casos</a:t>
            </a:r>
            <a:endParaRPr sz="3267">
              <a:solidFill>
                <a:schemeClr val="lt2"/>
              </a:solidFill>
              <a:latin typeface="EB Garamond"/>
              <a:ea typeface="EB Garamond"/>
              <a:cs typeface="EB Garamond"/>
              <a:sym typeface="EB Garamond"/>
            </a:endParaRPr>
          </a:p>
        </p:txBody>
      </p:sp>
      <p:sp>
        <p:nvSpPr>
          <p:cNvPr id="304" name="Google Shape;30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¿Qué es una variable y qué es un atributo de una variable?</a:t>
            </a:r>
            <a:endParaRPr b="1">
              <a:latin typeface="EB Garamond"/>
              <a:ea typeface="EB Garamond"/>
              <a:cs typeface="EB Garamond"/>
              <a:sym typeface="EB Garamond"/>
            </a:endParaRPr>
          </a:p>
        </p:txBody>
      </p:sp>
      <p:sp>
        <p:nvSpPr>
          <p:cNvPr id="310" name="Google Shape;310;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¿Qué es una variable y qué es un atributo de una variable?</a:t>
            </a:r>
            <a:endParaRPr b="1">
              <a:latin typeface="EB Garamond"/>
              <a:ea typeface="EB Garamond"/>
              <a:cs typeface="EB Garamond"/>
              <a:sym typeface="EB Garamond"/>
            </a:endParaRPr>
          </a:p>
        </p:txBody>
      </p:sp>
      <p:sp>
        <p:nvSpPr>
          <p:cNvPr id="316" name="Google Shape;31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17" name="Google Shape;317;p3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latin typeface="EB Garamond"/>
              <a:ea typeface="EB Garamond"/>
              <a:cs typeface="EB Garamond"/>
              <a:sym typeface="EB Garamond"/>
            </a:endParaRPr>
          </a:p>
          <a:p>
            <a:pPr indent="-317500" lvl="0" marL="457200" rtl="0" algn="l">
              <a:spcBef>
                <a:spcPts val="1200"/>
              </a:spcBef>
              <a:spcAft>
                <a:spcPts val="0"/>
              </a:spcAft>
              <a:buSzPts val="1400"/>
              <a:buFont typeface="EB Garamond"/>
              <a:buAutoNum type="arabicPeriod"/>
            </a:pPr>
            <a:r>
              <a:rPr lang="es">
                <a:latin typeface="EB Garamond"/>
                <a:ea typeface="EB Garamond"/>
                <a:cs typeface="EB Garamond"/>
                <a:sym typeface="EB Garamond"/>
              </a:rPr>
              <a:t>Género</a:t>
            </a:r>
            <a:endParaRPr>
              <a:latin typeface="EB Garamond"/>
              <a:ea typeface="EB Garamond"/>
              <a:cs typeface="EB Garamond"/>
              <a:sym typeface="EB Garamond"/>
            </a:endParaRPr>
          </a:p>
          <a:p>
            <a:pPr indent="-317500" lvl="0" marL="457200" rtl="0" algn="l">
              <a:spcBef>
                <a:spcPts val="0"/>
              </a:spcBef>
              <a:spcAft>
                <a:spcPts val="0"/>
              </a:spcAft>
              <a:buSzPts val="1400"/>
              <a:buFont typeface="EB Garamond"/>
              <a:buAutoNum type="arabicPeriod"/>
            </a:pPr>
            <a:r>
              <a:rPr lang="es">
                <a:latin typeface="EB Garamond"/>
                <a:ea typeface="EB Garamond"/>
                <a:cs typeface="EB Garamond"/>
                <a:sym typeface="EB Garamond"/>
              </a:rPr>
              <a:t>Estudiante</a:t>
            </a:r>
            <a:endParaRPr>
              <a:latin typeface="EB Garamond"/>
              <a:ea typeface="EB Garamond"/>
              <a:cs typeface="EB Garamond"/>
              <a:sym typeface="EB Garamond"/>
            </a:endParaRPr>
          </a:p>
          <a:p>
            <a:pPr indent="-317500" lvl="0" marL="457200" rtl="0" algn="l">
              <a:spcBef>
                <a:spcPts val="0"/>
              </a:spcBef>
              <a:spcAft>
                <a:spcPts val="0"/>
              </a:spcAft>
              <a:buSzPts val="1400"/>
              <a:buFont typeface="EB Garamond"/>
              <a:buAutoNum type="arabicPeriod"/>
            </a:pPr>
            <a:r>
              <a:rPr lang="es">
                <a:latin typeface="EB Garamond"/>
                <a:ea typeface="EB Garamond"/>
                <a:cs typeface="EB Garamond"/>
                <a:sym typeface="EB Garamond"/>
              </a:rPr>
              <a:t>Edad</a:t>
            </a:r>
            <a:endParaRPr>
              <a:latin typeface="EB Garamond"/>
              <a:ea typeface="EB Garamond"/>
              <a:cs typeface="EB Garamond"/>
              <a:sym typeface="EB Garamond"/>
            </a:endParaRPr>
          </a:p>
          <a:p>
            <a:pPr indent="-317500" lvl="0" marL="457200" rtl="0" algn="l">
              <a:spcBef>
                <a:spcPts val="0"/>
              </a:spcBef>
              <a:spcAft>
                <a:spcPts val="0"/>
              </a:spcAft>
              <a:buSzPts val="1400"/>
              <a:buFont typeface="EB Garamond"/>
              <a:buAutoNum type="arabicPeriod"/>
            </a:pPr>
            <a:r>
              <a:rPr lang="es">
                <a:latin typeface="EB Garamond"/>
                <a:ea typeface="EB Garamond"/>
                <a:cs typeface="EB Garamond"/>
                <a:sym typeface="EB Garamond"/>
              </a:rPr>
              <a:t>Soltero</a:t>
            </a:r>
            <a:endParaRPr>
              <a:latin typeface="EB Garamond"/>
              <a:ea typeface="EB Garamond"/>
              <a:cs typeface="EB Garamond"/>
              <a:sym typeface="EB Garamond"/>
            </a:endParaRPr>
          </a:p>
          <a:p>
            <a:pPr indent="-317500" lvl="0" marL="457200" rtl="0" algn="l">
              <a:spcBef>
                <a:spcPts val="0"/>
              </a:spcBef>
              <a:spcAft>
                <a:spcPts val="0"/>
              </a:spcAft>
              <a:buSzPts val="1400"/>
              <a:buFont typeface="EB Garamond"/>
              <a:buAutoNum type="arabicPeriod"/>
            </a:pPr>
            <a:r>
              <a:rPr lang="es">
                <a:latin typeface="EB Garamond"/>
                <a:ea typeface="EB Garamond"/>
                <a:cs typeface="EB Garamond"/>
                <a:sym typeface="EB Garamond"/>
              </a:rPr>
              <a:t>Pobre</a:t>
            </a:r>
            <a:endParaRPr>
              <a:latin typeface="EB Garamond"/>
              <a:ea typeface="EB Garamond"/>
              <a:cs typeface="EB Garamond"/>
              <a:sym typeface="EB Garamond"/>
            </a:endParaRPr>
          </a:p>
          <a:p>
            <a:pPr indent="-317500" lvl="0" marL="457200" rtl="0" algn="l">
              <a:spcBef>
                <a:spcPts val="0"/>
              </a:spcBef>
              <a:spcAft>
                <a:spcPts val="0"/>
              </a:spcAft>
              <a:buSzPts val="1400"/>
              <a:buFont typeface="EB Garamond"/>
              <a:buAutoNum type="arabicPeriod"/>
            </a:pPr>
            <a:r>
              <a:rPr lang="es">
                <a:latin typeface="EB Garamond"/>
                <a:ea typeface="EB Garamond"/>
                <a:cs typeface="EB Garamond"/>
                <a:sym typeface="EB Garamond"/>
              </a:rPr>
              <a:t>Situación de pobreza por ingreso</a:t>
            </a:r>
            <a:endParaRPr>
              <a:latin typeface="EB Garamond"/>
              <a:ea typeface="EB Garamond"/>
              <a:cs typeface="EB Garamond"/>
              <a:sym typeface="EB Garamond"/>
            </a:endParaRPr>
          </a:p>
          <a:p>
            <a:pPr indent="-317500" lvl="0" marL="457200" rtl="0" algn="l">
              <a:spcBef>
                <a:spcPts val="0"/>
              </a:spcBef>
              <a:spcAft>
                <a:spcPts val="0"/>
              </a:spcAft>
              <a:buSzPts val="1400"/>
              <a:buFont typeface="EB Garamond"/>
              <a:buAutoNum type="arabicPeriod"/>
            </a:pPr>
            <a:r>
              <a:rPr lang="es">
                <a:latin typeface="EB Garamond"/>
                <a:ea typeface="EB Garamond"/>
                <a:cs typeface="EB Garamond"/>
                <a:sym typeface="EB Garamond"/>
              </a:rPr>
              <a:t>18 a 35 años</a:t>
            </a:r>
            <a:endParaRPr>
              <a:latin typeface="EB Garamond"/>
              <a:ea typeface="EB Garamond"/>
              <a:cs typeface="EB Garamond"/>
              <a:sym typeface="EB Garamond"/>
            </a:endParaRPr>
          </a:p>
          <a:p>
            <a:pPr indent="-317500" lvl="0" marL="457200" rtl="0" algn="l">
              <a:spcBef>
                <a:spcPts val="0"/>
              </a:spcBef>
              <a:spcAft>
                <a:spcPts val="0"/>
              </a:spcAft>
              <a:buSzPts val="1400"/>
              <a:buFont typeface="EB Garamond"/>
              <a:buAutoNum type="arabicPeriod"/>
            </a:pPr>
            <a:r>
              <a:rPr lang="es">
                <a:latin typeface="EB Garamond"/>
                <a:ea typeface="EB Garamond"/>
                <a:cs typeface="EB Garamond"/>
                <a:sym typeface="EB Garamond"/>
              </a:rPr>
              <a:t>Estado Civil</a:t>
            </a:r>
            <a:endParaRPr>
              <a:latin typeface="EB Garamond"/>
              <a:ea typeface="EB Garamond"/>
              <a:cs typeface="EB Garamond"/>
              <a:sym typeface="EB Garamond"/>
            </a:endParaRPr>
          </a:p>
        </p:txBody>
      </p:sp>
      <p:sp>
        <p:nvSpPr>
          <p:cNvPr id="318" name="Google Shape;318;p3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latin typeface="EB Garamond"/>
              <a:ea typeface="EB Garamond"/>
              <a:cs typeface="EB Garamond"/>
              <a:sym typeface="EB Garamond"/>
            </a:endParaRPr>
          </a:p>
          <a:p>
            <a:pPr indent="0" lvl="0" marL="0" rtl="0" algn="l">
              <a:spcBef>
                <a:spcPts val="1200"/>
              </a:spcBef>
              <a:spcAft>
                <a:spcPts val="0"/>
              </a:spcAft>
              <a:buNone/>
            </a:pPr>
            <a:r>
              <a:rPr b="1" lang="es">
                <a:latin typeface="EB Garamond"/>
                <a:ea typeface="EB Garamond"/>
                <a:cs typeface="EB Garamond"/>
                <a:sym typeface="EB Garamond"/>
              </a:rPr>
              <a:t>Variable</a:t>
            </a:r>
            <a:endParaRPr b="1">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0"/>
              </a:spcAft>
              <a:buNone/>
            </a:pPr>
            <a:r>
              <a:t/>
            </a:r>
            <a:endParaRPr>
              <a:latin typeface="EB Garamond"/>
              <a:ea typeface="EB Garamond"/>
              <a:cs typeface="EB Garamond"/>
              <a:sym typeface="EB Garamond"/>
            </a:endParaRPr>
          </a:p>
          <a:p>
            <a:pPr indent="0" lvl="0" marL="0" rtl="0" algn="l">
              <a:spcBef>
                <a:spcPts val="1200"/>
              </a:spcBef>
              <a:spcAft>
                <a:spcPts val="1200"/>
              </a:spcAft>
              <a:buNone/>
            </a:pPr>
            <a:r>
              <a:rPr b="1" lang="es">
                <a:latin typeface="EB Garamond"/>
                <a:ea typeface="EB Garamond"/>
                <a:cs typeface="EB Garamond"/>
                <a:sym typeface="EB Garamond"/>
              </a:rPr>
              <a:t>Atributo</a:t>
            </a:r>
            <a:endParaRPr b="1">
              <a:latin typeface="EB Garamond"/>
              <a:ea typeface="EB Garamond"/>
              <a:cs typeface="EB Garamond"/>
              <a:sym typeface="EB Garamo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¿Qué es una variable y qué es un atributo de una variable?</a:t>
            </a:r>
            <a:endParaRPr b="1">
              <a:latin typeface="EB Garamond"/>
              <a:ea typeface="EB Garamond"/>
              <a:cs typeface="EB Garamond"/>
              <a:sym typeface="EB Garamond"/>
            </a:endParaRPr>
          </a:p>
        </p:txBody>
      </p:sp>
      <p:sp>
        <p:nvSpPr>
          <p:cNvPr id="324" name="Google Shape;32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325" name="Google Shape;325;p39"/>
          <p:cNvGraphicFramePr/>
          <p:nvPr/>
        </p:nvGraphicFramePr>
        <p:xfrm>
          <a:off x="628650" y="1367675"/>
          <a:ext cx="3000000" cy="3000000"/>
        </p:xfrm>
        <a:graphic>
          <a:graphicData uri="http://schemas.openxmlformats.org/drawingml/2006/table">
            <a:tbl>
              <a:tblPr bandRow="1" firstRow="1">
                <a:noFill/>
                <a:tableStyleId>{5AD48871-FB56-4D40-95C2-87B6C148C408}</a:tableStyleId>
              </a:tblPr>
              <a:tblGrid>
                <a:gridCol w="3221125"/>
                <a:gridCol w="4665575"/>
              </a:tblGrid>
              <a:tr h="323375">
                <a:tc>
                  <a:txBody>
                    <a:bodyPr/>
                    <a:lstStyle/>
                    <a:p>
                      <a:pPr indent="0" lvl="0" marL="0" marR="0" rtl="0" algn="l">
                        <a:spcBef>
                          <a:spcPts val="0"/>
                        </a:spcBef>
                        <a:spcAft>
                          <a:spcPts val="0"/>
                        </a:spcAft>
                        <a:buNone/>
                      </a:pPr>
                      <a:r>
                        <a:rPr lang="es" sz="1600" u="none" cap="none" strike="noStrike">
                          <a:latin typeface="EB Garamond"/>
                          <a:ea typeface="EB Garamond"/>
                          <a:cs typeface="EB Garamond"/>
                          <a:sym typeface="EB Garamond"/>
                        </a:rPr>
                        <a:t>Variable</a:t>
                      </a:r>
                      <a:endParaRPr>
                        <a:latin typeface="EB Garamond"/>
                        <a:ea typeface="EB Garamond"/>
                        <a:cs typeface="EB Garamond"/>
                        <a:sym typeface="EB Garamond"/>
                      </a:endParaRPr>
                    </a:p>
                  </a:txBody>
                  <a:tcPr marT="45725" marB="45725" marR="91450" marL="91450">
                    <a:solidFill>
                      <a:schemeClr val="accent5"/>
                    </a:solidFill>
                  </a:tcPr>
                </a:tc>
                <a:tc>
                  <a:txBody>
                    <a:bodyPr/>
                    <a:lstStyle/>
                    <a:p>
                      <a:pPr indent="0" lvl="0" marL="0" marR="0" rtl="0" algn="l">
                        <a:spcBef>
                          <a:spcPts val="0"/>
                        </a:spcBef>
                        <a:spcAft>
                          <a:spcPts val="0"/>
                        </a:spcAft>
                        <a:buNone/>
                      </a:pPr>
                      <a:r>
                        <a:rPr lang="es" sz="1600">
                          <a:latin typeface="EB Garamond"/>
                          <a:ea typeface="EB Garamond"/>
                          <a:cs typeface="EB Garamond"/>
                          <a:sym typeface="EB Garamond"/>
                        </a:rPr>
                        <a:t>Atributo</a:t>
                      </a:r>
                      <a:endParaRPr>
                        <a:latin typeface="EB Garamond"/>
                        <a:ea typeface="EB Garamond"/>
                        <a:cs typeface="EB Garamond"/>
                        <a:sym typeface="EB Garamond"/>
                      </a:endParaRPr>
                    </a:p>
                  </a:txBody>
                  <a:tcPr marT="45725" marB="45725" marR="91450" marL="91450">
                    <a:solidFill>
                      <a:schemeClr val="accent5"/>
                    </a:solidFill>
                  </a:tcPr>
                </a:tc>
              </a:tr>
              <a:tr h="30577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Género</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Femenino, Masculino, Otro.</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r>
              <a:tr h="27237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Estado Civil</a:t>
                      </a:r>
                      <a:endParaRPr>
                        <a:solidFill>
                          <a:schemeClr val="dk2"/>
                        </a:solidFill>
                        <a:latin typeface="EB Garamond"/>
                        <a:ea typeface="EB Garamond"/>
                        <a:cs typeface="EB Garamond"/>
                        <a:sym typeface="EB Garamond"/>
                      </a:endParaRPr>
                    </a:p>
                  </a:txBody>
                  <a:tcPr marT="45725" marB="45725" marR="91450" marL="91450">
                    <a:solidFill>
                      <a:srgbClr val="E8EBF5"/>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Casado, Soltero, AUC, Divorciado, etc.</a:t>
                      </a:r>
                      <a:endParaRPr>
                        <a:solidFill>
                          <a:schemeClr val="dk2"/>
                        </a:solidFill>
                        <a:latin typeface="EB Garamond"/>
                        <a:ea typeface="EB Garamond"/>
                        <a:cs typeface="EB Garamond"/>
                        <a:sym typeface="EB Garamond"/>
                      </a:endParaRPr>
                    </a:p>
                  </a:txBody>
                  <a:tcPr marT="45725" marB="45725" marR="91450" marL="91450">
                    <a:solidFill>
                      <a:srgbClr val="E8EBF5"/>
                    </a:solidFill>
                  </a:tcPr>
                </a:tc>
              </a:tr>
              <a:tr h="27052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Ocupación</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Empleado, Independiente, Desempleado, Estudiante, etc.</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r>
              <a:tr h="235300">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Edad</a:t>
                      </a:r>
                      <a:endParaRPr>
                        <a:solidFill>
                          <a:schemeClr val="dk2"/>
                        </a:solidFill>
                        <a:latin typeface="EB Garamond"/>
                        <a:ea typeface="EB Garamond"/>
                        <a:cs typeface="EB Garamond"/>
                        <a:sym typeface="EB Garamond"/>
                      </a:endParaRPr>
                    </a:p>
                  </a:txBody>
                  <a:tcPr marT="45725" marB="45725" marR="91450" marL="91450">
                    <a:solidFill>
                      <a:srgbClr val="E8EBF5"/>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Menor de 18, entre 19 y 35 años, mayor de 35 años.</a:t>
                      </a:r>
                      <a:endParaRPr>
                        <a:solidFill>
                          <a:schemeClr val="dk2"/>
                        </a:solidFill>
                        <a:latin typeface="EB Garamond"/>
                        <a:ea typeface="EB Garamond"/>
                        <a:cs typeface="EB Garamond"/>
                        <a:sym typeface="EB Garamond"/>
                      </a:endParaRPr>
                    </a:p>
                  </a:txBody>
                  <a:tcPr marT="45725" marB="45725" marR="91450" marL="91450">
                    <a:solidFill>
                      <a:srgbClr val="E8EBF5"/>
                    </a:solidFill>
                  </a:tcPr>
                </a:tc>
              </a:tr>
              <a:tr h="24412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Situación de pobreza de ingresos</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Pobre, Pobre extremo, No pobre.</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¿Qué es una variable y qué es un atributo de una variable?</a:t>
            </a:r>
            <a:endParaRPr b="1">
              <a:latin typeface="EB Garamond"/>
              <a:ea typeface="EB Garamond"/>
              <a:cs typeface="EB Garamond"/>
              <a:sym typeface="EB Garamond"/>
            </a:endParaRPr>
          </a:p>
        </p:txBody>
      </p:sp>
      <p:sp>
        <p:nvSpPr>
          <p:cNvPr id="331" name="Google Shape;33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332" name="Google Shape;332;p40"/>
          <p:cNvGraphicFramePr/>
          <p:nvPr/>
        </p:nvGraphicFramePr>
        <p:xfrm>
          <a:off x="628650" y="1367675"/>
          <a:ext cx="3000000" cy="3000000"/>
        </p:xfrm>
        <a:graphic>
          <a:graphicData uri="http://schemas.openxmlformats.org/drawingml/2006/table">
            <a:tbl>
              <a:tblPr bandRow="1" firstRow="1">
                <a:noFill/>
                <a:tableStyleId>{5AD48871-FB56-4D40-95C2-87B6C148C408}</a:tableStyleId>
              </a:tblPr>
              <a:tblGrid>
                <a:gridCol w="3221125"/>
                <a:gridCol w="4665575"/>
              </a:tblGrid>
              <a:tr h="323375">
                <a:tc>
                  <a:txBody>
                    <a:bodyPr/>
                    <a:lstStyle/>
                    <a:p>
                      <a:pPr indent="0" lvl="0" marL="0" marR="0" rtl="0" algn="l">
                        <a:spcBef>
                          <a:spcPts val="0"/>
                        </a:spcBef>
                        <a:spcAft>
                          <a:spcPts val="0"/>
                        </a:spcAft>
                        <a:buNone/>
                      </a:pPr>
                      <a:r>
                        <a:rPr lang="es" sz="1600" u="none" cap="none" strike="noStrike">
                          <a:latin typeface="EB Garamond"/>
                          <a:ea typeface="EB Garamond"/>
                          <a:cs typeface="EB Garamond"/>
                          <a:sym typeface="EB Garamond"/>
                        </a:rPr>
                        <a:t>Variable</a:t>
                      </a:r>
                      <a:endParaRPr>
                        <a:latin typeface="EB Garamond"/>
                        <a:ea typeface="EB Garamond"/>
                        <a:cs typeface="EB Garamond"/>
                        <a:sym typeface="EB Garamond"/>
                      </a:endParaRPr>
                    </a:p>
                  </a:txBody>
                  <a:tcPr marT="45725" marB="45725" marR="91450" marL="91450">
                    <a:solidFill>
                      <a:schemeClr val="accent5"/>
                    </a:solidFill>
                  </a:tcPr>
                </a:tc>
                <a:tc>
                  <a:txBody>
                    <a:bodyPr/>
                    <a:lstStyle/>
                    <a:p>
                      <a:pPr indent="0" lvl="0" marL="0" marR="0" rtl="0" algn="l">
                        <a:spcBef>
                          <a:spcPts val="0"/>
                        </a:spcBef>
                        <a:spcAft>
                          <a:spcPts val="0"/>
                        </a:spcAft>
                        <a:buNone/>
                      </a:pPr>
                      <a:r>
                        <a:rPr lang="es" sz="1600">
                          <a:latin typeface="EB Garamond"/>
                          <a:ea typeface="EB Garamond"/>
                          <a:cs typeface="EB Garamond"/>
                          <a:sym typeface="EB Garamond"/>
                        </a:rPr>
                        <a:t>Atributo</a:t>
                      </a:r>
                      <a:endParaRPr>
                        <a:latin typeface="EB Garamond"/>
                        <a:ea typeface="EB Garamond"/>
                        <a:cs typeface="EB Garamond"/>
                        <a:sym typeface="EB Garamond"/>
                      </a:endParaRPr>
                    </a:p>
                  </a:txBody>
                  <a:tcPr marT="45725" marB="45725" marR="91450" marL="91450">
                    <a:solidFill>
                      <a:schemeClr val="accent5"/>
                    </a:solidFill>
                  </a:tcPr>
                </a:tc>
              </a:tr>
              <a:tr h="30577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Género</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Femenino, Masculino, Otro.</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r>
              <a:tr h="27237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Estado Civil</a:t>
                      </a:r>
                      <a:endParaRPr>
                        <a:solidFill>
                          <a:schemeClr val="dk2"/>
                        </a:solidFill>
                        <a:latin typeface="EB Garamond"/>
                        <a:ea typeface="EB Garamond"/>
                        <a:cs typeface="EB Garamond"/>
                        <a:sym typeface="EB Garamond"/>
                      </a:endParaRPr>
                    </a:p>
                  </a:txBody>
                  <a:tcPr marT="45725" marB="45725" marR="91450" marL="91450">
                    <a:solidFill>
                      <a:srgbClr val="E8EBF5"/>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Casado, Soltero, AUC, Divorciado, etc.</a:t>
                      </a:r>
                      <a:endParaRPr>
                        <a:solidFill>
                          <a:schemeClr val="dk2"/>
                        </a:solidFill>
                        <a:latin typeface="EB Garamond"/>
                        <a:ea typeface="EB Garamond"/>
                        <a:cs typeface="EB Garamond"/>
                        <a:sym typeface="EB Garamond"/>
                      </a:endParaRPr>
                    </a:p>
                  </a:txBody>
                  <a:tcPr marT="45725" marB="45725" marR="91450" marL="91450">
                    <a:solidFill>
                      <a:srgbClr val="E8EBF5"/>
                    </a:solidFill>
                  </a:tcPr>
                </a:tc>
              </a:tr>
              <a:tr h="27052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Ocupación</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Empleado, Independiente, Desempleado, Estudiante, etc.</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r>
              <a:tr h="235300">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Edad</a:t>
                      </a:r>
                      <a:endParaRPr>
                        <a:solidFill>
                          <a:schemeClr val="dk2"/>
                        </a:solidFill>
                        <a:latin typeface="EB Garamond"/>
                        <a:ea typeface="EB Garamond"/>
                        <a:cs typeface="EB Garamond"/>
                        <a:sym typeface="EB Garamond"/>
                      </a:endParaRPr>
                    </a:p>
                  </a:txBody>
                  <a:tcPr marT="45725" marB="45725" marR="91450" marL="91450">
                    <a:solidFill>
                      <a:srgbClr val="E8EBF5"/>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Menor de 18, entre 19 y 35 años, mayor de 35 años.</a:t>
                      </a:r>
                      <a:endParaRPr>
                        <a:solidFill>
                          <a:schemeClr val="dk2"/>
                        </a:solidFill>
                        <a:latin typeface="EB Garamond"/>
                        <a:ea typeface="EB Garamond"/>
                        <a:cs typeface="EB Garamond"/>
                        <a:sym typeface="EB Garamond"/>
                      </a:endParaRPr>
                    </a:p>
                  </a:txBody>
                  <a:tcPr marT="45725" marB="45725" marR="91450" marL="91450">
                    <a:solidFill>
                      <a:srgbClr val="E8EBF5"/>
                    </a:solidFill>
                  </a:tcPr>
                </a:tc>
              </a:tr>
              <a:tr h="24412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Situación de pobreza de ingresos</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Pobre, Pobre extremo, No pobre.</a:t>
                      </a:r>
                      <a:endParaRPr>
                        <a:solidFill>
                          <a:schemeClr val="dk2"/>
                        </a:solidFill>
                        <a:latin typeface="EB Garamond"/>
                        <a:ea typeface="EB Garamond"/>
                        <a:cs typeface="EB Garamond"/>
                        <a:sym typeface="EB Garamond"/>
                      </a:endParaRPr>
                    </a:p>
                  </a:txBody>
                  <a:tcPr marT="45725" marB="45725" marR="91450" marL="91450">
                    <a:solidFill>
                      <a:srgbClr val="AAD5D4"/>
                    </a:solidFill>
                  </a:tcPr>
                </a:tc>
              </a:tr>
            </a:tbl>
          </a:graphicData>
        </a:graphic>
      </p:graphicFrame>
      <p:grpSp>
        <p:nvGrpSpPr>
          <p:cNvPr id="333" name="Google Shape;333;p40"/>
          <p:cNvGrpSpPr/>
          <p:nvPr/>
        </p:nvGrpSpPr>
        <p:grpSpPr>
          <a:xfrm>
            <a:off x="891630" y="3566601"/>
            <a:ext cx="7360737" cy="1346827"/>
            <a:chOff x="97526" y="0"/>
            <a:chExt cx="7787492" cy="1773307"/>
          </a:xfrm>
        </p:grpSpPr>
        <p:sp>
          <p:nvSpPr>
            <p:cNvPr id="334" name="Google Shape;334;p40"/>
            <p:cNvSpPr/>
            <p:nvPr/>
          </p:nvSpPr>
          <p:spPr>
            <a:xfrm>
              <a:off x="97526" y="33307"/>
              <a:ext cx="3188700" cy="1740000"/>
            </a:xfrm>
            <a:prstGeom prst="roundRect">
              <a:avLst>
                <a:gd fmla="val 10000" name="adj"/>
              </a:avLst>
            </a:prstGeom>
            <a:solidFill>
              <a:srgbClr val="A64D79"/>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0"/>
            <p:cNvSpPr txBox="1"/>
            <p:nvPr/>
          </p:nvSpPr>
          <p:spPr>
            <a:xfrm>
              <a:off x="249328" y="79656"/>
              <a:ext cx="2885100" cy="16473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None/>
              </a:pPr>
              <a:r>
                <a:rPr b="1" lang="es" sz="1600">
                  <a:solidFill>
                    <a:srgbClr val="FFFFFF"/>
                  </a:solidFill>
                  <a:latin typeface="EB Garamond"/>
                  <a:ea typeface="EB Garamond"/>
                  <a:cs typeface="EB Garamond"/>
                  <a:sym typeface="EB Garamond"/>
                </a:rPr>
                <a:t>Variable: </a:t>
              </a:r>
              <a:r>
                <a:rPr lang="es" sz="1600">
                  <a:solidFill>
                    <a:srgbClr val="FFFFFF"/>
                  </a:solidFill>
                  <a:latin typeface="EB Garamond"/>
                  <a:ea typeface="EB Garamond"/>
                  <a:cs typeface="EB Garamond"/>
                  <a:sym typeface="EB Garamond"/>
                </a:rPr>
                <a:t>conjunto que reúne lógicamente atributos.</a:t>
              </a:r>
              <a:endParaRPr sz="1200">
                <a:latin typeface="EB Garamond"/>
                <a:ea typeface="EB Garamond"/>
                <a:cs typeface="EB Garamond"/>
                <a:sym typeface="EB Garamond"/>
              </a:endParaRPr>
            </a:p>
            <a:p>
              <a:pPr indent="0" lvl="0" marL="0" marR="0" rtl="0" algn="l">
                <a:lnSpc>
                  <a:spcPct val="90000"/>
                </a:lnSpc>
                <a:spcBef>
                  <a:spcPts val="630"/>
                </a:spcBef>
                <a:spcAft>
                  <a:spcPts val="0"/>
                </a:spcAft>
                <a:buNone/>
              </a:pPr>
              <a:r>
                <a:rPr lang="es" sz="1300">
                  <a:solidFill>
                    <a:srgbClr val="FFFFFF"/>
                  </a:solidFill>
                  <a:latin typeface="EB Garamond"/>
                  <a:ea typeface="EB Garamond"/>
                  <a:cs typeface="EB Garamond"/>
                  <a:sym typeface="EB Garamond"/>
                </a:rPr>
                <a:t>1. Exhaustivos</a:t>
              </a:r>
              <a:endParaRPr sz="1300">
                <a:latin typeface="EB Garamond"/>
                <a:ea typeface="EB Garamond"/>
                <a:cs typeface="EB Garamond"/>
                <a:sym typeface="EB Garamond"/>
              </a:endParaRPr>
            </a:p>
            <a:p>
              <a:pPr indent="0" lvl="0" marL="0" marR="0" rtl="0" algn="l">
                <a:lnSpc>
                  <a:spcPct val="90000"/>
                </a:lnSpc>
                <a:spcBef>
                  <a:spcPts val="490"/>
                </a:spcBef>
                <a:spcAft>
                  <a:spcPts val="0"/>
                </a:spcAft>
                <a:buNone/>
              </a:pPr>
              <a:r>
                <a:rPr lang="es" sz="1300">
                  <a:solidFill>
                    <a:srgbClr val="FFFFFF"/>
                  </a:solidFill>
                  <a:latin typeface="EB Garamond"/>
                  <a:ea typeface="EB Garamond"/>
                  <a:cs typeface="EB Garamond"/>
                  <a:sym typeface="EB Garamond"/>
                </a:rPr>
                <a:t>2. Mutuamente excluyentes</a:t>
              </a:r>
              <a:endParaRPr sz="1300">
                <a:latin typeface="EB Garamond"/>
                <a:ea typeface="EB Garamond"/>
                <a:cs typeface="EB Garamond"/>
                <a:sym typeface="EB Garamond"/>
              </a:endParaRPr>
            </a:p>
            <a:p>
              <a:pPr indent="0" lvl="0" marL="0" marR="0" rtl="0" algn="l">
                <a:lnSpc>
                  <a:spcPct val="90000"/>
                </a:lnSpc>
                <a:spcBef>
                  <a:spcPts val="490"/>
                </a:spcBef>
                <a:spcAft>
                  <a:spcPts val="0"/>
                </a:spcAft>
                <a:buNone/>
              </a:pPr>
              <a:r>
                <a:rPr lang="es" sz="1300">
                  <a:solidFill>
                    <a:srgbClr val="FFFFFF"/>
                  </a:solidFill>
                  <a:latin typeface="EB Garamond"/>
                  <a:ea typeface="EB Garamond"/>
                  <a:cs typeface="EB Garamond"/>
                  <a:sym typeface="EB Garamond"/>
                </a:rPr>
                <a:t>3. Precisos</a:t>
              </a:r>
              <a:endParaRPr sz="1300">
                <a:latin typeface="EB Garamond"/>
                <a:ea typeface="EB Garamond"/>
                <a:cs typeface="EB Garamond"/>
                <a:sym typeface="EB Garamond"/>
              </a:endParaRPr>
            </a:p>
          </p:txBody>
        </p:sp>
        <p:sp>
          <p:nvSpPr>
            <p:cNvPr id="336" name="Google Shape;336;p40"/>
            <p:cNvSpPr/>
            <p:nvPr/>
          </p:nvSpPr>
          <p:spPr>
            <a:xfrm>
              <a:off x="3614865" y="479262"/>
              <a:ext cx="696300" cy="814500"/>
            </a:xfrm>
            <a:prstGeom prst="rightArrow">
              <a:avLst>
                <a:gd fmla="val 60000" name="adj1"/>
                <a:gd fmla="val 50000" name="adj2"/>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0"/>
            <p:cNvSpPr txBox="1"/>
            <p:nvPr/>
          </p:nvSpPr>
          <p:spPr>
            <a:xfrm>
              <a:off x="3614865" y="642190"/>
              <a:ext cx="487500" cy="48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sz="3500">
                <a:solidFill>
                  <a:srgbClr val="FFFFFF"/>
                </a:solidFill>
                <a:latin typeface="Calibri"/>
                <a:ea typeface="Calibri"/>
                <a:cs typeface="Calibri"/>
                <a:sym typeface="Calibri"/>
              </a:endParaRPr>
            </a:p>
          </p:txBody>
        </p:sp>
        <p:sp>
          <p:nvSpPr>
            <p:cNvPr id="338" name="Google Shape;338;p40"/>
            <p:cNvSpPr/>
            <p:nvPr/>
          </p:nvSpPr>
          <p:spPr>
            <a:xfrm>
              <a:off x="4600318" y="0"/>
              <a:ext cx="3284700" cy="1773300"/>
            </a:xfrm>
            <a:prstGeom prst="roundRect">
              <a:avLst>
                <a:gd fmla="val 10000" name="adj"/>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0"/>
            <p:cNvSpPr txBox="1"/>
            <p:nvPr/>
          </p:nvSpPr>
          <p:spPr>
            <a:xfrm>
              <a:off x="4859474" y="160234"/>
              <a:ext cx="2885100" cy="14526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None/>
              </a:pPr>
              <a:r>
                <a:rPr b="1" lang="es" sz="1600">
                  <a:solidFill>
                    <a:schemeClr val="dk2"/>
                  </a:solidFill>
                  <a:latin typeface="EB Garamond"/>
                  <a:ea typeface="EB Garamond"/>
                  <a:cs typeface="EB Garamond"/>
                  <a:sym typeface="EB Garamond"/>
                </a:rPr>
                <a:t>Atributo: </a:t>
              </a:r>
              <a:r>
                <a:rPr lang="es" sz="1600">
                  <a:solidFill>
                    <a:schemeClr val="dk2"/>
                  </a:solidFill>
                  <a:latin typeface="EB Garamond"/>
                  <a:ea typeface="EB Garamond"/>
                  <a:cs typeface="EB Garamond"/>
                  <a:sym typeface="EB Garamond"/>
                </a:rPr>
                <a:t>cualidad o característica que describe a un objeto o individuo.</a:t>
              </a:r>
              <a:endParaRPr sz="1200">
                <a:solidFill>
                  <a:schemeClr val="dk2"/>
                </a:solidFill>
                <a:latin typeface="EB Garamond"/>
                <a:ea typeface="EB Garamond"/>
                <a:cs typeface="EB Garamond"/>
                <a:sym typeface="EB Garamond"/>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345" name="Google Shape;34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346" name="Google Shape;346;p41"/>
          <p:cNvGraphicFramePr/>
          <p:nvPr/>
        </p:nvGraphicFramePr>
        <p:xfrm>
          <a:off x="628650" y="2571750"/>
          <a:ext cx="3000000" cy="3000000"/>
        </p:xfrm>
        <a:graphic>
          <a:graphicData uri="http://schemas.openxmlformats.org/drawingml/2006/table">
            <a:tbl>
              <a:tblPr bandRow="1" firstRow="1">
                <a:noFill/>
                <a:tableStyleId>{5AD48871-FB56-4D40-95C2-87B6C148C408}</a:tableStyleId>
              </a:tblPr>
              <a:tblGrid>
                <a:gridCol w="3221125"/>
                <a:gridCol w="4665575"/>
              </a:tblGrid>
              <a:tr h="323375">
                <a:tc>
                  <a:txBody>
                    <a:bodyPr/>
                    <a:lstStyle/>
                    <a:p>
                      <a:pPr indent="0" lvl="0" marL="0" marR="0" rtl="0" algn="l">
                        <a:spcBef>
                          <a:spcPts val="0"/>
                        </a:spcBef>
                        <a:spcAft>
                          <a:spcPts val="0"/>
                        </a:spcAft>
                        <a:buNone/>
                      </a:pPr>
                      <a:r>
                        <a:rPr lang="es" sz="1600" u="none" cap="none" strike="noStrike">
                          <a:latin typeface="EB Garamond"/>
                          <a:ea typeface="EB Garamond"/>
                          <a:cs typeface="EB Garamond"/>
                          <a:sym typeface="EB Garamond"/>
                        </a:rPr>
                        <a:t>Variable</a:t>
                      </a:r>
                      <a:endParaRPr>
                        <a:latin typeface="EB Garamond"/>
                        <a:ea typeface="EB Garamond"/>
                        <a:cs typeface="EB Garamond"/>
                        <a:sym typeface="EB Garamond"/>
                      </a:endParaRPr>
                    </a:p>
                  </a:txBody>
                  <a:tcPr marT="45725" marB="45725" marR="91450" marL="91450">
                    <a:solidFill>
                      <a:schemeClr val="accent5"/>
                    </a:solidFill>
                  </a:tcPr>
                </a:tc>
                <a:tc>
                  <a:txBody>
                    <a:bodyPr/>
                    <a:lstStyle/>
                    <a:p>
                      <a:pPr indent="0" lvl="0" marL="0" marR="0" rtl="0" algn="l">
                        <a:spcBef>
                          <a:spcPts val="0"/>
                        </a:spcBef>
                        <a:spcAft>
                          <a:spcPts val="0"/>
                        </a:spcAft>
                        <a:buNone/>
                      </a:pPr>
                      <a:r>
                        <a:rPr lang="es" sz="1600">
                          <a:latin typeface="EB Garamond"/>
                          <a:ea typeface="EB Garamond"/>
                          <a:cs typeface="EB Garamond"/>
                          <a:sym typeface="EB Garamond"/>
                        </a:rPr>
                        <a:t>Atributo</a:t>
                      </a:r>
                      <a:endParaRPr>
                        <a:latin typeface="EB Garamond"/>
                        <a:ea typeface="EB Garamond"/>
                        <a:cs typeface="EB Garamond"/>
                        <a:sym typeface="EB Garamond"/>
                      </a:endParaRPr>
                    </a:p>
                  </a:txBody>
                  <a:tcPr marT="45725" marB="45725" marR="91450" marL="91450">
                    <a:solidFill>
                      <a:schemeClr val="accent5"/>
                    </a:solidFill>
                  </a:tcPr>
                </a:tc>
              </a:tr>
              <a:tr h="305775">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AAD5D4"/>
                    </a:solidFill>
                  </a:tcPr>
                </a:tc>
              </a:tr>
              <a:tr h="272375">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E8EBF5"/>
                    </a:solidFill>
                  </a:tcPr>
                </a:tc>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E8EBF5"/>
                    </a:solidFill>
                  </a:tcPr>
                </a:tc>
              </a:tr>
              <a:tr h="270525">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AAD5D4"/>
                    </a:solidFill>
                  </a:tcPr>
                </a:tc>
              </a:tr>
              <a:tr h="235300">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E8EBF5"/>
                    </a:solidFill>
                  </a:tcPr>
                </a:tc>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E8EBF5"/>
                    </a:solidFill>
                  </a:tcPr>
                </a:tc>
              </a:tr>
              <a:tr h="244125">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t/>
                      </a:r>
                      <a:endParaRPr>
                        <a:latin typeface="EB Garamond"/>
                        <a:ea typeface="EB Garamond"/>
                        <a:cs typeface="EB Garamond"/>
                        <a:sym typeface="EB Garamond"/>
                      </a:endParaRPr>
                    </a:p>
                  </a:txBody>
                  <a:tcPr marT="45725" marB="45725" marR="91450" marL="91450">
                    <a:solidFill>
                      <a:srgbClr val="AAD5D4"/>
                    </a:solidFill>
                  </a:tcPr>
                </a:tc>
              </a:tr>
            </a:tbl>
          </a:graphicData>
        </a:graphic>
      </p:graphicFrame>
      <p:grpSp>
        <p:nvGrpSpPr>
          <p:cNvPr id="347" name="Google Shape;347;p41"/>
          <p:cNvGrpSpPr/>
          <p:nvPr/>
        </p:nvGrpSpPr>
        <p:grpSpPr>
          <a:xfrm>
            <a:off x="891630" y="1056501"/>
            <a:ext cx="7360737" cy="1346827"/>
            <a:chOff x="97526" y="0"/>
            <a:chExt cx="7787492" cy="1773307"/>
          </a:xfrm>
        </p:grpSpPr>
        <p:sp>
          <p:nvSpPr>
            <p:cNvPr id="348" name="Google Shape;348;p41"/>
            <p:cNvSpPr/>
            <p:nvPr/>
          </p:nvSpPr>
          <p:spPr>
            <a:xfrm>
              <a:off x="97526" y="33307"/>
              <a:ext cx="3188700" cy="1740000"/>
            </a:xfrm>
            <a:prstGeom prst="roundRect">
              <a:avLst>
                <a:gd fmla="val 10000" name="adj"/>
              </a:avLst>
            </a:prstGeom>
            <a:solidFill>
              <a:srgbClr val="A64D79"/>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1"/>
            <p:cNvSpPr txBox="1"/>
            <p:nvPr/>
          </p:nvSpPr>
          <p:spPr>
            <a:xfrm>
              <a:off x="249328" y="79656"/>
              <a:ext cx="2885100" cy="16473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None/>
              </a:pPr>
              <a:r>
                <a:rPr b="1" lang="es" sz="1600">
                  <a:solidFill>
                    <a:srgbClr val="FFFFFF"/>
                  </a:solidFill>
                  <a:latin typeface="EB Garamond"/>
                  <a:ea typeface="EB Garamond"/>
                  <a:cs typeface="EB Garamond"/>
                  <a:sym typeface="EB Garamond"/>
                </a:rPr>
                <a:t>Variable: </a:t>
              </a:r>
              <a:r>
                <a:rPr lang="es" sz="1600">
                  <a:solidFill>
                    <a:srgbClr val="FFFFFF"/>
                  </a:solidFill>
                  <a:latin typeface="EB Garamond"/>
                  <a:ea typeface="EB Garamond"/>
                  <a:cs typeface="EB Garamond"/>
                  <a:sym typeface="EB Garamond"/>
                </a:rPr>
                <a:t>conjunto que reúne lógicamente atributos.</a:t>
              </a:r>
              <a:endParaRPr sz="1200">
                <a:latin typeface="EB Garamond"/>
                <a:ea typeface="EB Garamond"/>
                <a:cs typeface="EB Garamond"/>
                <a:sym typeface="EB Garamond"/>
              </a:endParaRPr>
            </a:p>
            <a:p>
              <a:pPr indent="0" lvl="0" marL="0" marR="0" rtl="0" algn="l">
                <a:lnSpc>
                  <a:spcPct val="90000"/>
                </a:lnSpc>
                <a:spcBef>
                  <a:spcPts val="630"/>
                </a:spcBef>
                <a:spcAft>
                  <a:spcPts val="0"/>
                </a:spcAft>
                <a:buNone/>
              </a:pPr>
              <a:r>
                <a:rPr lang="es" sz="1300">
                  <a:solidFill>
                    <a:srgbClr val="FFFFFF"/>
                  </a:solidFill>
                  <a:latin typeface="EB Garamond"/>
                  <a:ea typeface="EB Garamond"/>
                  <a:cs typeface="EB Garamond"/>
                  <a:sym typeface="EB Garamond"/>
                </a:rPr>
                <a:t>1. Exhaustivos</a:t>
              </a:r>
              <a:endParaRPr sz="1300">
                <a:latin typeface="EB Garamond"/>
                <a:ea typeface="EB Garamond"/>
                <a:cs typeface="EB Garamond"/>
                <a:sym typeface="EB Garamond"/>
              </a:endParaRPr>
            </a:p>
            <a:p>
              <a:pPr indent="0" lvl="0" marL="0" marR="0" rtl="0" algn="l">
                <a:lnSpc>
                  <a:spcPct val="90000"/>
                </a:lnSpc>
                <a:spcBef>
                  <a:spcPts val="490"/>
                </a:spcBef>
                <a:spcAft>
                  <a:spcPts val="0"/>
                </a:spcAft>
                <a:buNone/>
              </a:pPr>
              <a:r>
                <a:rPr lang="es" sz="1300">
                  <a:solidFill>
                    <a:srgbClr val="FFFFFF"/>
                  </a:solidFill>
                  <a:latin typeface="EB Garamond"/>
                  <a:ea typeface="EB Garamond"/>
                  <a:cs typeface="EB Garamond"/>
                  <a:sym typeface="EB Garamond"/>
                </a:rPr>
                <a:t>2. Mutuamente excluyentes</a:t>
              </a:r>
              <a:endParaRPr sz="1300">
                <a:latin typeface="EB Garamond"/>
                <a:ea typeface="EB Garamond"/>
                <a:cs typeface="EB Garamond"/>
                <a:sym typeface="EB Garamond"/>
              </a:endParaRPr>
            </a:p>
            <a:p>
              <a:pPr indent="0" lvl="0" marL="0" marR="0" rtl="0" algn="l">
                <a:lnSpc>
                  <a:spcPct val="90000"/>
                </a:lnSpc>
                <a:spcBef>
                  <a:spcPts val="490"/>
                </a:spcBef>
                <a:spcAft>
                  <a:spcPts val="0"/>
                </a:spcAft>
                <a:buNone/>
              </a:pPr>
              <a:r>
                <a:rPr lang="es" sz="1300">
                  <a:solidFill>
                    <a:srgbClr val="FFFFFF"/>
                  </a:solidFill>
                  <a:latin typeface="EB Garamond"/>
                  <a:ea typeface="EB Garamond"/>
                  <a:cs typeface="EB Garamond"/>
                  <a:sym typeface="EB Garamond"/>
                </a:rPr>
                <a:t>3. Precisos</a:t>
              </a:r>
              <a:endParaRPr sz="1300">
                <a:latin typeface="EB Garamond"/>
                <a:ea typeface="EB Garamond"/>
                <a:cs typeface="EB Garamond"/>
                <a:sym typeface="EB Garamond"/>
              </a:endParaRPr>
            </a:p>
          </p:txBody>
        </p:sp>
        <p:sp>
          <p:nvSpPr>
            <p:cNvPr id="350" name="Google Shape;350;p41"/>
            <p:cNvSpPr/>
            <p:nvPr/>
          </p:nvSpPr>
          <p:spPr>
            <a:xfrm>
              <a:off x="3614865" y="479262"/>
              <a:ext cx="696300" cy="814500"/>
            </a:xfrm>
            <a:prstGeom prst="rightArrow">
              <a:avLst>
                <a:gd fmla="val 60000" name="adj1"/>
                <a:gd fmla="val 50000" name="adj2"/>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1"/>
            <p:cNvSpPr txBox="1"/>
            <p:nvPr/>
          </p:nvSpPr>
          <p:spPr>
            <a:xfrm>
              <a:off x="3614865" y="642190"/>
              <a:ext cx="487500" cy="4887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sz="3500">
                <a:solidFill>
                  <a:srgbClr val="FFFFFF"/>
                </a:solidFill>
                <a:latin typeface="Calibri"/>
                <a:ea typeface="Calibri"/>
                <a:cs typeface="Calibri"/>
                <a:sym typeface="Calibri"/>
              </a:endParaRPr>
            </a:p>
          </p:txBody>
        </p:sp>
        <p:sp>
          <p:nvSpPr>
            <p:cNvPr id="352" name="Google Shape;352;p41"/>
            <p:cNvSpPr/>
            <p:nvPr/>
          </p:nvSpPr>
          <p:spPr>
            <a:xfrm>
              <a:off x="4600318" y="0"/>
              <a:ext cx="3284700" cy="1773300"/>
            </a:xfrm>
            <a:prstGeom prst="roundRect">
              <a:avLst>
                <a:gd fmla="val 10000" name="adj"/>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1"/>
            <p:cNvSpPr txBox="1"/>
            <p:nvPr/>
          </p:nvSpPr>
          <p:spPr>
            <a:xfrm>
              <a:off x="4859474" y="160234"/>
              <a:ext cx="2885100" cy="1452600"/>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None/>
              </a:pPr>
              <a:r>
                <a:rPr b="1" lang="es" sz="1600">
                  <a:solidFill>
                    <a:schemeClr val="dk2"/>
                  </a:solidFill>
                  <a:latin typeface="EB Garamond"/>
                  <a:ea typeface="EB Garamond"/>
                  <a:cs typeface="EB Garamond"/>
                  <a:sym typeface="EB Garamond"/>
                </a:rPr>
                <a:t>Atributo: </a:t>
              </a:r>
              <a:r>
                <a:rPr lang="es" sz="1600">
                  <a:solidFill>
                    <a:schemeClr val="dk2"/>
                  </a:solidFill>
                  <a:latin typeface="EB Garamond"/>
                  <a:ea typeface="EB Garamond"/>
                  <a:cs typeface="EB Garamond"/>
                  <a:sym typeface="EB Garamond"/>
                </a:rPr>
                <a:t>cualidad o característica que describe a un objeto o individuo.</a:t>
              </a:r>
              <a:endParaRPr sz="1200">
                <a:solidFill>
                  <a:schemeClr val="dk2"/>
                </a:solidFill>
                <a:latin typeface="EB Garamond"/>
                <a:ea typeface="EB Garamond"/>
                <a:cs typeface="EB Garamond"/>
                <a:sym typeface="EB Garamond"/>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359" name="Google Shape;359;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60" name="Google Shape;360;p42"/>
          <p:cNvSpPr txBox="1"/>
          <p:nvPr>
            <p:ph idx="1" type="body"/>
          </p:nvPr>
        </p:nvSpPr>
        <p:spPr>
          <a:xfrm>
            <a:off x="311700" y="1152475"/>
            <a:ext cx="8520600" cy="177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latin typeface="EB Garamond"/>
                <a:ea typeface="EB Garamond"/>
                <a:cs typeface="EB Garamond"/>
                <a:sym typeface="EB Garamond"/>
              </a:rPr>
              <a:t>Pregunta</a:t>
            </a:r>
            <a:r>
              <a:rPr lang="es">
                <a:latin typeface="EB Garamond"/>
                <a:ea typeface="EB Garamond"/>
                <a:cs typeface="EB Garamond"/>
                <a:sym typeface="EB Garamond"/>
              </a:rPr>
              <a:t>: ¿Cuál es el efecto de la pandemia en la violencia intrafamiliar (VIF)?</a:t>
            </a:r>
            <a:endParaRPr>
              <a:latin typeface="EB Garamond"/>
              <a:ea typeface="EB Garamond"/>
              <a:cs typeface="EB Garamond"/>
              <a:sym typeface="EB Garamond"/>
            </a:endParaRPr>
          </a:p>
          <a:p>
            <a:pPr indent="0" lvl="0" marL="0" rtl="0" algn="l">
              <a:spcBef>
                <a:spcPts val="1200"/>
              </a:spcBef>
              <a:spcAft>
                <a:spcPts val="0"/>
              </a:spcAft>
              <a:buClr>
                <a:schemeClr val="dk1"/>
              </a:buClr>
              <a:buSzPts val="1100"/>
              <a:buFont typeface="Arial"/>
              <a:buNone/>
            </a:pPr>
            <a:r>
              <a:rPr b="1" lang="es">
                <a:latin typeface="EB Garamond"/>
                <a:ea typeface="EB Garamond"/>
                <a:cs typeface="EB Garamond"/>
                <a:sym typeface="EB Garamond"/>
              </a:rPr>
              <a:t>Objetivo</a:t>
            </a:r>
            <a:r>
              <a:rPr lang="es">
                <a:latin typeface="EB Garamond"/>
                <a:ea typeface="EB Garamond"/>
                <a:cs typeface="EB Garamond"/>
                <a:sym typeface="EB Garamond"/>
              </a:rPr>
              <a:t>: Determinar el efecto de la pandemia en la violencia intrafamiliar, en hogares de la región metropolitana, entre el año 2019 y 2020.</a:t>
            </a:r>
            <a:endParaRPr>
              <a:latin typeface="EB Garamond"/>
              <a:ea typeface="EB Garamond"/>
              <a:cs typeface="EB Garamond"/>
              <a:sym typeface="EB Garamond"/>
            </a:endParaRPr>
          </a:p>
          <a:p>
            <a:pPr indent="0" lvl="0" marL="0" rtl="0" algn="l">
              <a:spcBef>
                <a:spcPts val="1200"/>
              </a:spcBef>
              <a:spcAft>
                <a:spcPts val="1200"/>
              </a:spcAft>
              <a:buNone/>
            </a:pPr>
            <a:r>
              <a:rPr b="1" lang="es">
                <a:latin typeface="EB Garamond"/>
                <a:ea typeface="EB Garamond"/>
                <a:cs typeface="EB Garamond"/>
                <a:sym typeface="EB Garamond"/>
              </a:rPr>
              <a:t>Hipótesis</a:t>
            </a:r>
            <a:r>
              <a:rPr lang="es">
                <a:latin typeface="EB Garamond"/>
                <a:ea typeface="EB Garamond"/>
                <a:cs typeface="EB Garamond"/>
                <a:sym typeface="EB Garamond"/>
              </a:rPr>
              <a:t>: El contexto de pandemia ha aumentado la violencia intrafamiliar.</a:t>
            </a:r>
            <a:endParaRPr/>
          </a:p>
        </p:txBody>
      </p:sp>
      <p:sp>
        <p:nvSpPr>
          <p:cNvPr id="361" name="Google Shape;361;p42"/>
          <p:cNvSpPr/>
          <p:nvPr/>
        </p:nvSpPr>
        <p:spPr>
          <a:xfrm>
            <a:off x="1383577" y="3497415"/>
            <a:ext cx="2446800" cy="516600"/>
          </a:xfrm>
          <a:prstGeom prst="roundRect">
            <a:avLst>
              <a:gd fmla="val 16667" name="adj"/>
            </a:avLst>
          </a:prstGeom>
          <a:solidFill>
            <a:srgbClr val="FFC000"/>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chemeClr val="dk2"/>
                </a:solidFill>
                <a:latin typeface="EB Garamond"/>
                <a:ea typeface="EB Garamond"/>
                <a:cs typeface="EB Garamond"/>
                <a:sym typeface="EB Garamond"/>
              </a:rPr>
              <a:t>Contexto de pandemia</a:t>
            </a:r>
            <a:endParaRPr>
              <a:solidFill>
                <a:schemeClr val="dk2"/>
              </a:solidFill>
              <a:latin typeface="EB Garamond"/>
              <a:ea typeface="EB Garamond"/>
              <a:cs typeface="EB Garamond"/>
              <a:sym typeface="EB Garamond"/>
            </a:endParaRPr>
          </a:p>
        </p:txBody>
      </p:sp>
      <p:sp>
        <p:nvSpPr>
          <p:cNvPr id="362" name="Google Shape;362;p42"/>
          <p:cNvSpPr/>
          <p:nvPr/>
        </p:nvSpPr>
        <p:spPr>
          <a:xfrm>
            <a:off x="5303644" y="3497415"/>
            <a:ext cx="2446800" cy="516600"/>
          </a:xfrm>
          <a:prstGeom prst="roundRect">
            <a:avLst>
              <a:gd fmla="val 16667" name="adj"/>
            </a:avLst>
          </a:prstGeom>
          <a:solidFill>
            <a:srgbClr val="A64D79"/>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600">
                <a:solidFill>
                  <a:srgbClr val="FFFFFF"/>
                </a:solidFill>
                <a:latin typeface="EB Garamond"/>
                <a:ea typeface="EB Garamond"/>
                <a:cs typeface="EB Garamond"/>
                <a:sym typeface="EB Garamond"/>
              </a:rPr>
              <a:t>VIF</a:t>
            </a:r>
            <a:endParaRPr>
              <a:latin typeface="EB Garamond"/>
              <a:ea typeface="EB Garamond"/>
              <a:cs typeface="EB Garamond"/>
              <a:sym typeface="EB Garamond"/>
            </a:endParaRPr>
          </a:p>
        </p:txBody>
      </p:sp>
      <p:sp>
        <p:nvSpPr>
          <p:cNvPr id="363" name="Google Shape;363;p42"/>
          <p:cNvSpPr txBox="1"/>
          <p:nvPr/>
        </p:nvSpPr>
        <p:spPr>
          <a:xfrm>
            <a:off x="6328946" y="3101718"/>
            <a:ext cx="510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800">
                <a:solidFill>
                  <a:schemeClr val="dk2"/>
                </a:solidFill>
                <a:latin typeface="EB Garamond"/>
                <a:ea typeface="EB Garamond"/>
                <a:cs typeface="EB Garamond"/>
                <a:sym typeface="EB Garamond"/>
              </a:rPr>
              <a:t>(+)</a:t>
            </a:r>
            <a:endParaRPr>
              <a:solidFill>
                <a:schemeClr val="dk2"/>
              </a:solidFill>
              <a:latin typeface="EB Garamond"/>
              <a:ea typeface="EB Garamond"/>
              <a:cs typeface="EB Garamond"/>
              <a:sym typeface="EB Garamond"/>
            </a:endParaRPr>
          </a:p>
        </p:txBody>
      </p:sp>
      <p:cxnSp>
        <p:nvCxnSpPr>
          <p:cNvPr id="364" name="Google Shape;364;p42"/>
          <p:cNvCxnSpPr/>
          <p:nvPr/>
        </p:nvCxnSpPr>
        <p:spPr>
          <a:xfrm>
            <a:off x="3835400" y="3766802"/>
            <a:ext cx="1473300" cy="0"/>
          </a:xfrm>
          <a:prstGeom prst="straightConnector1">
            <a:avLst/>
          </a:prstGeom>
          <a:noFill/>
          <a:ln cap="flat" cmpd="sng" w="38100">
            <a:solidFill>
              <a:srgbClr val="000000"/>
            </a:solidFill>
            <a:prstDash val="dash"/>
            <a:miter lim="800000"/>
            <a:headEnd len="sm" w="sm" type="none"/>
            <a:tailEnd len="med" w="med" type="triangle"/>
          </a:ln>
        </p:spPr>
      </p:cxnSp>
      <p:sp>
        <p:nvSpPr>
          <p:cNvPr id="365" name="Google Shape;365;p42"/>
          <p:cNvSpPr txBox="1"/>
          <p:nvPr/>
        </p:nvSpPr>
        <p:spPr>
          <a:xfrm>
            <a:off x="1907299" y="3163273"/>
            <a:ext cx="1473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400">
                <a:solidFill>
                  <a:schemeClr val="dk2"/>
                </a:solidFill>
                <a:latin typeface="EB Garamond"/>
                <a:ea typeface="EB Garamond"/>
                <a:cs typeface="EB Garamond"/>
                <a:sym typeface="EB Garamond"/>
              </a:rPr>
              <a:t>(2019 vs. 2020)</a:t>
            </a:r>
            <a:endParaRPr>
              <a:solidFill>
                <a:schemeClr val="dk2"/>
              </a:solidFill>
              <a:latin typeface="EB Garamond"/>
              <a:ea typeface="EB Garamond"/>
              <a:cs typeface="EB Garamond"/>
              <a:sym typeface="EB Garamo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371" name="Google Shape;371;p43"/>
          <p:cNvGraphicFramePr/>
          <p:nvPr/>
        </p:nvGraphicFramePr>
        <p:xfrm>
          <a:off x="401443" y="402841"/>
          <a:ext cx="3000000" cy="3000000"/>
        </p:xfrm>
        <a:graphic>
          <a:graphicData uri="http://schemas.openxmlformats.org/drawingml/2006/table">
            <a:tbl>
              <a:tblPr>
                <a:noFill/>
                <a:tableStyleId>{D811C666-C65A-4277-B8E9-2374CC1DFB90}</a:tableStyleId>
              </a:tblPr>
              <a:tblGrid>
                <a:gridCol w="2224900"/>
                <a:gridCol w="2224900"/>
                <a:gridCol w="1945650"/>
                <a:gridCol w="1945650"/>
              </a:tblGrid>
              <a:tr h="158950">
                <a:tc>
                  <a:txBody>
                    <a:bodyPr/>
                    <a:lstStyle/>
                    <a:p>
                      <a:pPr indent="0" lvl="0" marL="0" marR="0" rtl="0" algn="ctr">
                        <a:spcBef>
                          <a:spcPts val="0"/>
                        </a:spcBef>
                        <a:spcAft>
                          <a:spcPts val="0"/>
                        </a:spcAft>
                        <a:buNone/>
                      </a:pPr>
                      <a:r>
                        <a:rPr b="1" i="0" lang="es" sz="900" u="none" strike="noStrike">
                          <a:solidFill>
                            <a:schemeClr val="lt2"/>
                          </a:solidFill>
                          <a:latin typeface="EB Garamond"/>
                          <a:ea typeface="EB Garamond"/>
                          <a:cs typeface="EB Garamond"/>
                          <a:sym typeface="EB Garamond"/>
                        </a:rPr>
                        <a:t>Concepto</a:t>
                      </a:r>
                      <a:endParaRPr>
                        <a:solidFill>
                          <a:schemeClr val="lt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spcBef>
                          <a:spcPts val="0"/>
                        </a:spcBef>
                        <a:spcAft>
                          <a:spcPts val="0"/>
                        </a:spcAft>
                        <a:buNone/>
                      </a:pPr>
                      <a:r>
                        <a:rPr b="1" i="0" lang="es" sz="900" u="none" strike="noStrike">
                          <a:solidFill>
                            <a:schemeClr val="lt2"/>
                          </a:solidFill>
                          <a:latin typeface="EB Garamond"/>
                          <a:ea typeface="EB Garamond"/>
                          <a:cs typeface="EB Garamond"/>
                          <a:sym typeface="EB Garamond"/>
                        </a:rPr>
                        <a:t>Dimensiones</a:t>
                      </a:r>
                      <a:endParaRPr>
                        <a:solidFill>
                          <a:schemeClr val="lt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spcBef>
                          <a:spcPts val="0"/>
                        </a:spcBef>
                        <a:spcAft>
                          <a:spcPts val="0"/>
                        </a:spcAft>
                        <a:buNone/>
                      </a:pPr>
                      <a:r>
                        <a:rPr b="1" i="0" lang="es" sz="900" u="none" strike="noStrike">
                          <a:solidFill>
                            <a:schemeClr val="lt2"/>
                          </a:solidFill>
                          <a:latin typeface="EB Garamond"/>
                          <a:ea typeface="EB Garamond"/>
                          <a:cs typeface="EB Garamond"/>
                          <a:sym typeface="EB Garamond"/>
                        </a:rPr>
                        <a:t>Indicador y atributo</a:t>
                      </a:r>
                      <a:endParaRPr>
                        <a:solidFill>
                          <a:schemeClr val="lt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c>
                  <a:txBody>
                    <a:bodyPr/>
                    <a:lstStyle/>
                    <a:p>
                      <a:pPr indent="0" lvl="0" marL="0" marR="0" rtl="0" algn="ctr">
                        <a:spcBef>
                          <a:spcPts val="0"/>
                        </a:spcBef>
                        <a:spcAft>
                          <a:spcPts val="0"/>
                        </a:spcAft>
                        <a:buNone/>
                      </a:pPr>
                      <a:r>
                        <a:rPr b="1" i="0" lang="es" sz="900" u="none" strike="noStrike">
                          <a:solidFill>
                            <a:schemeClr val="lt2"/>
                          </a:solidFill>
                          <a:latin typeface="EB Garamond"/>
                          <a:ea typeface="EB Garamond"/>
                          <a:cs typeface="EB Garamond"/>
                          <a:sym typeface="EB Garamond"/>
                        </a:rPr>
                        <a:t>Variable/Pregunta y atributo</a:t>
                      </a:r>
                      <a:endParaRPr>
                        <a:solidFill>
                          <a:schemeClr val="lt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accent5"/>
                    </a:solidFill>
                  </a:tcPr>
                </a:tc>
              </a:tr>
              <a:tr h="1327350">
                <a:tc>
                  <a:txBody>
                    <a:bodyPr/>
                    <a:lstStyle/>
                    <a:p>
                      <a:pPr indent="0" lvl="0" marL="0" marR="0" rtl="0" algn="ctr">
                        <a:spcBef>
                          <a:spcPts val="0"/>
                        </a:spcBef>
                        <a:spcAft>
                          <a:spcPts val="0"/>
                        </a:spcAft>
                        <a:buNone/>
                      </a:pPr>
                      <a:r>
                        <a:rPr b="1" i="0" lang="es" sz="900" u="none" strike="noStrike">
                          <a:solidFill>
                            <a:schemeClr val="dk2"/>
                          </a:solidFill>
                          <a:latin typeface="EB Garamond"/>
                          <a:ea typeface="EB Garamond"/>
                          <a:cs typeface="EB Garamond"/>
                          <a:sym typeface="EB Garamond"/>
                        </a:rPr>
                        <a:t>Contexto de pandemia: </a:t>
                      </a:r>
                      <a:r>
                        <a:rPr i="0" lang="es" sz="900" u="none" strike="noStrike">
                          <a:solidFill>
                            <a:schemeClr val="dk2"/>
                          </a:solidFill>
                          <a:latin typeface="EB Garamond"/>
                          <a:ea typeface="EB Garamond"/>
                          <a:cs typeface="EB Garamond"/>
                          <a:sym typeface="EB Garamond"/>
                        </a:rPr>
                        <a:t>momento histórico donde  la crisis sanitaria cambia las condiciones de vida.</a:t>
                      </a:r>
                      <a:endParaRPr>
                        <a:solidFill>
                          <a:schemeClr val="dk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rPr b="1" i="0" lang="es" sz="900" u="none" strike="noStrike">
                          <a:solidFill>
                            <a:schemeClr val="dk2"/>
                          </a:solidFill>
                          <a:latin typeface="EB Garamond"/>
                          <a:ea typeface="EB Garamond"/>
                          <a:cs typeface="EB Garamond"/>
                          <a:sym typeface="EB Garamond"/>
                        </a:rPr>
                        <a:t>Presencia de pandemia</a:t>
                      </a:r>
                      <a:endParaRPr>
                        <a:solidFill>
                          <a:schemeClr val="dk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rPr b="1" i="0" lang="es" sz="900" u="none" strike="noStrike">
                          <a:solidFill>
                            <a:schemeClr val="dk2"/>
                          </a:solidFill>
                          <a:latin typeface="EB Garamond"/>
                          <a:ea typeface="EB Garamond"/>
                          <a:cs typeface="EB Garamond"/>
                          <a:sym typeface="EB Garamond"/>
                        </a:rPr>
                        <a:t>Presencia de pandemia</a:t>
                      </a:r>
                      <a:r>
                        <a:rPr i="0" lang="es" sz="900" u="none" strike="noStrike">
                          <a:solidFill>
                            <a:schemeClr val="dk2"/>
                          </a:solidFill>
                          <a:latin typeface="EB Garamond"/>
                          <a:ea typeface="EB Garamond"/>
                          <a:cs typeface="EB Garamond"/>
                          <a:sym typeface="EB Garamond"/>
                        </a:rPr>
                        <a:t>: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(1) Presencia de pandemia;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(2) No presencia de pandemia</a:t>
                      </a:r>
                      <a:endParaRPr>
                        <a:solidFill>
                          <a:schemeClr val="dk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Presencia de pandemia (año 2020);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No presencia de pandemia (año 2019)</a:t>
                      </a:r>
                      <a:endParaRPr>
                        <a:solidFill>
                          <a:schemeClr val="dk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AD5D4"/>
                    </a:solidFill>
                  </a:tcPr>
                </a:tc>
              </a:tr>
              <a:tr h="852000">
                <a:tc rowSpan="3">
                  <a:txBody>
                    <a:bodyPr/>
                    <a:lstStyle/>
                    <a:p>
                      <a:pPr indent="0" lvl="0" marL="0" marR="0" rtl="0" algn="ctr">
                        <a:spcBef>
                          <a:spcPts val="0"/>
                        </a:spcBef>
                        <a:spcAft>
                          <a:spcPts val="0"/>
                        </a:spcAft>
                        <a:buNone/>
                      </a:pPr>
                      <a:r>
                        <a:rPr b="1" i="0" lang="es" sz="900" u="none" strike="noStrike">
                          <a:solidFill>
                            <a:schemeClr val="dk2"/>
                          </a:solidFill>
                          <a:latin typeface="EB Garamond"/>
                          <a:ea typeface="EB Garamond"/>
                          <a:cs typeface="EB Garamond"/>
                          <a:sym typeface="EB Garamond"/>
                        </a:rPr>
                        <a:t>Violencia intrafamiliar:</a:t>
                      </a:r>
                      <a:r>
                        <a:rPr i="0" lang="es" sz="900" u="none" strike="noStrike">
                          <a:solidFill>
                            <a:schemeClr val="dk2"/>
                          </a:solidFill>
                          <a:latin typeface="EB Garamond"/>
                          <a:ea typeface="EB Garamond"/>
                          <a:cs typeface="EB Garamond"/>
                          <a:sym typeface="EB Garamond"/>
                        </a:rPr>
                        <a:t> La violencia doméstica abarca la totalidad de situaciones que pueden violentar y hacer daño a cualquier miembro integrante de una familia dentro de un hogar, donde cualquiera puede dañar o ser dañado. (Madeline, Mercedes, Hernández, Margarita, &amp; Presno, 2011)</a:t>
                      </a:r>
                      <a:endParaRPr b="1" i="0" sz="900" u="none" strike="noStrike">
                        <a:solidFill>
                          <a:schemeClr val="dk2"/>
                        </a:solidFill>
                        <a:latin typeface="EB Garamond"/>
                        <a:ea typeface="EB Garamond"/>
                        <a:cs typeface="EB Garamond"/>
                        <a:sym typeface="EB Garamond"/>
                      </a:endParaRPr>
                    </a:p>
                  </a:txBody>
                  <a:tcPr marT="5450" marB="0" marR="5450" marL="54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DEDED"/>
                    </a:solidFill>
                  </a:tcPr>
                </a:tc>
                <a:tc>
                  <a:txBody>
                    <a:bodyPr/>
                    <a:lstStyle/>
                    <a:p>
                      <a:pPr indent="0" lvl="0" marL="0" marR="0" rtl="0" algn="l">
                        <a:spcBef>
                          <a:spcPts val="0"/>
                        </a:spcBef>
                        <a:spcAft>
                          <a:spcPts val="0"/>
                        </a:spcAft>
                        <a:buNone/>
                      </a:pPr>
                      <a:r>
                        <a:rPr b="1" i="0" lang="es" sz="900" u="none" strike="noStrike">
                          <a:solidFill>
                            <a:schemeClr val="dk2"/>
                          </a:solidFill>
                          <a:latin typeface="EB Garamond"/>
                          <a:ea typeface="EB Garamond"/>
                          <a:cs typeface="EB Garamond"/>
                          <a:sym typeface="EB Garamond"/>
                        </a:rPr>
                        <a:t>Violencia física: </a:t>
                      </a:r>
                      <a:r>
                        <a:rPr i="0" lang="es" sz="900" u="none" strike="noStrike">
                          <a:solidFill>
                            <a:schemeClr val="dk2"/>
                          </a:solidFill>
                          <a:latin typeface="EB Garamond"/>
                          <a:ea typeface="EB Garamond"/>
                          <a:cs typeface="EB Garamond"/>
                          <a:sym typeface="EB Garamond"/>
                        </a:rPr>
                        <a:t>Cuando alguno de los integrantes del hogar hace uso intencional de la fuerza física con intención de causar daños tanto graves como leves (DESUC, 2014)</a:t>
                      </a:r>
                      <a:endParaRPr b="1" i="0" sz="900" u="none" strike="noStrike">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Presencia de violencia física: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(1) Presenta;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(2) No presenta</a:t>
                      </a:r>
                      <a:endParaRPr>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¿Durante los últimos 12 meses usted fue víctima de alguna lesión? Si; No</a:t>
                      </a:r>
                      <a:endParaRPr>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923325">
                <a:tc vMerge="1"/>
                <a:tc>
                  <a:txBody>
                    <a:bodyPr/>
                    <a:lstStyle/>
                    <a:p>
                      <a:pPr indent="0" lvl="0" marL="0" marR="0" rtl="0" algn="l">
                        <a:spcBef>
                          <a:spcPts val="0"/>
                        </a:spcBef>
                        <a:spcAft>
                          <a:spcPts val="0"/>
                        </a:spcAft>
                        <a:buNone/>
                      </a:pPr>
                      <a:r>
                        <a:rPr b="1" i="0" lang="es" sz="900" u="none" strike="noStrike">
                          <a:solidFill>
                            <a:schemeClr val="dk2"/>
                          </a:solidFill>
                          <a:latin typeface="EB Garamond"/>
                          <a:ea typeface="EB Garamond"/>
                          <a:cs typeface="EB Garamond"/>
                          <a:sym typeface="EB Garamond"/>
                        </a:rPr>
                        <a:t>Violencia psicológica: </a:t>
                      </a:r>
                      <a:r>
                        <a:rPr i="0" lang="es" sz="900" u="none" strike="noStrike">
                          <a:solidFill>
                            <a:schemeClr val="dk2"/>
                          </a:solidFill>
                          <a:latin typeface="EB Garamond"/>
                          <a:ea typeface="EB Garamond"/>
                          <a:cs typeface="EB Garamond"/>
                          <a:sym typeface="EB Garamond"/>
                        </a:rPr>
                        <a:t>Cualquier acto u omisión que puede dañar el autoestima, identidad o el desarrollo de alguno de los integrantes. (DESUC, 2014)</a:t>
                      </a:r>
                      <a:endParaRPr b="1" i="0" sz="900" u="none" strike="noStrike">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Presencia de violencia psicológica: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(1) Presenta;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(2) No presenta</a:t>
                      </a:r>
                      <a:endParaRPr>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Pensando en los últimos doce meses ¿Cuántas veces le ha sucedido esto? Insulto, menospecio o humillación, control de vida, etc. (Batería de preguntas con frecuencia "Solo una vez a Todos los días)</a:t>
                      </a:r>
                      <a:endParaRPr>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r h="1076200">
                <a:tc vMerge="1"/>
                <a:tc>
                  <a:txBody>
                    <a:bodyPr/>
                    <a:lstStyle/>
                    <a:p>
                      <a:pPr indent="0" lvl="0" marL="0" marR="0" rtl="0" algn="l">
                        <a:spcBef>
                          <a:spcPts val="0"/>
                        </a:spcBef>
                        <a:spcAft>
                          <a:spcPts val="0"/>
                        </a:spcAft>
                        <a:buNone/>
                      </a:pPr>
                      <a:r>
                        <a:rPr b="1" i="0" lang="es" sz="900" u="none" strike="noStrike">
                          <a:solidFill>
                            <a:schemeClr val="dk2"/>
                          </a:solidFill>
                          <a:latin typeface="EB Garamond"/>
                          <a:ea typeface="EB Garamond"/>
                          <a:cs typeface="EB Garamond"/>
                          <a:sym typeface="EB Garamond"/>
                        </a:rPr>
                        <a:t>Violencia sexual: </a:t>
                      </a:r>
                      <a:r>
                        <a:rPr i="0" lang="es" sz="900" u="none" strike="noStrike">
                          <a:solidFill>
                            <a:schemeClr val="dk2"/>
                          </a:solidFill>
                          <a:latin typeface="EB Garamond"/>
                          <a:ea typeface="EB Garamond"/>
                          <a:cs typeface="EB Garamond"/>
                          <a:sym typeface="EB Garamond"/>
                        </a:rPr>
                        <a:t>En una relación de poder donde se hace uso de la fuerza, coerción, miedo o intimidación para realizar un acto sexual en contra de la voluntad de un integrante familiar para realizar algo degradante y humillante. (DESUC, 2014; SERNAM, 2009).</a:t>
                      </a:r>
                      <a:endParaRPr b="1" i="0" sz="900" u="none" strike="noStrike">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Presencia de violencia sexual: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(1) Presenta; </a:t>
                      </a:r>
                      <a:endParaRPr i="0" sz="900" u="none" strike="noStrike">
                        <a:solidFill>
                          <a:schemeClr val="dk2"/>
                        </a:solidFill>
                        <a:latin typeface="EB Garamond"/>
                        <a:ea typeface="EB Garamond"/>
                        <a:cs typeface="EB Garamond"/>
                        <a:sym typeface="EB Garamond"/>
                      </a:endParaRPr>
                    </a:p>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(2) No presenta</a:t>
                      </a:r>
                      <a:endParaRPr>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i="0" lang="es" sz="900" u="none" strike="noStrike">
                          <a:solidFill>
                            <a:schemeClr val="dk2"/>
                          </a:solidFill>
                          <a:latin typeface="EB Garamond"/>
                          <a:ea typeface="EB Garamond"/>
                          <a:cs typeface="EB Garamond"/>
                          <a:sym typeface="EB Garamond"/>
                        </a:rPr>
                        <a:t>Pensando en los últimos doce meses ¿Cuántas veces le ha sucedido esto? obligación a tener relaciones sexuales, forzado físicamente a tener relaciones, etc. (Batería de preguntas con frecuencia "Solo una vez a Todos los días)</a:t>
                      </a:r>
                      <a:endParaRPr>
                        <a:solidFill>
                          <a:schemeClr val="dk2"/>
                        </a:solidFill>
                        <a:latin typeface="EB Garamond"/>
                        <a:ea typeface="EB Garamond"/>
                        <a:cs typeface="EB Garamond"/>
                        <a:sym typeface="EB Garamond"/>
                      </a:endParaRPr>
                    </a:p>
                  </a:txBody>
                  <a:tcPr marT="5450" marB="0" marR="5450" marL="5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375" name="Shape 375"/>
        <p:cNvGrpSpPr/>
        <p:nvPr/>
      </p:nvGrpSpPr>
      <p:grpSpPr>
        <a:xfrm>
          <a:off x="0" y="0"/>
          <a:ext cx="0" cy="0"/>
          <a:chOff x="0" y="0"/>
          <a:chExt cx="0" cy="0"/>
        </a:xfrm>
      </p:grpSpPr>
      <p:sp>
        <p:nvSpPr>
          <p:cNvPr id="376" name="Google Shape;376;p4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457200" rtl="0" algn="ctr">
              <a:spcBef>
                <a:spcPts val="0"/>
              </a:spcBef>
              <a:spcAft>
                <a:spcPts val="0"/>
              </a:spcAft>
              <a:buClr>
                <a:schemeClr val="dk1"/>
              </a:buClr>
              <a:buSzPct val="30556"/>
              <a:buFont typeface="Arial"/>
              <a:buNone/>
            </a:pPr>
            <a:r>
              <a:rPr lang="es">
                <a:solidFill>
                  <a:schemeClr val="lt2"/>
                </a:solidFill>
                <a:latin typeface="EB Garamond"/>
                <a:ea typeface="EB Garamond"/>
                <a:cs typeface="EB Garamond"/>
                <a:sym typeface="EB Garamond"/>
              </a:rPr>
              <a:t>I.4. Conceptualización de variables e indicadores y operacionalización</a:t>
            </a:r>
            <a:endParaRPr>
              <a:solidFill>
                <a:schemeClr val="lt2"/>
              </a:solidFill>
              <a:latin typeface="EB Garamond"/>
              <a:ea typeface="EB Garamond"/>
              <a:cs typeface="EB Garamond"/>
              <a:sym typeface="EB Garamond"/>
            </a:endParaRPr>
          </a:p>
          <a:p>
            <a:pPr indent="0" lvl="0" marL="457200" rtl="0" algn="ctr">
              <a:spcBef>
                <a:spcPts val="0"/>
              </a:spcBef>
              <a:spcAft>
                <a:spcPts val="0"/>
              </a:spcAft>
              <a:buClr>
                <a:schemeClr val="dk1"/>
              </a:buClr>
              <a:buSzPct val="30556"/>
              <a:buFont typeface="Arial"/>
              <a:buNone/>
            </a:pPr>
            <a:r>
              <a:t/>
            </a:r>
            <a:endParaRPr>
              <a:solidFill>
                <a:schemeClr val="lt2"/>
              </a:solidFill>
              <a:latin typeface="EB Garamond"/>
              <a:ea typeface="EB Garamond"/>
              <a:cs typeface="EB Garamond"/>
              <a:sym typeface="EB Garamond"/>
            </a:endParaRPr>
          </a:p>
          <a:p>
            <a:pPr indent="0" lvl="0" marL="457200" rtl="0" algn="ctr">
              <a:spcBef>
                <a:spcPts val="0"/>
              </a:spcBef>
              <a:spcAft>
                <a:spcPts val="0"/>
              </a:spcAft>
              <a:buNone/>
            </a:pPr>
            <a:r>
              <a:rPr lang="es" sz="3267">
                <a:solidFill>
                  <a:schemeClr val="lt2"/>
                </a:solidFill>
                <a:latin typeface="EB Garamond"/>
                <a:ea typeface="EB Garamond"/>
                <a:cs typeface="EB Garamond"/>
                <a:sym typeface="EB Garamond"/>
              </a:rPr>
              <a:t>I.4.3. Tipos de variables y niveles de medición</a:t>
            </a:r>
            <a:endParaRPr sz="3267">
              <a:solidFill>
                <a:schemeClr val="lt2"/>
              </a:solidFill>
              <a:latin typeface="EB Garamond"/>
              <a:ea typeface="EB Garamond"/>
              <a:cs typeface="EB Garamond"/>
              <a:sym typeface="EB Garamond"/>
            </a:endParaRPr>
          </a:p>
        </p:txBody>
      </p:sp>
      <p:sp>
        <p:nvSpPr>
          <p:cNvPr id="377" name="Google Shape;37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¿Qué es una variable?</a:t>
            </a:r>
            <a:endParaRPr b="1">
              <a:latin typeface="EB Garamond"/>
              <a:ea typeface="EB Garamond"/>
              <a:cs typeface="EB Garamond"/>
              <a:sym typeface="EB Garamond"/>
            </a:endParaRPr>
          </a:p>
        </p:txBody>
      </p:sp>
      <p:sp>
        <p:nvSpPr>
          <p:cNvPr id="383" name="Google Shape;383;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84" name="Google Shape;384;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lnSpc>
                <a:spcPct val="100000"/>
              </a:lnSpc>
              <a:spcBef>
                <a:spcPts val="0"/>
              </a:spcBef>
              <a:spcAft>
                <a:spcPts val="0"/>
              </a:spcAft>
              <a:buNone/>
            </a:pPr>
            <a:r>
              <a:t/>
            </a:r>
            <a:endParaRPr>
              <a:latin typeface="EB Garamond"/>
              <a:ea typeface="EB Garamond"/>
              <a:cs typeface="EB Garamond"/>
              <a:sym typeface="EB Garamond"/>
            </a:endParaRPr>
          </a:p>
          <a:p>
            <a:pPr indent="-457200" lvl="0" marL="457200" rtl="0" algn="l">
              <a:lnSpc>
                <a:spcPct val="100000"/>
              </a:lnSpc>
              <a:spcBef>
                <a:spcPts val="1000"/>
              </a:spcBef>
              <a:spcAft>
                <a:spcPts val="0"/>
              </a:spcAft>
              <a:buClr>
                <a:schemeClr val="dk2"/>
              </a:buClr>
              <a:buSzPts val="1800"/>
              <a:buFont typeface="EB Garamond"/>
              <a:buChar char="✔"/>
            </a:pPr>
            <a:r>
              <a:rPr lang="es">
                <a:latin typeface="EB Garamond"/>
                <a:ea typeface="EB Garamond"/>
                <a:cs typeface="EB Garamond"/>
                <a:sym typeface="EB Garamond"/>
              </a:rPr>
              <a:t>Es una </a:t>
            </a:r>
            <a:r>
              <a:rPr lang="es">
                <a:highlight>
                  <a:srgbClr val="FDBF41"/>
                </a:highlight>
                <a:latin typeface="EB Garamond"/>
                <a:ea typeface="EB Garamond"/>
                <a:cs typeface="EB Garamond"/>
                <a:sym typeface="EB Garamond"/>
              </a:rPr>
              <a:t>característica</a:t>
            </a:r>
            <a:r>
              <a:rPr lang="es">
                <a:latin typeface="EB Garamond"/>
                <a:ea typeface="EB Garamond"/>
                <a:cs typeface="EB Garamond"/>
                <a:sym typeface="EB Garamond"/>
              </a:rPr>
              <a:t>, que puede fluctuar y cuya variación puede adoptar diferentes valores.</a:t>
            </a:r>
            <a:endParaRPr>
              <a:latin typeface="EB Garamond"/>
              <a:ea typeface="EB Garamond"/>
              <a:cs typeface="EB Garamond"/>
              <a:sym typeface="EB Garamond"/>
            </a:endParaRPr>
          </a:p>
          <a:p>
            <a:pPr indent="-457200" lvl="0" marL="457200" rtl="0" algn="l">
              <a:lnSpc>
                <a:spcPct val="100000"/>
              </a:lnSpc>
              <a:spcBef>
                <a:spcPts val="1000"/>
              </a:spcBef>
              <a:spcAft>
                <a:spcPts val="0"/>
              </a:spcAft>
              <a:buClr>
                <a:schemeClr val="dk2"/>
              </a:buClr>
              <a:buSzPts val="1800"/>
              <a:buFont typeface="EB Garamond"/>
              <a:buChar char="✔"/>
            </a:pPr>
            <a:r>
              <a:rPr lang="es">
                <a:latin typeface="EB Garamond"/>
                <a:ea typeface="EB Garamond"/>
                <a:cs typeface="EB Garamond"/>
                <a:sym typeface="EB Garamond"/>
              </a:rPr>
              <a:t>La </a:t>
            </a:r>
            <a:r>
              <a:rPr lang="es">
                <a:highlight>
                  <a:srgbClr val="FDBF41"/>
                </a:highlight>
                <a:latin typeface="EB Garamond"/>
                <a:ea typeface="EB Garamond"/>
                <a:cs typeface="EB Garamond"/>
                <a:sym typeface="EB Garamond"/>
              </a:rPr>
              <a:t>variación</a:t>
            </a:r>
            <a:r>
              <a:rPr lang="es">
                <a:latin typeface="EB Garamond"/>
                <a:ea typeface="EB Garamond"/>
                <a:cs typeface="EB Garamond"/>
                <a:sym typeface="EB Garamond"/>
              </a:rPr>
              <a:t> tiene que ser susceptible de </a:t>
            </a:r>
            <a:r>
              <a:rPr lang="es">
                <a:highlight>
                  <a:srgbClr val="FDBF41"/>
                </a:highlight>
                <a:latin typeface="EB Garamond"/>
                <a:ea typeface="EB Garamond"/>
                <a:cs typeface="EB Garamond"/>
                <a:sym typeface="EB Garamond"/>
              </a:rPr>
              <a:t>medirse</a:t>
            </a:r>
            <a:r>
              <a:rPr lang="es">
                <a:latin typeface="EB Garamond"/>
                <a:ea typeface="EB Garamond"/>
                <a:cs typeface="EB Garamond"/>
                <a:sym typeface="EB Garamond"/>
              </a:rPr>
              <a:t>/evaluarse.</a:t>
            </a:r>
            <a:endParaRPr>
              <a:latin typeface="EB Garamond"/>
              <a:ea typeface="EB Garamond"/>
              <a:cs typeface="EB Garamond"/>
              <a:sym typeface="EB Garamond"/>
            </a:endParaRPr>
          </a:p>
          <a:p>
            <a:pPr indent="-457200" lvl="0" marL="457200" rtl="0" algn="l">
              <a:lnSpc>
                <a:spcPct val="100000"/>
              </a:lnSpc>
              <a:spcBef>
                <a:spcPts val="1000"/>
              </a:spcBef>
              <a:spcAft>
                <a:spcPts val="0"/>
              </a:spcAft>
              <a:buClr>
                <a:schemeClr val="dk2"/>
              </a:buClr>
              <a:buSzPts val="1800"/>
              <a:buFont typeface="EB Garamond"/>
              <a:buChar char="✔"/>
            </a:pPr>
            <a:r>
              <a:rPr lang="es">
                <a:latin typeface="EB Garamond"/>
                <a:ea typeface="EB Garamond"/>
                <a:cs typeface="EB Garamond"/>
                <a:sym typeface="EB Garamond"/>
              </a:rPr>
              <a:t>El concepto de variable se aplica a </a:t>
            </a:r>
            <a:r>
              <a:rPr lang="es">
                <a:highlight>
                  <a:srgbClr val="FDBF41"/>
                </a:highlight>
                <a:latin typeface="EB Garamond"/>
                <a:ea typeface="EB Garamond"/>
                <a:cs typeface="EB Garamond"/>
                <a:sym typeface="EB Garamond"/>
              </a:rPr>
              <a:t>personas, seres vivos, objetos, hechos y fenómenos.</a:t>
            </a:r>
            <a:endParaRPr>
              <a:latin typeface="EB Garamond"/>
              <a:ea typeface="EB Garamond"/>
              <a:cs typeface="EB Garamond"/>
              <a:sym typeface="EB Garamond"/>
            </a:endParaRPr>
          </a:p>
          <a:p>
            <a:pPr indent="-457200" lvl="0" marL="457200" rtl="0" algn="l">
              <a:lnSpc>
                <a:spcPct val="100000"/>
              </a:lnSpc>
              <a:spcBef>
                <a:spcPts val="1000"/>
              </a:spcBef>
              <a:spcAft>
                <a:spcPts val="0"/>
              </a:spcAft>
              <a:buClr>
                <a:schemeClr val="dk2"/>
              </a:buClr>
              <a:buSzPts val="1800"/>
              <a:buFont typeface="EB Garamond"/>
              <a:buChar char="✔"/>
            </a:pPr>
            <a:r>
              <a:rPr lang="es">
                <a:latin typeface="EB Garamond"/>
                <a:ea typeface="EB Garamond"/>
                <a:cs typeface="EB Garamond"/>
                <a:sym typeface="EB Garamond"/>
              </a:rPr>
              <a:t>Reúne lógicamente </a:t>
            </a:r>
            <a:r>
              <a:rPr lang="es">
                <a:highlight>
                  <a:srgbClr val="FDBF41"/>
                </a:highlight>
                <a:latin typeface="EB Garamond"/>
                <a:ea typeface="EB Garamond"/>
                <a:cs typeface="EB Garamond"/>
                <a:sym typeface="EB Garamond"/>
              </a:rPr>
              <a:t>atributos que son exhaustivos y mutuamente excluyentes.</a:t>
            </a:r>
            <a:endParaRPr>
              <a:latin typeface="EB Garamond"/>
              <a:ea typeface="EB Garamond"/>
              <a:cs typeface="EB Garamond"/>
              <a:sym typeface="EB Garamond"/>
            </a:endParaRPr>
          </a:p>
          <a:p>
            <a:pPr indent="-457200" lvl="0" marL="457200" rtl="0" algn="l">
              <a:lnSpc>
                <a:spcPct val="100000"/>
              </a:lnSpc>
              <a:spcBef>
                <a:spcPts val="1000"/>
              </a:spcBef>
              <a:spcAft>
                <a:spcPts val="1000"/>
              </a:spcAft>
              <a:buClr>
                <a:schemeClr val="dk2"/>
              </a:buClr>
              <a:buSzPts val="1800"/>
              <a:buFont typeface="EB Garamond"/>
              <a:buChar char="✔"/>
            </a:pPr>
            <a:r>
              <a:rPr lang="es">
                <a:latin typeface="EB Garamond"/>
                <a:ea typeface="EB Garamond"/>
                <a:cs typeface="EB Garamond"/>
                <a:sym typeface="EB Garamond"/>
              </a:rPr>
              <a:t>Los atributos son </a:t>
            </a:r>
            <a:r>
              <a:rPr lang="es">
                <a:highlight>
                  <a:srgbClr val="FDBF41"/>
                </a:highlight>
                <a:latin typeface="EB Garamond"/>
                <a:ea typeface="EB Garamond"/>
                <a:cs typeface="EB Garamond"/>
                <a:sym typeface="EB Garamond"/>
              </a:rPr>
              <a:t>cualidades o características que describen</a:t>
            </a:r>
            <a:r>
              <a:rPr lang="es">
                <a:latin typeface="EB Garamond"/>
                <a:ea typeface="EB Garamond"/>
                <a:cs typeface="EB Garamond"/>
                <a:sym typeface="EB Garamond"/>
              </a:rPr>
              <a:t> un objeto o individuo.</a:t>
            </a:r>
            <a:endParaRPr>
              <a:latin typeface="EB Garamond"/>
              <a:ea typeface="EB Garamond"/>
              <a:cs typeface="EB Garamond"/>
              <a:sym typeface="EB Garamo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Mundo de las variables</a:t>
            </a:r>
            <a:endParaRPr b="1">
              <a:latin typeface="EB Garamond"/>
              <a:ea typeface="EB Garamond"/>
              <a:cs typeface="EB Garamond"/>
              <a:sym typeface="EB Garamond"/>
            </a:endParaRPr>
          </a:p>
        </p:txBody>
      </p:sp>
      <p:sp>
        <p:nvSpPr>
          <p:cNvPr id="390" name="Google Shape;39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91" name="Google Shape;391;p46"/>
          <p:cNvSpPr/>
          <p:nvPr/>
        </p:nvSpPr>
        <p:spPr>
          <a:xfrm>
            <a:off x="508182" y="20070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 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(Categóricas)</a:t>
            </a:r>
            <a:endParaRPr sz="1500">
              <a:solidFill>
                <a:srgbClr val="FFFFFF"/>
              </a:solidFill>
              <a:latin typeface="EB Garamond"/>
              <a:ea typeface="EB Garamond"/>
              <a:cs typeface="EB Garamond"/>
              <a:sym typeface="EB Garamond"/>
            </a:endParaRPr>
          </a:p>
        </p:txBody>
      </p:sp>
      <p:sp>
        <p:nvSpPr>
          <p:cNvPr id="392" name="Google Shape;392;p46"/>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(Numéricas)</a:t>
            </a:r>
            <a:endParaRPr sz="1500">
              <a:solidFill>
                <a:srgbClr val="FFFFFF"/>
              </a:solidFill>
              <a:latin typeface="EB Garamond"/>
              <a:ea typeface="EB Garamond"/>
              <a:cs typeface="EB Garamond"/>
              <a:sym typeface="EB Garamond"/>
            </a:endParaRPr>
          </a:p>
        </p:txBody>
      </p:sp>
      <p:sp>
        <p:nvSpPr>
          <p:cNvPr id="393" name="Google Shape;393;p46"/>
          <p:cNvSpPr/>
          <p:nvPr/>
        </p:nvSpPr>
        <p:spPr>
          <a:xfrm>
            <a:off x="2699481" y="2047942"/>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500">
              <a:latin typeface="EB Garamond"/>
              <a:ea typeface="EB Garamond"/>
              <a:cs typeface="EB Garamond"/>
              <a:sym typeface="EB Garamond"/>
            </a:endParaRPr>
          </a:p>
        </p:txBody>
      </p:sp>
      <p:sp>
        <p:nvSpPr>
          <p:cNvPr id="394" name="Google Shape;394;p46"/>
          <p:cNvSpPr/>
          <p:nvPr/>
        </p:nvSpPr>
        <p:spPr>
          <a:xfrm>
            <a:off x="2699481" y="275862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500">
              <a:latin typeface="EB Garamond"/>
              <a:ea typeface="EB Garamond"/>
              <a:cs typeface="EB Garamond"/>
              <a:sym typeface="EB Garamond"/>
            </a:endParaRPr>
          </a:p>
        </p:txBody>
      </p:sp>
      <p:sp>
        <p:nvSpPr>
          <p:cNvPr id="395" name="Google Shape;395;p46"/>
          <p:cNvSpPr/>
          <p:nvPr/>
        </p:nvSpPr>
        <p:spPr>
          <a:xfrm>
            <a:off x="2699481" y="346931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500">
              <a:latin typeface="EB Garamond"/>
              <a:ea typeface="EB Garamond"/>
              <a:cs typeface="EB Garamond"/>
              <a:sym typeface="EB Garamond"/>
            </a:endParaRPr>
          </a:p>
        </p:txBody>
      </p:sp>
      <p:sp>
        <p:nvSpPr>
          <p:cNvPr id="396" name="Google Shape;396;p46"/>
          <p:cNvSpPr/>
          <p:nvPr/>
        </p:nvSpPr>
        <p:spPr>
          <a:xfrm>
            <a:off x="2699481" y="416602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500">
              <a:latin typeface="EB Garamond"/>
              <a:ea typeface="EB Garamond"/>
              <a:cs typeface="EB Garamond"/>
              <a:sym typeface="EB Garamond"/>
            </a:endParaRPr>
          </a:p>
        </p:txBody>
      </p:sp>
      <p:sp>
        <p:nvSpPr>
          <p:cNvPr id="397" name="Google Shape;397;p46"/>
          <p:cNvSpPr txBox="1"/>
          <p:nvPr/>
        </p:nvSpPr>
        <p:spPr>
          <a:xfrm>
            <a:off x="508174" y="1361250"/>
            <a:ext cx="1917600" cy="323100"/>
          </a:xfrm>
          <a:prstGeom prst="rect">
            <a:avLst/>
          </a:prstGeom>
          <a:solidFill>
            <a:srgbClr val="C27BA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TIPOS</a:t>
            </a:r>
            <a:endParaRPr sz="1500">
              <a:solidFill>
                <a:schemeClr val="dk2"/>
              </a:solidFill>
              <a:latin typeface="EB Garamond"/>
              <a:ea typeface="EB Garamond"/>
              <a:cs typeface="EB Garamond"/>
              <a:sym typeface="EB Garamond"/>
            </a:endParaRPr>
          </a:p>
        </p:txBody>
      </p:sp>
      <p:sp>
        <p:nvSpPr>
          <p:cNvPr id="398" name="Google Shape;398;p46"/>
          <p:cNvSpPr txBox="1"/>
          <p:nvPr/>
        </p:nvSpPr>
        <p:spPr>
          <a:xfrm>
            <a:off x="2699475" y="1361250"/>
            <a:ext cx="1917600" cy="554100"/>
          </a:xfrm>
          <a:prstGeom prst="rect">
            <a:avLst/>
          </a:prstGeom>
          <a:solidFill>
            <a:srgbClr val="AAD5D4"/>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NIVEL DE MEDICIÓN</a:t>
            </a:r>
            <a:endParaRPr sz="1500">
              <a:solidFill>
                <a:schemeClr val="dk2"/>
              </a:solidFill>
              <a:latin typeface="EB Garamond"/>
              <a:ea typeface="EB Garamond"/>
              <a:cs typeface="EB Garamond"/>
              <a:sym typeface="EB Garamond"/>
            </a:endParaRPr>
          </a:p>
        </p:txBody>
      </p:sp>
      <p:sp>
        <p:nvSpPr>
          <p:cNvPr id="399" name="Google Shape;399;p46"/>
          <p:cNvSpPr/>
          <p:nvPr/>
        </p:nvSpPr>
        <p:spPr>
          <a:xfrm>
            <a:off x="6871250" y="2055750"/>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500">
              <a:latin typeface="EB Garamond"/>
              <a:ea typeface="EB Garamond"/>
              <a:cs typeface="EB Garamond"/>
              <a:sym typeface="EB Garamond"/>
            </a:endParaRPr>
          </a:p>
        </p:txBody>
      </p:sp>
      <p:sp>
        <p:nvSpPr>
          <p:cNvPr id="400" name="Google Shape;400;p46"/>
          <p:cNvSpPr/>
          <p:nvPr/>
        </p:nvSpPr>
        <p:spPr>
          <a:xfrm>
            <a:off x="6871249" y="3013767"/>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500">
              <a:latin typeface="EB Garamond"/>
              <a:ea typeface="EB Garamond"/>
              <a:cs typeface="EB Garamond"/>
              <a:sym typeface="EB Garamond"/>
            </a:endParaRPr>
          </a:p>
        </p:txBody>
      </p:sp>
      <p:sp>
        <p:nvSpPr>
          <p:cNvPr id="401" name="Google Shape;401;p46"/>
          <p:cNvSpPr/>
          <p:nvPr/>
        </p:nvSpPr>
        <p:spPr>
          <a:xfrm>
            <a:off x="6871249" y="400417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500">
              <a:latin typeface="EB Garamond"/>
              <a:ea typeface="EB Garamond"/>
              <a:cs typeface="EB Garamond"/>
              <a:sym typeface="EB Garamond"/>
            </a:endParaRPr>
          </a:p>
        </p:txBody>
      </p:sp>
      <p:sp>
        <p:nvSpPr>
          <p:cNvPr id="402" name="Google Shape;402;p46"/>
          <p:cNvSpPr txBox="1"/>
          <p:nvPr/>
        </p:nvSpPr>
        <p:spPr>
          <a:xfrm>
            <a:off x="6871250" y="1361250"/>
            <a:ext cx="1917600" cy="554100"/>
          </a:xfrm>
          <a:prstGeom prst="rect">
            <a:avLst/>
          </a:prstGeom>
          <a:solidFill>
            <a:srgbClr val="A5A5A5"/>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FUNCIÓN EN LA INVESTIGACIÓN</a:t>
            </a:r>
            <a:endParaRPr sz="1500">
              <a:solidFill>
                <a:schemeClr val="dk2"/>
              </a:solidFill>
              <a:latin typeface="EB Garamond"/>
              <a:ea typeface="EB Garamond"/>
              <a:cs typeface="EB Garamond"/>
              <a:sym typeface="EB Garamond"/>
            </a:endParaRPr>
          </a:p>
        </p:txBody>
      </p:sp>
      <p:sp>
        <p:nvSpPr>
          <p:cNvPr id="403" name="Google Shape;403;p46"/>
          <p:cNvSpPr/>
          <p:nvPr/>
        </p:nvSpPr>
        <p:spPr>
          <a:xfrm>
            <a:off x="4801325" y="2774075"/>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Continua</a:t>
            </a:r>
            <a:endParaRPr sz="1500">
              <a:solidFill>
                <a:schemeClr val="dk2"/>
              </a:solidFill>
              <a:latin typeface="EB Garamond"/>
              <a:ea typeface="EB Garamond"/>
              <a:cs typeface="EB Garamond"/>
              <a:sym typeface="EB Garamond"/>
            </a:endParaRPr>
          </a:p>
        </p:txBody>
      </p:sp>
      <p:sp>
        <p:nvSpPr>
          <p:cNvPr id="404" name="Google Shape;404;p46"/>
          <p:cNvSpPr/>
          <p:nvPr/>
        </p:nvSpPr>
        <p:spPr>
          <a:xfrm>
            <a:off x="4801325" y="207045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Discreta</a:t>
            </a:r>
            <a:endParaRPr sz="1500">
              <a:solidFill>
                <a:schemeClr val="dk2"/>
              </a:solidFill>
              <a:latin typeface="EB Garamond"/>
              <a:ea typeface="EB Garamond"/>
              <a:cs typeface="EB Garamond"/>
              <a:sym typeface="EB Garamond"/>
            </a:endParaRPr>
          </a:p>
        </p:txBody>
      </p:sp>
      <p:sp>
        <p:nvSpPr>
          <p:cNvPr id="405" name="Google Shape;405;p46"/>
          <p:cNvSpPr txBox="1"/>
          <p:nvPr/>
        </p:nvSpPr>
        <p:spPr>
          <a:xfrm>
            <a:off x="4801325" y="1361250"/>
            <a:ext cx="1917600" cy="5541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ESCALA DE MEDICIÓN</a:t>
            </a:r>
            <a:endParaRPr sz="1500">
              <a:solidFill>
                <a:schemeClr val="dk2"/>
              </a:solidFill>
              <a:latin typeface="EB Garamond"/>
              <a:ea typeface="EB Garamond"/>
              <a:cs typeface="EB Garamond"/>
              <a:sym typeface="EB Garamo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Mundo de las variables</a:t>
            </a:r>
            <a:endParaRPr b="1">
              <a:latin typeface="EB Garamond"/>
              <a:ea typeface="EB Garamond"/>
              <a:cs typeface="EB Garamond"/>
              <a:sym typeface="EB Garamond"/>
            </a:endParaRPr>
          </a:p>
        </p:txBody>
      </p:sp>
      <p:sp>
        <p:nvSpPr>
          <p:cNvPr id="411" name="Google Shape;411;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12" name="Google Shape;412;p47"/>
          <p:cNvSpPr/>
          <p:nvPr/>
        </p:nvSpPr>
        <p:spPr>
          <a:xfrm>
            <a:off x="508182" y="20070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 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(Categóricas)</a:t>
            </a:r>
            <a:endParaRPr sz="1500">
              <a:solidFill>
                <a:srgbClr val="FFFFFF"/>
              </a:solidFill>
              <a:latin typeface="EB Garamond"/>
              <a:ea typeface="EB Garamond"/>
              <a:cs typeface="EB Garamond"/>
              <a:sym typeface="EB Garamond"/>
            </a:endParaRPr>
          </a:p>
        </p:txBody>
      </p:sp>
      <p:sp>
        <p:nvSpPr>
          <p:cNvPr id="413" name="Google Shape;413;p47"/>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(Numéricas)</a:t>
            </a:r>
            <a:endParaRPr sz="1500">
              <a:solidFill>
                <a:srgbClr val="FFFFFF"/>
              </a:solidFill>
              <a:latin typeface="EB Garamond"/>
              <a:ea typeface="EB Garamond"/>
              <a:cs typeface="EB Garamond"/>
              <a:sym typeface="EB Garamond"/>
            </a:endParaRPr>
          </a:p>
        </p:txBody>
      </p:sp>
      <p:sp>
        <p:nvSpPr>
          <p:cNvPr id="414" name="Google Shape;414;p47"/>
          <p:cNvSpPr/>
          <p:nvPr/>
        </p:nvSpPr>
        <p:spPr>
          <a:xfrm>
            <a:off x="2699481" y="2047942"/>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415" name="Google Shape;415;p47"/>
          <p:cNvSpPr/>
          <p:nvPr/>
        </p:nvSpPr>
        <p:spPr>
          <a:xfrm>
            <a:off x="2699481" y="275862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416" name="Google Shape;416;p47"/>
          <p:cNvSpPr/>
          <p:nvPr/>
        </p:nvSpPr>
        <p:spPr>
          <a:xfrm>
            <a:off x="2699481" y="346931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417" name="Google Shape;417;p47"/>
          <p:cNvSpPr/>
          <p:nvPr/>
        </p:nvSpPr>
        <p:spPr>
          <a:xfrm>
            <a:off x="2699481" y="416602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418" name="Google Shape;418;p47"/>
          <p:cNvSpPr txBox="1"/>
          <p:nvPr/>
        </p:nvSpPr>
        <p:spPr>
          <a:xfrm>
            <a:off x="508174" y="1361250"/>
            <a:ext cx="1917600" cy="323100"/>
          </a:xfrm>
          <a:prstGeom prst="rect">
            <a:avLst/>
          </a:prstGeom>
          <a:solidFill>
            <a:srgbClr val="C27BA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TIPOS</a:t>
            </a:r>
            <a:endParaRPr sz="1100">
              <a:solidFill>
                <a:schemeClr val="dk2"/>
              </a:solidFill>
              <a:latin typeface="EB Garamond"/>
              <a:ea typeface="EB Garamond"/>
              <a:cs typeface="EB Garamond"/>
              <a:sym typeface="EB Garamond"/>
            </a:endParaRPr>
          </a:p>
        </p:txBody>
      </p:sp>
      <p:sp>
        <p:nvSpPr>
          <p:cNvPr id="419" name="Google Shape;419;p47"/>
          <p:cNvSpPr txBox="1"/>
          <p:nvPr/>
        </p:nvSpPr>
        <p:spPr>
          <a:xfrm>
            <a:off x="2699475" y="1361250"/>
            <a:ext cx="1917600" cy="554100"/>
          </a:xfrm>
          <a:prstGeom prst="rect">
            <a:avLst/>
          </a:prstGeom>
          <a:solidFill>
            <a:srgbClr val="AAD5D4"/>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NIVEL DE MEDICIÓN</a:t>
            </a:r>
            <a:endParaRPr sz="1100">
              <a:solidFill>
                <a:schemeClr val="dk2"/>
              </a:solidFill>
              <a:latin typeface="EB Garamond"/>
              <a:ea typeface="EB Garamond"/>
              <a:cs typeface="EB Garamond"/>
              <a:sym typeface="EB Garamond"/>
            </a:endParaRPr>
          </a:p>
        </p:txBody>
      </p:sp>
      <p:sp>
        <p:nvSpPr>
          <p:cNvPr id="420" name="Google Shape;420;p47"/>
          <p:cNvSpPr/>
          <p:nvPr/>
        </p:nvSpPr>
        <p:spPr>
          <a:xfrm>
            <a:off x="6871250" y="2055750"/>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100">
              <a:latin typeface="EB Garamond"/>
              <a:ea typeface="EB Garamond"/>
              <a:cs typeface="EB Garamond"/>
              <a:sym typeface="EB Garamond"/>
            </a:endParaRPr>
          </a:p>
        </p:txBody>
      </p:sp>
      <p:sp>
        <p:nvSpPr>
          <p:cNvPr id="421" name="Google Shape;421;p47"/>
          <p:cNvSpPr/>
          <p:nvPr/>
        </p:nvSpPr>
        <p:spPr>
          <a:xfrm>
            <a:off x="6871249" y="3013767"/>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100">
              <a:latin typeface="EB Garamond"/>
              <a:ea typeface="EB Garamond"/>
              <a:cs typeface="EB Garamond"/>
              <a:sym typeface="EB Garamond"/>
            </a:endParaRPr>
          </a:p>
        </p:txBody>
      </p:sp>
      <p:sp>
        <p:nvSpPr>
          <p:cNvPr id="422" name="Google Shape;422;p47"/>
          <p:cNvSpPr/>
          <p:nvPr/>
        </p:nvSpPr>
        <p:spPr>
          <a:xfrm>
            <a:off x="6871249" y="400417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100">
              <a:latin typeface="EB Garamond"/>
              <a:ea typeface="EB Garamond"/>
              <a:cs typeface="EB Garamond"/>
              <a:sym typeface="EB Garamond"/>
            </a:endParaRPr>
          </a:p>
        </p:txBody>
      </p:sp>
      <p:sp>
        <p:nvSpPr>
          <p:cNvPr id="423" name="Google Shape;423;p47"/>
          <p:cNvSpPr txBox="1"/>
          <p:nvPr/>
        </p:nvSpPr>
        <p:spPr>
          <a:xfrm>
            <a:off x="6871250" y="1361250"/>
            <a:ext cx="1917600" cy="554100"/>
          </a:xfrm>
          <a:prstGeom prst="rect">
            <a:avLst/>
          </a:prstGeom>
          <a:solidFill>
            <a:srgbClr val="A5A5A5"/>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FUNCIÓN EN LA INVESTIGACIÓN</a:t>
            </a:r>
            <a:endParaRPr sz="1100">
              <a:solidFill>
                <a:schemeClr val="dk2"/>
              </a:solidFill>
              <a:latin typeface="EB Garamond"/>
              <a:ea typeface="EB Garamond"/>
              <a:cs typeface="EB Garamond"/>
              <a:sym typeface="EB Garamond"/>
            </a:endParaRPr>
          </a:p>
        </p:txBody>
      </p:sp>
      <p:sp>
        <p:nvSpPr>
          <p:cNvPr id="424" name="Google Shape;424;p47"/>
          <p:cNvSpPr/>
          <p:nvPr/>
        </p:nvSpPr>
        <p:spPr>
          <a:xfrm>
            <a:off x="4801325" y="2774075"/>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Continua</a:t>
            </a:r>
            <a:endParaRPr sz="1100">
              <a:solidFill>
                <a:schemeClr val="dk2"/>
              </a:solidFill>
              <a:latin typeface="EB Garamond"/>
              <a:ea typeface="EB Garamond"/>
              <a:cs typeface="EB Garamond"/>
              <a:sym typeface="EB Garamond"/>
            </a:endParaRPr>
          </a:p>
        </p:txBody>
      </p:sp>
      <p:sp>
        <p:nvSpPr>
          <p:cNvPr id="425" name="Google Shape;425;p47"/>
          <p:cNvSpPr/>
          <p:nvPr/>
        </p:nvSpPr>
        <p:spPr>
          <a:xfrm>
            <a:off x="4801325" y="207045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Discreta</a:t>
            </a:r>
            <a:endParaRPr sz="1100">
              <a:solidFill>
                <a:schemeClr val="dk2"/>
              </a:solidFill>
              <a:latin typeface="EB Garamond"/>
              <a:ea typeface="EB Garamond"/>
              <a:cs typeface="EB Garamond"/>
              <a:sym typeface="EB Garamond"/>
            </a:endParaRPr>
          </a:p>
        </p:txBody>
      </p:sp>
      <p:sp>
        <p:nvSpPr>
          <p:cNvPr id="426" name="Google Shape;426;p47"/>
          <p:cNvSpPr txBox="1"/>
          <p:nvPr/>
        </p:nvSpPr>
        <p:spPr>
          <a:xfrm>
            <a:off x="4801325" y="1361250"/>
            <a:ext cx="1917600" cy="5541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ESCALA DE MEDICIÓN</a:t>
            </a:r>
            <a:endParaRPr sz="1100">
              <a:solidFill>
                <a:schemeClr val="dk2"/>
              </a:solidFill>
              <a:latin typeface="EB Garamond"/>
              <a:ea typeface="EB Garamond"/>
              <a:cs typeface="EB Garamond"/>
              <a:sym typeface="EB Garamond"/>
            </a:endParaRPr>
          </a:p>
        </p:txBody>
      </p:sp>
      <p:sp>
        <p:nvSpPr>
          <p:cNvPr id="427" name="Google Shape;427;p47"/>
          <p:cNvSpPr/>
          <p:nvPr/>
        </p:nvSpPr>
        <p:spPr>
          <a:xfrm>
            <a:off x="2652475" y="1191925"/>
            <a:ext cx="6218100" cy="35583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Tipos de variables</a:t>
            </a:r>
            <a:endParaRPr b="1">
              <a:latin typeface="EB Garamond"/>
              <a:ea typeface="EB Garamond"/>
              <a:cs typeface="EB Garamond"/>
              <a:sym typeface="EB Garamond"/>
            </a:endParaRPr>
          </a:p>
        </p:txBody>
      </p:sp>
      <p:sp>
        <p:nvSpPr>
          <p:cNvPr id="433" name="Google Shape;43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34" name="Google Shape;434;p48"/>
          <p:cNvSpPr/>
          <p:nvPr/>
        </p:nvSpPr>
        <p:spPr>
          <a:xfrm>
            <a:off x="292100" y="1268016"/>
            <a:ext cx="8382000" cy="1818000"/>
          </a:xfrm>
          <a:prstGeom prst="roundRect">
            <a:avLst>
              <a:gd fmla="val 16667" name="adj"/>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EB Garamond"/>
              <a:ea typeface="EB Garamond"/>
              <a:cs typeface="EB Garamond"/>
              <a:sym typeface="EB Garamond"/>
            </a:endParaRPr>
          </a:p>
        </p:txBody>
      </p:sp>
      <p:sp>
        <p:nvSpPr>
          <p:cNvPr id="435" name="Google Shape;435;p48"/>
          <p:cNvSpPr/>
          <p:nvPr/>
        </p:nvSpPr>
        <p:spPr>
          <a:xfrm>
            <a:off x="508182" y="15625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rgbClr val="FFFFFF"/>
                </a:solidFill>
                <a:latin typeface="EB Garamond"/>
                <a:ea typeface="EB Garamond"/>
                <a:cs typeface="EB Garamond"/>
                <a:sym typeface="EB Garamond"/>
              </a:rPr>
              <a:t>No métricas </a:t>
            </a:r>
            <a:endParaRPr>
              <a:latin typeface="EB Garamond"/>
              <a:ea typeface="EB Garamond"/>
              <a:cs typeface="EB Garamond"/>
              <a:sym typeface="EB Garamond"/>
            </a:endParaRPr>
          </a:p>
          <a:p>
            <a:pPr indent="0" lvl="0" marL="0" marR="0" rtl="0" algn="ctr">
              <a:spcBef>
                <a:spcPts val="0"/>
              </a:spcBef>
              <a:spcAft>
                <a:spcPts val="0"/>
              </a:spcAft>
              <a:buNone/>
            </a:pPr>
            <a:r>
              <a:rPr lang="es" sz="1400">
                <a:solidFill>
                  <a:srgbClr val="FFFFFF"/>
                </a:solidFill>
                <a:latin typeface="EB Garamond"/>
                <a:ea typeface="EB Garamond"/>
                <a:cs typeface="EB Garamond"/>
                <a:sym typeface="EB Garamond"/>
              </a:rPr>
              <a:t>(Categórica)</a:t>
            </a:r>
            <a:endParaRPr>
              <a:latin typeface="EB Garamond"/>
              <a:ea typeface="EB Garamond"/>
              <a:cs typeface="EB Garamond"/>
              <a:sym typeface="EB Garamond"/>
            </a:endParaRPr>
          </a:p>
        </p:txBody>
      </p:sp>
      <p:sp>
        <p:nvSpPr>
          <p:cNvPr id="436" name="Google Shape;436;p48"/>
          <p:cNvSpPr/>
          <p:nvPr/>
        </p:nvSpPr>
        <p:spPr>
          <a:xfrm>
            <a:off x="292100" y="3086100"/>
            <a:ext cx="8382000" cy="1818000"/>
          </a:xfrm>
          <a:prstGeom prst="roundRect">
            <a:avLst>
              <a:gd fmla="val 16667" name="adj"/>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EB Garamond"/>
              <a:ea typeface="EB Garamond"/>
              <a:cs typeface="EB Garamond"/>
              <a:sym typeface="EB Garamond"/>
            </a:endParaRPr>
          </a:p>
        </p:txBody>
      </p:sp>
      <p:sp>
        <p:nvSpPr>
          <p:cNvPr id="437" name="Google Shape;437;p48"/>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rgbClr val="FFFFFF"/>
                </a:solidFill>
                <a:latin typeface="EB Garamond"/>
                <a:ea typeface="EB Garamond"/>
                <a:cs typeface="EB Garamond"/>
                <a:sym typeface="EB Garamond"/>
              </a:rPr>
              <a:t>Métricas</a:t>
            </a:r>
            <a:endParaRPr>
              <a:latin typeface="EB Garamond"/>
              <a:ea typeface="EB Garamond"/>
              <a:cs typeface="EB Garamond"/>
              <a:sym typeface="EB Garamond"/>
            </a:endParaRPr>
          </a:p>
          <a:p>
            <a:pPr indent="0" lvl="0" marL="0" marR="0" rtl="0" algn="ctr">
              <a:spcBef>
                <a:spcPts val="0"/>
              </a:spcBef>
              <a:spcAft>
                <a:spcPts val="0"/>
              </a:spcAft>
              <a:buNone/>
            </a:pPr>
            <a:r>
              <a:rPr lang="es" sz="1400">
                <a:solidFill>
                  <a:srgbClr val="FFFFFF"/>
                </a:solidFill>
                <a:latin typeface="EB Garamond"/>
                <a:ea typeface="EB Garamond"/>
                <a:cs typeface="EB Garamond"/>
                <a:sym typeface="EB Garamond"/>
              </a:rPr>
              <a:t>(</a:t>
            </a:r>
            <a:r>
              <a:rPr lang="es">
                <a:solidFill>
                  <a:srgbClr val="FFFFFF"/>
                </a:solidFill>
                <a:latin typeface="EB Garamond"/>
                <a:ea typeface="EB Garamond"/>
                <a:cs typeface="EB Garamond"/>
                <a:sym typeface="EB Garamond"/>
              </a:rPr>
              <a:t>Numéricas</a:t>
            </a:r>
            <a:r>
              <a:rPr lang="es" sz="1400">
                <a:solidFill>
                  <a:srgbClr val="FFFFFF"/>
                </a:solidFill>
                <a:latin typeface="EB Garamond"/>
                <a:ea typeface="EB Garamond"/>
                <a:cs typeface="EB Garamond"/>
                <a:sym typeface="EB Garamond"/>
              </a:rPr>
              <a:t>)</a:t>
            </a:r>
            <a:endParaRPr>
              <a:latin typeface="EB Garamond"/>
              <a:ea typeface="EB Garamond"/>
              <a:cs typeface="EB Garamond"/>
              <a:sym typeface="EB Garamond"/>
            </a:endParaRPr>
          </a:p>
        </p:txBody>
      </p:sp>
      <p:sp>
        <p:nvSpPr>
          <p:cNvPr id="438" name="Google Shape;438;p48"/>
          <p:cNvSpPr txBox="1"/>
          <p:nvPr/>
        </p:nvSpPr>
        <p:spPr>
          <a:xfrm>
            <a:off x="3009901" y="1562571"/>
            <a:ext cx="25401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2"/>
                </a:solidFill>
                <a:latin typeface="EB Garamond"/>
                <a:ea typeface="EB Garamond"/>
                <a:cs typeface="EB Garamond"/>
                <a:sym typeface="EB Garamond"/>
              </a:rPr>
              <a:t>Variables que son observables pero no medibles en una escala, es una “</a:t>
            </a:r>
            <a:r>
              <a:rPr i="1" lang="es" sz="1800">
                <a:solidFill>
                  <a:schemeClr val="dk2"/>
                </a:solidFill>
                <a:latin typeface="EB Garamond"/>
                <a:ea typeface="EB Garamond"/>
                <a:cs typeface="EB Garamond"/>
                <a:sym typeface="EB Garamond"/>
              </a:rPr>
              <a:t>categoría”</a:t>
            </a:r>
            <a:r>
              <a:rPr lang="es" sz="1800">
                <a:solidFill>
                  <a:schemeClr val="dk2"/>
                </a:solidFill>
                <a:latin typeface="EB Garamond"/>
                <a:ea typeface="EB Garamond"/>
                <a:cs typeface="EB Garamond"/>
                <a:sym typeface="EB Garamond"/>
              </a:rPr>
              <a:t>.</a:t>
            </a:r>
            <a:endParaRPr>
              <a:solidFill>
                <a:schemeClr val="dk2"/>
              </a:solidFill>
              <a:latin typeface="EB Garamond"/>
              <a:ea typeface="EB Garamond"/>
              <a:cs typeface="EB Garamond"/>
              <a:sym typeface="EB Garamond"/>
            </a:endParaRPr>
          </a:p>
        </p:txBody>
      </p:sp>
      <p:sp>
        <p:nvSpPr>
          <p:cNvPr id="439" name="Google Shape;439;p48"/>
          <p:cNvSpPr txBox="1"/>
          <p:nvPr/>
        </p:nvSpPr>
        <p:spPr>
          <a:xfrm>
            <a:off x="3009901" y="3585640"/>
            <a:ext cx="25401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2"/>
                </a:solidFill>
                <a:latin typeface="EB Garamond"/>
                <a:ea typeface="EB Garamond"/>
                <a:cs typeface="EB Garamond"/>
                <a:sym typeface="EB Garamond"/>
              </a:rPr>
              <a:t>Variables que son medibles en una escala, es </a:t>
            </a:r>
            <a:r>
              <a:rPr i="1" lang="es" sz="1800">
                <a:solidFill>
                  <a:schemeClr val="dk2"/>
                </a:solidFill>
                <a:latin typeface="EB Garamond"/>
                <a:ea typeface="EB Garamond"/>
                <a:cs typeface="EB Garamond"/>
                <a:sym typeface="EB Garamond"/>
              </a:rPr>
              <a:t>escalar</a:t>
            </a:r>
            <a:r>
              <a:rPr lang="es" sz="1800">
                <a:solidFill>
                  <a:schemeClr val="dk2"/>
                </a:solidFill>
                <a:latin typeface="EB Garamond"/>
                <a:ea typeface="EB Garamond"/>
                <a:cs typeface="EB Garamond"/>
                <a:sym typeface="EB Garamond"/>
              </a:rPr>
              <a:t>.</a:t>
            </a:r>
            <a:endParaRPr>
              <a:solidFill>
                <a:schemeClr val="dk2"/>
              </a:solidFill>
              <a:latin typeface="EB Garamond"/>
              <a:ea typeface="EB Garamond"/>
              <a:cs typeface="EB Garamond"/>
              <a:sym typeface="EB Garamond"/>
            </a:endParaRPr>
          </a:p>
        </p:txBody>
      </p:sp>
      <p:sp>
        <p:nvSpPr>
          <p:cNvPr id="440" name="Google Shape;440;p48"/>
          <p:cNvSpPr txBox="1"/>
          <p:nvPr/>
        </p:nvSpPr>
        <p:spPr>
          <a:xfrm>
            <a:off x="6070240" y="1362516"/>
            <a:ext cx="2883000" cy="16008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Sexo</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Estado civil</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Religión</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Nivel educativo</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Carrera universitaria</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¿Realizó el retiro del 10%?</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¿Apruebo, rechazo o nulo?</a:t>
            </a:r>
            <a:endParaRPr>
              <a:solidFill>
                <a:schemeClr val="dk2"/>
              </a:solidFill>
              <a:latin typeface="EB Garamond"/>
              <a:ea typeface="EB Garamond"/>
              <a:cs typeface="EB Garamond"/>
              <a:sym typeface="EB Garamond"/>
            </a:endParaRPr>
          </a:p>
        </p:txBody>
      </p:sp>
      <p:sp>
        <p:nvSpPr>
          <p:cNvPr id="441" name="Google Shape;441;p48"/>
          <p:cNvSpPr txBox="1"/>
          <p:nvPr/>
        </p:nvSpPr>
        <p:spPr>
          <a:xfrm>
            <a:off x="6070240" y="3247086"/>
            <a:ext cx="2883000" cy="16008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Peso (masa)</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Ingreso</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Edad</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Número de hijos</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Ramos aprobados</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Puntaje PTU</a:t>
            </a:r>
            <a:endParaRPr>
              <a:solidFill>
                <a:schemeClr val="dk2"/>
              </a:solidFill>
              <a:latin typeface="EB Garamond"/>
              <a:ea typeface="EB Garamond"/>
              <a:cs typeface="EB Garamond"/>
              <a:sym typeface="EB Garamond"/>
            </a:endParaRPr>
          </a:p>
          <a:p>
            <a:pPr indent="-285750" lvl="0" marL="285750" marR="0" rtl="0" algn="l">
              <a:spcBef>
                <a:spcPts val="0"/>
              </a:spcBef>
              <a:spcAft>
                <a:spcPts val="0"/>
              </a:spcAft>
              <a:buClr>
                <a:schemeClr val="dk2"/>
              </a:buClr>
              <a:buSzPts val="1400"/>
              <a:buFont typeface="EB Garamond"/>
              <a:buChar char="✔"/>
            </a:pPr>
            <a:r>
              <a:rPr lang="es" sz="1400">
                <a:solidFill>
                  <a:schemeClr val="dk2"/>
                </a:solidFill>
                <a:latin typeface="EB Garamond"/>
                <a:ea typeface="EB Garamond"/>
                <a:cs typeface="EB Garamond"/>
                <a:sym typeface="EB Garamond"/>
              </a:rPr>
              <a:t>Ranking de notas</a:t>
            </a:r>
            <a:endParaRPr>
              <a:solidFill>
                <a:schemeClr val="dk2"/>
              </a:solidFill>
              <a:latin typeface="EB Garamond"/>
              <a:ea typeface="EB Garamond"/>
              <a:cs typeface="EB Garamond"/>
              <a:sym typeface="EB Garamo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Mundo de las variables</a:t>
            </a:r>
            <a:endParaRPr b="1">
              <a:latin typeface="EB Garamond"/>
              <a:ea typeface="EB Garamond"/>
              <a:cs typeface="EB Garamond"/>
              <a:sym typeface="EB Garamond"/>
            </a:endParaRPr>
          </a:p>
        </p:txBody>
      </p:sp>
      <p:sp>
        <p:nvSpPr>
          <p:cNvPr id="447" name="Google Shape;44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48" name="Google Shape;448;p49"/>
          <p:cNvSpPr/>
          <p:nvPr/>
        </p:nvSpPr>
        <p:spPr>
          <a:xfrm>
            <a:off x="508182" y="20070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 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(Categóricas)</a:t>
            </a:r>
            <a:endParaRPr sz="1500">
              <a:solidFill>
                <a:srgbClr val="FFFFFF"/>
              </a:solidFill>
              <a:latin typeface="EB Garamond"/>
              <a:ea typeface="EB Garamond"/>
              <a:cs typeface="EB Garamond"/>
              <a:sym typeface="EB Garamond"/>
            </a:endParaRPr>
          </a:p>
        </p:txBody>
      </p:sp>
      <p:sp>
        <p:nvSpPr>
          <p:cNvPr id="449" name="Google Shape;449;p49"/>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(Numéricas)</a:t>
            </a:r>
            <a:endParaRPr sz="1500">
              <a:solidFill>
                <a:srgbClr val="FFFFFF"/>
              </a:solidFill>
              <a:latin typeface="EB Garamond"/>
              <a:ea typeface="EB Garamond"/>
              <a:cs typeface="EB Garamond"/>
              <a:sym typeface="EB Garamond"/>
            </a:endParaRPr>
          </a:p>
        </p:txBody>
      </p:sp>
      <p:sp>
        <p:nvSpPr>
          <p:cNvPr id="450" name="Google Shape;450;p49"/>
          <p:cNvSpPr/>
          <p:nvPr/>
        </p:nvSpPr>
        <p:spPr>
          <a:xfrm>
            <a:off x="2699481" y="2047942"/>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451" name="Google Shape;451;p49"/>
          <p:cNvSpPr/>
          <p:nvPr/>
        </p:nvSpPr>
        <p:spPr>
          <a:xfrm>
            <a:off x="2699481" y="275862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452" name="Google Shape;452;p49"/>
          <p:cNvSpPr/>
          <p:nvPr/>
        </p:nvSpPr>
        <p:spPr>
          <a:xfrm>
            <a:off x="2699481" y="346931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453" name="Google Shape;453;p49"/>
          <p:cNvSpPr/>
          <p:nvPr/>
        </p:nvSpPr>
        <p:spPr>
          <a:xfrm>
            <a:off x="2699481" y="416602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454" name="Google Shape;454;p49"/>
          <p:cNvSpPr txBox="1"/>
          <p:nvPr/>
        </p:nvSpPr>
        <p:spPr>
          <a:xfrm>
            <a:off x="508174" y="1361250"/>
            <a:ext cx="1917600" cy="323100"/>
          </a:xfrm>
          <a:prstGeom prst="rect">
            <a:avLst/>
          </a:prstGeom>
          <a:solidFill>
            <a:srgbClr val="C27BA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TIPOS</a:t>
            </a:r>
            <a:endParaRPr sz="1100">
              <a:solidFill>
                <a:schemeClr val="dk2"/>
              </a:solidFill>
              <a:latin typeface="EB Garamond"/>
              <a:ea typeface="EB Garamond"/>
              <a:cs typeface="EB Garamond"/>
              <a:sym typeface="EB Garamond"/>
            </a:endParaRPr>
          </a:p>
        </p:txBody>
      </p:sp>
      <p:sp>
        <p:nvSpPr>
          <p:cNvPr id="455" name="Google Shape;455;p49"/>
          <p:cNvSpPr txBox="1"/>
          <p:nvPr/>
        </p:nvSpPr>
        <p:spPr>
          <a:xfrm>
            <a:off x="2699475" y="1361250"/>
            <a:ext cx="1917600" cy="554100"/>
          </a:xfrm>
          <a:prstGeom prst="rect">
            <a:avLst/>
          </a:prstGeom>
          <a:solidFill>
            <a:srgbClr val="AAD5D4"/>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NIVEL DE MEDICIÓN</a:t>
            </a:r>
            <a:endParaRPr sz="1100">
              <a:solidFill>
                <a:schemeClr val="dk2"/>
              </a:solidFill>
              <a:latin typeface="EB Garamond"/>
              <a:ea typeface="EB Garamond"/>
              <a:cs typeface="EB Garamond"/>
              <a:sym typeface="EB Garamond"/>
            </a:endParaRPr>
          </a:p>
        </p:txBody>
      </p:sp>
      <p:sp>
        <p:nvSpPr>
          <p:cNvPr id="456" name="Google Shape;456;p49"/>
          <p:cNvSpPr/>
          <p:nvPr/>
        </p:nvSpPr>
        <p:spPr>
          <a:xfrm>
            <a:off x="6871250" y="2055750"/>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100">
              <a:latin typeface="EB Garamond"/>
              <a:ea typeface="EB Garamond"/>
              <a:cs typeface="EB Garamond"/>
              <a:sym typeface="EB Garamond"/>
            </a:endParaRPr>
          </a:p>
        </p:txBody>
      </p:sp>
      <p:sp>
        <p:nvSpPr>
          <p:cNvPr id="457" name="Google Shape;457;p49"/>
          <p:cNvSpPr/>
          <p:nvPr/>
        </p:nvSpPr>
        <p:spPr>
          <a:xfrm>
            <a:off x="6871249" y="3013767"/>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100">
              <a:latin typeface="EB Garamond"/>
              <a:ea typeface="EB Garamond"/>
              <a:cs typeface="EB Garamond"/>
              <a:sym typeface="EB Garamond"/>
            </a:endParaRPr>
          </a:p>
        </p:txBody>
      </p:sp>
      <p:sp>
        <p:nvSpPr>
          <p:cNvPr id="458" name="Google Shape;458;p49"/>
          <p:cNvSpPr/>
          <p:nvPr/>
        </p:nvSpPr>
        <p:spPr>
          <a:xfrm>
            <a:off x="6871249" y="400417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100">
              <a:latin typeface="EB Garamond"/>
              <a:ea typeface="EB Garamond"/>
              <a:cs typeface="EB Garamond"/>
              <a:sym typeface="EB Garamond"/>
            </a:endParaRPr>
          </a:p>
        </p:txBody>
      </p:sp>
      <p:sp>
        <p:nvSpPr>
          <p:cNvPr id="459" name="Google Shape;459;p49"/>
          <p:cNvSpPr txBox="1"/>
          <p:nvPr/>
        </p:nvSpPr>
        <p:spPr>
          <a:xfrm>
            <a:off x="6871250" y="1361250"/>
            <a:ext cx="1917600" cy="554100"/>
          </a:xfrm>
          <a:prstGeom prst="rect">
            <a:avLst/>
          </a:prstGeom>
          <a:solidFill>
            <a:srgbClr val="A5A5A5"/>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FUNCIÓN EN LA INVESTIGACIÓN</a:t>
            </a:r>
            <a:endParaRPr sz="1100">
              <a:solidFill>
                <a:schemeClr val="dk2"/>
              </a:solidFill>
              <a:latin typeface="EB Garamond"/>
              <a:ea typeface="EB Garamond"/>
              <a:cs typeface="EB Garamond"/>
              <a:sym typeface="EB Garamond"/>
            </a:endParaRPr>
          </a:p>
        </p:txBody>
      </p:sp>
      <p:sp>
        <p:nvSpPr>
          <p:cNvPr id="460" name="Google Shape;460;p49"/>
          <p:cNvSpPr/>
          <p:nvPr/>
        </p:nvSpPr>
        <p:spPr>
          <a:xfrm>
            <a:off x="4801325" y="2774075"/>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Continua</a:t>
            </a:r>
            <a:endParaRPr sz="1100">
              <a:solidFill>
                <a:schemeClr val="dk2"/>
              </a:solidFill>
              <a:latin typeface="EB Garamond"/>
              <a:ea typeface="EB Garamond"/>
              <a:cs typeface="EB Garamond"/>
              <a:sym typeface="EB Garamond"/>
            </a:endParaRPr>
          </a:p>
        </p:txBody>
      </p:sp>
      <p:sp>
        <p:nvSpPr>
          <p:cNvPr id="461" name="Google Shape;461;p49"/>
          <p:cNvSpPr/>
          <p:nvPr/>
        </p:nvSpPr>
        <p:spPr>
          <a:xfrm>
            <a:off x="4801325" y="207045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Discreta</a:t>
            </a:r>
            <a:endParaRPr sz="1100">
              <a:solidFill>
                <a:schemeClr val="dk2"/>
              </a:solidFill>
              <a:latin typeface="EB Garamond"/>
              <a:ea typeface="EB Garamond"/>
              <a:cs typeface="EB Garamond"/>
              <a:sym typeface="EB Garamond"/>
            </a:endParaRPr>
          </a:p>
        </p:txBody>
      </p:sp>
      <p:sp>
        <p:nvSpPr>
          <p:cNvPr id="462" name="Google Shape;462;p49"/>
          <p:cNvSpPr txBox="1"/>
          <p:nvPr/>
        </p:nvSpPr>
        <p:spPr>
          <a:xfrm>
            <a:off x="4801325" y="1361250"/>
            <a:ext cx="1917600" cy="5541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ESCALA DE MEDICIÓN</a:t>
            </a:r>
            <a:endParaRPr sz="1100">
              <a:solidFill>
                <a:schemeClr val="dk2"/>
              </a:solidFill>
              <a:latin typeface="EB Garamond"/>
              <a:ea typeface="EB Garamond"/>
              <a:cs typeface="EB Garamond"/>
              <a:sym typeface="EB Garamond"/>
            </a:endParaRPr>
          </a:p>
        </p:txBody>
      </p:sp>
      <p:sp>
        <p:nvSpPr>
          <p:cNvPr id="463" name="Google Shape;463;p49"/>
          <p:cNvSpPr/>
          <p:nvPr/>
        </p:nvSpPr>
        <p:spPr>
          <a:xfrm>
            <a:off x="4722225" y="1191925"/>
            <a:ext cx="4110000" cy="35583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49"/>
          <p:cNvSpPr/>
          <p:nvPr/>
        </p:nvSpPr>
        <p:spPr>
          <a:xfrm>
            <a:off x="435600" y="1191925"/>
            <a:ext cx="2079600" cy="35583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470" name="Google Shape;470;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71" name="Google Shape;471;p50"/>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472" name="Google Shape;472;p50"/>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473" name="Google Shape;473;p50"/>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474" name="Google Shape;474;p50"/>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475" name="Google Shape;475;p50"/>
          <p:cNvSpPr/>
          <p:nvPr/>
        </p:nvSpPr>
        <p:spPr>
          <a:xfrm>
            <a:off x="226800" y="2275525"/>
            <a:ext cx="2087400" cy="23877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50"/>
          <p:cNvSpPr txBox="1"/>
          <p:nvPr/>
        </p:nvSpPr>
        <p:spPr>
          <a:xfrm>
            <a:off x="2736775" y="1650766"/>
            <a:ext cx="5638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2"/>
                </a:solidFill>
                <a:latin typeface="EB Garamond"/>
                <a:ea typeface="EB Garamond"/>
                <a:cs typeface="EB Garamond"/>
                <a:sym typeface="EB Garamond"/>
              </a:rPr>
              <a:t>Variables cuyos atributos son </a:t>
            </a:r>
            <a:r>
              <a:rPr lang="es" sz="1800">
                <a:solidFill>
                  <a:schemeClr val="dk2"/>
                </a:solidFill>
                <a:highlight>
                  <a:srgbClr val="8DD8D3"/>
                </a:highlight>
                <a:latin typeface="EB Garamond"/>
                <a:ea typeface="EB Garamond"/>
                <a:cs typeface="EB Garamond"/>
                <a:sym typeface="EB Garamond"/>
              </a:rPr>
              <a:t>exhaustivos y excluyentes</a:t>
            </a:r>
            <a:r>
              <a:rPr lang="es" sz="1800">
                <a:solidFill>
                  <a:schemeClr val="dk2"/>
                </a:solidFill>
                <a:latin typeface="EB Garamond"/>
                <a:ea typeface="EB Garamond"/>
                <a:cs typeface="EB Garamond"/>
                <a:sym typeface="EB Garamond"/>
              </a:rPr>
              <a:t>.</a:t>
            </a:r>
            <a:endParaRPr sz="1800">
              <a:solidFill>
                <a:schemeClr val="dk2"/>
              </a:solidFill>
              <a:latin typeface="EB Garamond"/>
              <a:ea typeface="EB Garamond"/>
              <a:cs typeface="EB Garamond"/>
              <a:sym typeface="EB Garamond"/>
            </a:endParaRPr>
          </a:p>
        </p:txBody>
      </p:sp>
      <p:sp>
        <p:nvSpPr>
          <p:cNvPr id="477" name="Google Shape;477;p50"/>
          <p:cNvSpPr txBox="1"/>
          <p:nvPr/>
        </p:nvSpPr>
        <p:spPr>
          <a:xfrm>
            <a:off x="3754600" y="2098987"/>
            <a:ext cx="3929100" cy="2462700"/>
          </a:xfrm>
          <a:prstGeom prst="rect">
            <a:avLst/>
          </a:prstGeom>
          <a:noFill/>
          <a:ln cap="flat" cmpd="sng" w="41275">
            <a:solidFill>
              <a:schemeClr val="accent5"/>
            </a:solidFill>
            <a:prstDash val="dash"/>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
                <a:solidFill>
                  <a:schemeClr val="dk2"/>
                </a:solidFill>
                <a:latin typeface="EB Garamond"/>
                <a:ea typeface="EB Garamond"/>
                <a:cs typeface="EB Garamond"/>
                <a:sym typeface="EB Garamond"/>
              </a:rPr>
              <a:t>P1. ¿Cuál es su sexo?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Femenino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Masculino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Prefiero no decir</a:t>
            </a:r>
            <a:endParaRPr>
              <a:solidFill>
                <a:schemeClr val="dk2"/>
              </a:solidFill>
              <a:latin typeface="EB Garamond"/>
              <a:ea typeface="EB Garamond"/>
              <a:cs typeface="EB Garamond"/>
              <a:sym typeface="EB Garamond"/>
            </a:endParaRPr>
          </a:p>
          <a:p>
            <a:pPr indent="0" lvl="0" marL="0" marR="0" rtl="0" algn="l">
              <a:spcBef>
                <a:spcPts val="0"/>
              </a:spcBef>
              <a:spcAft>
                <a:spcPts val="0"/>
              </a:spcAft>
              <a:buNone/>
            </a:pPr>
            <a:r>
              <a:t/>
            </a:r>
            <a:endParaRPr>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a:solidFill>
                  <a:schemeClr val="dk2"/>
                </a:solidFill>
                <a:latin typeface="EB Garamond"/>
                <a:ea typeface="EB Garamond"/>
                <a:cs typeface="EB Garamond"/>
                <a:sym typeface="EB Garamond"/>
              </a:rPr>
              <a:t>P2. ¿Con qué religión se siente identificado?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Católico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Judío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Protestante</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Musulmán</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Otro</a:t>
            </a:r>
            <a:endParaRPr>
              <a:solidFill>
                <a:schemeClr val="dk2"/>
              </a:solidFill>
              <a:latin typeface="EB Garamond"/>
              <a:ea typeface="EB Garamond"/>
              <a:cs typeface="EB Garamond"/>
              <a:sym typeface="EB Garamo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483" name="Google Shape;48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84" name="Google Shape;484;p51"/>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485" name="Google Shape;485;p51"/>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486" name="Google Shape;486;p51"/>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487" name="Google Shape;487;p51"/>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488" name="Google Shape;488;p51"/>
          <p:cNvSpPr/>
          <p:nvPr/>
        </p:nvSpPr>
        <p:spPr>
          <a:xfrm>
            <a:off x="226800" y="3030025"/>
            <a:ext cx="2087400" cy="16332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 name="Google Shape;489;p51"/>
          <p:cNvSpPr txBox="1"/>
          <p:nvPr/>
        </p:nvSpPr>
        <p:spPr>
          <a:xfrm>
            <a:off x="2743350" y="2451265"/>
            <a:ext cx="6267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 sz="1800">
                <a:solidFill>
                  <a:schemeClr val="dk2"/>
                </a:solidFill>
                <a:latin typeface="EB Garamond"/>
                <a:ea typeface="EB Garamond"/>
                <a:cs typeface="EB Garamond"/>
                <a:sym typeface="EB Garamond"/>
              </a:rPr>
              <a:t>Exhaustivo, excluyente y se pueden </a:t>
            </a:r>
            <a:r>
              <a:rPr lang="es" sz="1800">
                <a:solidFill>
                  <a:schemeClr val="dk2"/>
                </a:solidFill>
                <a:highlight>
                  <a:srgbClr val="8DD8D3"/>
                </a:highlight>
                <a:latin typeface="EB Garamond"/>
                <a:ea typeface="EB Garamond"/>
                <a:cs typeface="EB Garamond"/>
                <a:sym typeface="EB Garamond"/>
              </a:rPr>
              <a:t>ordenar o jerarquizar</a:t>
            </a:r>
            <a:r>
              <a:rPr lang="es" sz="1800">
                <a:solidFill>
                  <a:schemeClr val="dk2"/>
                </a:solidFill>
                <a:latin typeface="EB Garamond"/>
                <a:ea typeface="EB Garamond"/>
                <a:cs typeface="EB Garamond"/>
                <a:sym typeface="EB Garamond"/>
              </a:rPr>
              <a:t>.</a:t>
            </a:r>
            <a:endParaRPr sz="1800">
              <a:solidFill>
                <a:schemeClr val="dk2"/>
              </a:solidFill>
              <a:latin typeface="EB Garamond"/>
              <a:ea typeface="EB Garamond"/>
              <a:cs typeface="EB Garamond"/>
              <a:sym typeface="EB Garamond"/>
            </a:endParaRPr>
          </a:p>
        </p:txBody>
      </p:sp>
      <p:sp>
        <p:nvSpPr>
          <p:cNvPr id="490" name="Google Shape;490;p51"/>
          <p:cNvSpPr txBox="1"/>
          <p:nvPr/>
        </p:nvSpPr>
        <p:spPr>
          <a:xfrm>
            <a:off x="3562350" y="3080005"/>
            <a:ext cx="4629300" cy="1600800"/>
          </a:xfrm>
          <a:prstGeom prst="rect">
            <a:avLst/>
          </a:prstGeom>
          <a:noFill/>
          <a:ln cap="flat" cmpd="sng" w="41275">
            <a:solidFill>
              <a:schemeClr val="accent5"/>
            </a:solidFill>
            <a:prstDash val="dash"/>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
                <a:solidFill>
                  <a:schemeClr val="dk2"/>
                </a:solidFill>
                <a:latin typeface="EB Garamond"/>
                <a:ea typeface="EB Garamond"/>
                <a:cs typeface="EB Garamond"/>
                <a:sym typeface="EB Garamond"/>
              </a:rPr>
              <a:t>P3. ¿Qué tan de acuerdo está con el aborto libre?</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Muy de acuerdo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De acuerdo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Ni de acuerdo ni en desacuerdo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En desacuerdo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Muy en desacuerdo</a:t>
            </a:r>
            <a:endParaRPr>
              <a:solidFill>
                <a:schemeClr val="dk2"/>
              </a:solidFill>
              <a:latin typeface="EB Garamond"/>
              <a:ea typeface="EB Garamond"/>
              <a:cs typeface="EB Garamond"/>
              <a:sym typeface="EB Garamond"/>
            </a:endParaRPr>
          </a:p>
          <a:p>
            <a:pPr indent="-330200" lvl="0" marL="342900" marR="0" rtl="0" algn="l">
              <a:spcBef>
                <a:spcPts val="0"/>
              </a:spcBef>
              <a:spcAft>
                <a:spcPts val="0"/>
              </a:spcAft>
              <a:buClr>
                <a:schemeClr val="dk2"/>
              </a:buClr>
              <a:buSzPts val="1400"/>
              <a:buFont typeface="EB Garamond"/>
              <a:buAutoNum type="arabicPeriod"/>
            </a:pPr>
            <a:r>
              <a:rPr lang="es">
                <a:solidFill>
                  <a:schemeClr val="dk2"/>
                </a:solidFill>
                <a:latin typeface="EB Garamond"/>
                <a:ea typeface="EB Garamond"/>
                <a:cs typeface="EB Garamond"/>
                <a:sym typeface="EB Garamond"/>
              </a:rPr>
              <a:t>No sé / No responde</a:t>
            </a:r>
            <a:endParaRPr>
              <a:solidFill>
                <a:schemeClr val="dk2"/>
              </a:solidFill>
              <a:latin typeface="EB Garamond"/>
              <a:ea typeface="EB Garamond"/>
              <a:cs typeface="EB Garamond"/>
              <a:sym typeface="EB Garamond"/>
            </a:endParaRPr>
          </a:p>
        </p:txBody>
      </p:sp>
      <p:sp>
        <p:nvSpPr>
          <p:cNvPr id="491" name="Google Shape;491;p51"/>
          <p:cNvSpPr/>
          <p:nvPr/>
        </p:nvSpPr>
        <p:spPr>
          <a:xfrm>
            <a:off x="226800" y="1408125"/>
            <a:ext cx="2087400" cy="8337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497" name="Google Shape;497;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498" name="Google Shape;498;p52"/>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499" name="Google Shape;499;p52"/>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500" name="Google Shape;500;p52"/>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501" name="Google Shape;501;p52"/>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502" name="Google Shape;502;p52"/>
          <p:cNvSpPr/>
          <p:nvPr/>
        </p:nvSpPr>
        <p:spPr>
          <a:xfrm>
            <a:off x="226800" y="3829450"/>
            <a:ext cx="2087400" cy="8337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52"/>
          <p:cNvSpPr txBox="1"/>
          <p:nvPr/>
        </p:nvSpPr>
        <p:spPr>
          <a:xfrm>
            <a:off x="2901950" y="3293900"/>
            <a:ext cx="55107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2"/>
                </a:solidFill>
                <a:latin typeface="EB Garamond"/>
                <a:ea typeface="EB Garamond"/>
                <a:cs typeface="EB Garamond"/>
                <a:sym typeface="EB Garamond"/>
              </a:rPr>
              <a:t>Exhaustivo, excluyente, se pueden jerarquizar y existe </a:t>
            </a:r>
            <a:r>
              <a:rPr lang="es" sz="1800">
                <a:solidFill>
                  <a:schemeClr val="dk2"/>
                </a:solidFill>
                <a:highlight>
                  <a:srgbClr val="8DD8D3"/>
                </a:highlight>
                <a:latin typeface="EB Garamond"/>
                <a:ea typeface="EB Garamond"/>
                <a:cs typeface="EB Garamond"/>
                <a:sym typeface="EB Garamond"/>
              </a:rPr>
              <a:t>diferencia exacta entre atributos</a:t>
            </a:r>
            <a:r>
              <a:rPr lang="es" sz="1800">
                <a:solidFill>
                  <a:schemeClr val="dk2"/>
                </a:solidFill>
                <a:latin typeface="EB Garamond"/>
                <a:ea typeface="EB Garamond"/>
                <a:cs typeface="EB Garamond"/>
                <a:sym typeface="EB Garamond"/>
              </a:rPr>
              <a:t>. </a:t>
            </a:r>
            <a:r>
              <a:rPr b="1" lang="es" sz="1800">
                <a:solidFill>
                  <a:schemeClr val="dk2"/>
                </a:solidFill>
                <a:latin typeface="EB Garamond"/>
                <a:ea typeface="EB Garamond"/>
                <a:cs typeface="EB Garamond"/>
                <a:sym typeface="EB Garamond"/>
              </a:rPr>
              <a:t>*(Discreto o Continua)</a:t>
            </a:r>
            <a:endParaRPr sz="1800">
              <a:solidFill>
                <a:schemeClr val="dk2"/>
              </a:solidFill>
              <a:latin typeface="EB Garamond"/>
              <a:ea typeface="EB Garamond"/>
              <a:cs typeface="EB Garamond"/>
              <a:sym typeface="EB Garamond"/>
            </a:endParaRPr>
          </a:p>
        </p:txBody>
      </p:sp>
      <p:sp>
        <p:nvSpPr>
          <p:cNvPr id="504" name="Google Shape;504;p52"/>
          <p:cNvSpPr txBox="1"/>
          <p:nvPr/>
        </p:nvSpPr>
        <p:spPr>
          <a:xfrm>
            <a:off x="2974100" y="2218566"/>
            <a:ext cx="4629300" cy="954300"/>
          </a:xfrm>
          <a:prstGeom prst="rect">
            <a:avLst/>
          </a:prstGeom>
          <a:noFill/>
          <a:ln cap="flat" cmpd="sng" w="41275">
            <a:solidFill>
              <a:schemeClr val="accent5"/>
            </a:solidFill>
            <a:prstDash val="dash"/>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
                <a:solidFill>
                  <a:schemeClr val="dk2"/>
                </a:solidFill>
                <a:latin typeface="EB Garamond"/>
                <a:ea typeface="EB Garamond"/>
                <a:cs typeface="EB Garamond"/>
                <a:sym typeface="EB Garamond"/>
              </a:rPr>
              <a:t>P4. ¿Cuál es su temperatura corporal (Cº)?</a:t>
            </a:r>
            <a:endParaRPr>
              <a:solidFill>
                <a:schemeClr val="dk2"/>
              </a:solidFill>
              <a:latin typeface="EB Garamond"/>
              <a:ea typeface="EB Garamond"/>
              <a:cs typeface="EB Garamond"/>
              <a:sym typeface="EB Garamond"/>
            </a:endParaRPr>
          </a:p>
          <a:p>
            <a:pPr indent="0" lvl="0" marL="0" marR="0" rtl="0" algn="l">
              <a:spcBef>
                <a:spcPts val="0"/>
              </a:spcBef>
              <a:spcAft>
                <a:spcPts val="0"/>
              </a:spcAft>
              <a:buNone/>
            </a:pPr>
            <a:r>
              <a:rPr lang="es">
                <a:solidFill>
                  <a:schemeClr val="dk2"/>
                </a:solidFill>
                <a:latin typeface="EB Garamond"/>
                <a:ea typeface="EB Garamond"/>
                <a:cs typeface="EB Garamond"/>
                <a:sym typeface="EB Garamond"/>
              </a:rPr>
              <a:t>La respuesta debe estar entre 34º a 42º grados.</a:t>
            </a:r>
            <a:endParaRPr>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a:solidFill>
                  <a:schemeClr val="dk2"/>
                </a:solidFill>
                <a:latin typeface="EB Garamond"/>
                <a:ea typeface="EB Garamond"/>
                <a:cs typeface="EB Garamond"/>
                <a:sym typeface="EB Garamond"/>
              </a:rPr>
              <a:t>R: </a:t>
            </a:r>
            <a:r>
              <a:rPr lang="es">
                <a:solidFill>
                  <a:schemeClr val="dk2"/>
                </a:solidFill>
                <a:latin typeface="EB Garamond"/>
                <a:ea typeface="EB Garamond"/>
                <a:cs typeface="EB Garamond"/>
                <a:sym typeface="EB Garamond"/>
              </a:rPr>
              <a:t>36,5 Cº</a:t>
            </a:r>
            <a:endParaRPr>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a:solidFill>
                  <a:schemeClr val="dk2"/>
                </a:solidFill>
                <a:latin typeface="EB Garamond"/>
                <a:ea typeface="EB Garamond"/>
                <a:cs typeface="EB Garamond"/>
                <a:sym typeface="EB Garamond"/>
              </a:rPr>
              <a:t>Diferencia: </a:t>
            </a:r>
            <a:r>
              <a:rPr lang="es">
                <a:solidFill>
                  <a:schemeClr val="dk2"/>
                </a:solidFill>
                <a:latin typeface="EB Garamond"/>
                <a:ea typeface="EB Garamond"/>
                <a:cs typeface="EB Garamond"/>
                <a:sym typeface="EB Garamond"/>
              </a:rPr>
              <a:t>a 0,5 Cº de la fiebre.</a:t>
            </a:r>
            <a:endParaRPr>
              <a:solidFill>
                <a:schemeClr val="dk2"/>
              </a:solidFill>
              <a:latin typeface="EB Garamond"/>
              <a:ea typeface="EB Garamond"/>
              <a:cs typeface="EB Garamond"/>
              <a:sym typeface="EB Garamond"/>
            </a:endParaRPr>
          </a:p>
        </p:txBody>
      </p:sp>
      <p:sp>
        <p:nvSpPr>
          <p:cNvPr id="505" name="Google Shape;505;p52"/>
          <p:cNvSpPr/>
          <p:nvPr/>
        </p:nvSpPr>
        <p:spPr>
          <a:xfrm>
            <a:off x="226800" y="1410200"/>
            <a:ext cx="2087400" cy="16332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511" name="Google Shape;511;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12" name="Google Shape;512;p53"/>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513" name="Google Shape;513;p53"/>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514" name="Google Shape;514;p53"/>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515" name="Google Shape;515;p53"/>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516" name="Google Shape;516;p53"/>
          <p:cNvSpPr/>
          <p:nvPr/>
        </p:nvSpPr>
        <p:spPr>
          <a:xfrm>
            <a:off x="226800" y="1418575"/>
            <a:ext cx="2087400" cy="24156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53"/>
          <p:cNvSpPr txBox="1"/>
          <p:nvPr/>
        </p:nvSpPr>
        <p:spPr>
          <a:xfrm>
            <a:off x="2813875" y="3973375"/>
            <a:ext cx="53256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2"/>
                </a:solidFill>
                <a:latin typeface="EB Garamond"/>
                <a:ea typeface="EB Garamond"/>
                <a:cs typeface="EB Garamond"/>
                <a:sym typeface="EB Garamond"/>
              </a:rPr>
              <a:t>Exhaustivo, excluyente, se pueden jerarquizar, existe diferencia exacta entre atributos y se agrega el </a:t>
            </a:r>
            <a:r>
              <a:rPr lang="es" sz="1800">
                <a:solidFill>
                  <a:schemeClr val="dk2"/>
                </a:solidFill>
                <a:highlight>
                  <a:srgbClr val="8DD8D3"/>
                </a:highlight>
                <a:latin typeface="EB Garamond"/>
                <a:ea typeface="EB Garamond"/>
                <a:cs typeface="EB Garamond"/>
                <a:sym typeface="EB Garamond"/>
              </a:rPr>
              <a:t>cero absoluto</a:t>
            </a:r>
            <a:r>
              <a:rPr lang="es" sz="1800">
                <a:solidFill>
                  <a:schemeClr val="dk2"/>
                </a:solidFill>
                <a:latin typeface="EB Garamond"/>
                <a:ea typeface="EB Garamond"/>
                <a:cs typeface="EB Garamond"/>
                <a:sym typeface="EB Garamond"/>
              </a:rPr>
              <a:t>.</a:t>
            </a:r>
            <a:r>
              <a:rPr b="1" lang="es" sz="1800">
                <a:solidFill>
                  <a:schemeClr val="dk2"/>
                </a:solidFill>
                <a:latin typeface="EB Garamond"/>
                <a:ea typeface="EB Garamond"/>
                <a:cs typeface="EB Garamond"/>
                <a:sym typeface="EB Garamond"/>
              </a:rPr>
              <a:t> *(Discreto o Continua)</a:t>
            </a:r>
            <a:endParaRPr sz="1800">
              <a:solidFill>
                <a:schemeClr val="dk2"/>
              </a:solidFill>
              <a:latin typeface="EB Garamond"/>
              <a:ea typeface="EB Garamond"/>
              <a:cs typeface="EB Garamond"/>
              <a:sym typeface="EB Garamond"/>
            </a:endParaRPr>
          </a:p>
        </p:txBody>
      </p:sp>
      <p:sp>
        <p:nvSpPr>
          <p:cNvPr id="518" name="Google Shape;518;p53"/>
          <p:cNvSpPr txBox="1"/>
          <p:nvPr/>
        </p:nvSpPr>
        <p:spPr>
          <a:xfrm>
            <a:off x="2907425" y="2372382"/>
            <a:ext cx="2931000" cy="1385400"/>
          </a:xfrm>
          <a:prstGeom prst="rect">
            <a:avLst/>
          </a:prstGeom>
          <a:noFill/>
          <a:ln cap="flat" cmpd="sng" w="41275">
            <a:solidFill>
              <a:schemeClr val="accent5"/>
            </a:solidFill>
            <a:prstDash val="dash"/>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
                <a:solidFill>
                  <a:schemeClr val="dk2"/>
                </a:solidFill>
                <a:latin typeface="EB Garamond"/>
                <a:ea typeface="EB Garamond"/>
                <a:cs typeface="EB Garamond"/>
                <a:sym typeface="EB Garamond"/>
              </a:rPr>
              <a:t>P6. ¿Cuántos hijos/as tiene?</a:t>
            </a:r>
            <a:endParaRPr>
              <a:solidFill>
                <a:schemeClr val="dk2"/>
              </a:solidFill>
              <a:latin typeface="EB Garamond"/>
              <a:ea typeface="EB Garamond"/>
              <a:cs typeface="EB Garamond"/>
              <a:sym typeface="EB Garamond"/>
            </a:endParaRPr>
          </a:p>
          <a:p>
            <a:pPr indent="-317500" lvl="0" marL="457200" marR="0" rtl="0" algn="l">
              <a:spcBef>
                <a:spcPts val="0"/>
              </a:spcBef>
              <a:spcAft>
                <a:spcPts val="0"/>
              </a:spcAft>
              <a:buClr>
                <a:schemeClr val="dk2"/>
              </a:buClr>
              <a:buSzPts val="1400"/>
              <a:buFont typeface="EB Garamond"/>
              <a:buAutoNum type="arabicPeriod"/>
            </a:pPr>
            <a:r>
              <a:rPr b="1" lang="es">
                <a:solidFill>
                  <a:schemeClr val="dk2"/>
                </a:solidFill>
                <a:latin typeface="EB Garamond"/>
                <a:ea typeface="EB Garamond"/>
                <a:cs typeface="EB Garamond"/>
                <a:sym typeface="EB Garamond"/>
              </a:rPr>
              <a:t>0</a:t>
            </a:r>
            <a:endParaRPr>
              <a:solidFill>
                <a:schemeClr val="dk2"/>
              </a:solidFill>
              <a:latin typeface="EB Garamond"/>
              <a:ea typeface="EB Garamond"/>
              <a:cs typeface="EB Garamond"/>
              <a:sym typeface="EB Garamond"/>
            </a:endParaRPr>
          </a:p>
          <a:p>
            <a:pPr indent="-317500" lvl="0" marL="457200" marR="0" rtl="0" algn="l">
              <a:spcBef>
                <a:spcPts val="0"/>
              </a:spcBef>
              <a:spcAft>
                <a:spcPts val="0"/>
              </a:spcAft>
              <a:buClr>
                <a:schemeClr val="dk2"/>
              </a:buClr>
              <a:buSzPts val="1400"/>
              <a:buFont typeface="EB Garamond"/>
              <a:buAutoNum type="arabicPeriod"/>
            </a:pPr>
            <a:r>
              <a:rPr b="1" lang="es">
                <a:solidFill>
                  <a:schemeClr val="dk2"/>
                </a:solidFill>
                <a:latin typeface="EB Garamond"/>
                <a:ea typeface="EB Garamond"/>
                <a:cs typeface="EB Garamond"/>
                <a:sym typeface="EB Garamond"/>
              </a:rPr>
              <a:t>1</a:t>
            </a:r>
            <a:endParaRPr>
              <a:solidFill>
                <a:schemeClr val="dk2"/>
              </a:solidFill>
              <a:latin typeface="EB Garamond"/>
              <a:ea typeface="EB Garamond"/>
              <a:cs typeface="EB Garamond"/>
              <a:sym typeface="EB Garamond"/>
            </a:endParaRPr>
          </a:p>
          <a:p>
            <a:pPr indent="-317500" lvl="0" marL="457200" marR="0" rtl="0" algn="l">
              <a:spcBef>
                <a:spcPts val="0"/>
              </a:spcBef>
              <a:spcAft>
                <a:spcPts val="0"/>
              </a:spcAft>
              <a:buClr>
                <a:schemeClr val="dk2"/>
              </a:buClr>
              <a:buSzPts val="1400"/>
              <a:buFont typeface="EB Garamond"/>
              <a:buAutoNum type="arabicPeriod"/>
            </a:pPr>
            <a:r>
              <a:rPr b="1" lang="es">
                <a:solidFill>
                  <a:schemeClr val="dk2"/>
                </a:solidFill>
                <a:latin typeface="EB Garamond"/>
                <a:ea typeface="EB Garamond"/>
                <a:cs typeface="EB Garamond"/>
                <a:sym typeface="EB Garamond"/>
              </a:rPr>
              <a:t>2</a:t>
            </a:r>
            <a:endParaRPr>
              <a:solidFill>
                <a:schemeClr val="dk2"/>
              </a:solidFill>
              <a:latin typeface="EB Garamond"/>
              <a:ea typeface="EB Garamond"/>
              <a:cs typeface="EB Garamond"/>
              <a:sym typeface="EB Garamond"/>
            </a:endParaRPr>
          </a:p>
          <a:p>
            <a:pPr indent="-317500" lvl="0" marL="457200" marR="0" rtl="0" algn="l">
              <a:spcBef>
                <a:spcPts val="0"/>
              </a:spcBef>
              <a:spcAft>
                <a:spcPts val="0"/>
              </a:spcAft>
              <a:buClr>
                <a:schemeClr val="dk2"/>
              </a:buClr>
              <a:buSzPts val="1400"/>
              <a:buFont typeface="EB Garamond"/>
              <a:buAutoNum type="arabicPeriod"/>
            </a:pPr>
            <a:r>
              <a:rPr b="1" lang="es">
                <a:solidFill>
                  <a:schemeClr val="dk2"/>
                </a:solidFill>
                <a:latin typeface="EB Garamond"/>
                <a:ea typeface="EB Garamond"/>
                <a:cs typeface="EB Garamond"/>
                <a:sym typeface="EB Garamond"/>
              </a:rPr>
              <a:t>3</a:t>
            </a:r>
            <a:endParaRPr>
              <a:solidFill>
                <a:schemeClr val="dk2"/>
              </a:solidFill>
              <a:latin typeface="EB Garamond"/>
              <a:ea typeface="EB Garamond"/>
              <a:cs typeface="EB Garamond"/>
              <a:sym typeface="EB Garamond"/>
            </a:endParaRPr>
          </a:p>
          <a:p>
            <a:pPr indent="-317500" lvl="0" marL="457200" marR="0" rtl="0" algn="l">
              <a:spcBef>
                <a:spcPts val="0"/>
              </a:spcBef>
              <a:spcAft>
                <a:spcPts val="0"/>
              </a:spcAft>
              <a:buClr>
                <a:schemeClr val="dk2"/>
              </a:buClr>
              <a:buSzPts val="1400"/>
              <a:buFont typeface="EB Garamond"/>
              <a:buAutoNum type="arabicPeriod"/>
            </a:pPr>
            <a:r>
              <a:rPr b="1" lang="es">
                <a:solidFill>
                  <a:schemeClr val="dk2"/>
                </a:solidFill>
                <a:latin typeface="EB Garamond"/>
                <a:ea typeface="EB Garamond"/>
                <a:cs typeface="EB Garamond"/>
                <a:sym typeface="EB Garamond"/>
              </a:rPr>
              <a:t>más de 3</a:t>
            </a:r>
            <a:endParaRPr>
              <a:solidFill>
                <a:schemeClr val="dk2"/>
              </a:solidFill>
              <a:latin typeface="EB Garamond"/>
              <a:ea typeface="EB Garamond"/>
              <a:cs typeface="EB Garamond"/>
              <a:sym typeface="EB Garamo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524" name="Google Shape;524;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25" name="Google Shape;525;p54"/>
          <p:cNvSpPr/>
          <p:nvPr/>
        </p:nvSpPr>
        <p:spPr>
          <a:xfrm>
            <a:off x="311706" y="1571867"/>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526" name="Google Shape;526;p54"/>
          <p:cNvSpPr/>
          <p:nvPr/>
        </p:nvSpPr>
        <p:spPr>
          <a:xfrm>
            <a:off x="311706" y="237237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527" name="Google Shape;527;p54"/>
          <p:cNvSpPr/>
          <p:nvPr/>
        </p:nvSpPr>
        <p:spPr>
          <a:xfrm>
            <a:off x="311706" y="3172885"/>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528" name="Google Shape;528;p54"/>
          <p:cNvSpPr/>
          <p:nvPr/>
        </p:nvSpPr>
        <p:spPr>
          <a:xfrm>
            <a:off x="311706" y="397337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529" name="Google Shape;529;p54"/>
          <p:cNvSpPr txBox="1"/>
          <p:nvPr/>
        </p:nvSpPr>
        <p:spPr>
          <a:xfrm>
            <a:off x="2643775" y="3973375"/>
            <a:ext cx="58287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700">
                <a:solidFill>
                  <a:schemeClr val="dk2"/>
                </a:solidFill>
                <a:latin typeface="EB Garamond"/>
                <a:ea typeface="EB Garamond"/>
                <a:cs typeface="EB Garamond"/>
                <a:sym typeface="EB Garamond"/>
              </a:rPr>
              <a:t>Exhaustivo, excluyente, se pueden jerarquizar, existe diferencia exacta entre atributos y se agrega el </a:t>
            </a:r>
            <a:r>
              <a:rPr lang="es" sz="1700">
                <a:solidFill>
                  <a:schemeClr val="dk2"/>
                </a:solidFill>
                <a:highlight>
                  <a:srgbClr val="8DD8D3"/>
                </a:highlight>
                <a:latin typeface="EB Garamond"/>
                <a:ea typeface="EB Garamond"/>
                <a:cs typeface="EB Garamond"/>
                <a:sym typeface="EB Garamond"/>
              </a:rPr>
              <a:t>cero absoluto</a:t>
            </a:r>
            <a:r>
              <a:rPr lang="es" sz="1700">
                <a:solidFill>
                  <a:schemeClr val="dk2"/>
                </a:solidFill>
                <a:latin typeface="EB Garamond"/>
                <a:ea typeface="EB Garamond"/>
                <a:cs typeface="EB Garamond"/>
                <a:sym typeface="EB Garamond"/>
              </a:rPr>
              <a:t>.</a:t>
            </a:r>
            <a:r>
              <a:rPr b="1" lang="es" sz="1700">
                <a:solidFill>
                  <a:schemeClr val="dk2"/>
                </a:solidFill>
                <a:latin typeface="EB Garamond"/>
                <a:ea typeface="EB Garamond"/>
                <a:cs typeface="EB Garamond"/>
                <a:sym typeface="EB Garamond"/>
              </a:rPr>
              <a:t> *(Discreto o Continua)</a:t>
            </a:r>
            <a:endParaRPr sz="1700">
              <a:solidFill>
                <a:schemeClr val="dk2"/>
              </a:solidFill>
              <a:latin typeface="EB Garamond"/>
              <a:ea typeface="EB Garamond"/>
              <a:cs typeface="EB Garamond"/>
              <a:sym typeface="EB Garamond"/>
            </a:endParaRPr>
          </a:p>
        </p:txBody>
      </p:sp>
      <p:sp>
        <p:nvSpPr>
          <p:cNvPr id="530" name="Google Shape;530;p54"/>
          <p:cNvSpPr txBox="1"/>
          <p:nvPr/>
        </p:nvSpPr>
        <p:spPr>
          <a:xfrm>
            <a:off x="2643775" y="1650775"/>
            <a:ext cx="59118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700">
                <a:solidFill>
                  <a:schemeClr val="dk2"/>
                </a:solidFill>
                <a:latin typeface="EB Garamond"/>
                <a:ea typeface="EB Garamond"/>
                <a:cs typeface="EB Garamond"/>
                <a:sym typeface="EB Garamond"/>
              </a:rPr>
              <a:t>Variables cuyos atributos son </a:t>
            </a:r>
            <a:r>
              <a:rPr lang="es" sz="1700">
                <a:solidFill>
                  <a:schemeClr val="dk2"/>
                </a:solidFill>
                <a:highlight>
                  <a:srgbClr val="8DD8D3"/>
                </a:highlight>
                <a:latin typeface="EB Garamond"/>
                <a:ea typeface="EB Garamond"/>
                <a:cs typeface="EB Garamond"/>
                <a:sym typeface="EB Garamond"/>
              </a:rPr>
              <a:t>exhaustivos y excluyentes</a:t>
            </a:r>
            <a:r>
              <a:rPr lang="es" sz="1700">
                <a:solidFill>
                  <a:schemeClr val="dk2"/>
                </a:solidFill>
                <a:latin typeface="EB Garamond"/>
                <a:ea typeface="EB Garamond"/>
                <a:cs typeface="EB Garamond"/>
                <a:sym typeface="EB Garamond"/>
              </a:rPr>
              <a:t>.</a:t>
            </a:r>
            <a:endParaRPr sz="1700">
              <a:solidFill>
                <a:schemeClr val="dk2"/>
              </a:solidFill>
              <a:latin typeface="EB Garamond"/>
              <a:ea typeface="EB Garamond"/>
              <a:cs typeface="EB Garamond"/>
              <a:sym typeface="EB Garamond"/>
            </a:endParaRPr>
          </a:p>
        </p:txBody>
      </p:sp>
      <p:sp>
        <p:nvSpPr>
          <p:cNvPr id="531" name="Google Shape;531;p54"/>
          <p:cNvSpPr txBox="1"/>
          <p:nvPr/>
        </p:nvSpPr>
        <p:spPr>
          <a:xfrm>
            <a:off x="2643775" y="2451275"/>
            <a:ext cx="58287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 sz="1700">
                <a:solidFill>
                  <a:schemeClr val="dk2"/>
                </a:solidFill>
                <a:latin typeface="EB Garamond"/>
                <a:ea typeface="EB Garamond"/>
                <a:cs typeface="EB Garamond"/>
                <a:sym typeface="EB Garamond"/>
              </a:rPr>
              <a:t>Exhaustivo, excluyente y se pueden </a:t>
            </a:r>
            <a:r>
              <a:rPr lang="es" sz="1700">
                <a:solidFill>
                  <a:schemeClr val="dk2"/>
                </a:solidFill>
                <a:highlight>
                  <a:srgbClr val="8DD8D3"/>
                </a:highlight>
                <a:latin typeface="EB Garamond"/>
                <a:ea typeface="EB Garamond"/>
                <a:cs typeface="EB Garamond"/>
                <a:sym typeface="EB Garamond"/>
              </a:rPr>
              <a:t>ordenar o jerarquizar</a:t>
            </a:r>
            <a:r>
              <a:rPr lang="es" sz="1700">
                <a:solidFill>
                  <a:schemeClr val="dk2"/>
                </a:solidFill>
                <a:latin typeface="EB Garamond"/>
                <a:ea typeface="EB Garamond"/>
                <a:cs typeface="EB Garamond"/>
                <a:sym typeface="EB Garamond"/>
              </a:rPr>
              <a:t>.</a:t>
            </a:r>
            <a:endParaRPr sz="1700">
              <a:solidFill>
                <a:schemeClr val="dk2"/>
              </a:solidFill>
              <a:latin typeface="EB Garamond"/>
              <a:ea typeface="EB Garamond"/>
              <a:cs typeface="EB Garamond"/>
              <a:sym typeface="EB Garamond"/>
            </a:endParaRPr>
          </a:p>
        </p:txBody>
      </p:sp>
      <p:sp>
        <p:nvSpPr>
          <p:cNvPr id="532" name="Google Shape;532;p54"/>
          <p:cNvSpPr txBox="1"/>
          <p:nvPr/>
        </p:nvSpPr>
        <p:spPr>
          <a:xfrm>
            <a:off x="2643775" y="3172875"/>
            <a:ext cx="5828700" cy="87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700">
                <a:solidFill>
                  <a:schemeClr val="dk2"/>
                </a:solidFill>
                <a:latin typeface="EB Garamond"/>
                <a:ea typeface="EB Garamond"/>
                <a:cs typeface="EB Garamond"/>
                <a:sym typeface="EB Garamond"/>
              </a:rPr>
              <a:t>Exhaustivo, excluyente, se pueden jerarquizar y existe </a:t>
            </a:r>
            <a:r>
              <a:rPr lang="es" sz="1700">
                <a:solidFill>
                  <a:schemeClr val="dk2"/>
                </a:solidFill>
                <a:highlight>
                  <a:srgbClr val="8DD8D3"/>
                </a:highlight>
                <a:latin typeface="EB Garamond"/>
                <a:ea typeface="EB Garamond"/>
                <a:cs typeface="EB Garamond"/>
                <a:sym typeface="EB Garamond"/>
              </a:rPr>
              <a:t>diferencia exacta entre atributos</a:t>
            </a:r>
            <a:r>
              <a:rPr lang="es" sz="1700">
                <a:solidFill>
                  <a:schemeClr val="dk2"/>
                </a:solidFill>
                <a:latin typeface="EB Garamond"/>
                <a:ea typeface="EB Garamond"/>
                <a:cs typeface="EB Garamond"/>
                <a:sym typeface="EB Garamond"/>
              </a:rPr>
              <a:t>. </a:t>
            </a:r>
            <a:r>
              <a:rPr b="1" lang="es" sz="1700">
                <a:solidFill>
                  <a:schemeClr val="dk2"/>
                </a:solidFill>
                <a:latin typeface="EB Garamond"/>
                <a:ea typeface="EB Garamond"/>
                <a:cs typeface="EB Garamond"/>
                <a:sym typeface="EB Garamond"/>
              </a:rPr>
              <a:t>*(Discreto o Continua)</a:t>
            </a:r>
            <a:endParaRPr sz="1700">
              <a:solidFill>
                <a:schemeClr val="dk2"/>
              </a:solidFill>
              <a:latin typeface="EB Garamond"/>
              <a:ea typeface="EB Garamond"/>
              <a:cs typeface="EB Garamond"/>
              <a:sym typeface="EB Garamond"/>
            </a:endParaRPr>
          </a:p>
          <a:p>
            <a:pPr indent="0" lvl="0" marL="0" marR="0" rtl="0" algn="l">
              <a:spcBef>
                <a:spcPts val="0"/>
              </a:spcBef>
              <a:spcAft>
                <a:spcPts val="0"/>
              </a:spcAft>
              <a:buNone/>
            </a:pPr>
            <a:r>
              <a:t/>
            </a:r>
            <a:endParaRPr sz="1700">
              <a:solidFill>
                <a:schemeClr val="dk2"/>
              </a:solidFill>
              <a:latin typeface="EB Garamond"/>
              <a:ea typeface="EB Garamond"/>
              <a:cs typeface="EB Garamond"/>
              <a:sym typeface="EB Garamo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538" name="Google Shape;53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pSp>
        <p:nvGrpSpPr>
          <p:cNvPr id="539" name="Google Shape;539;p55"/>
          <p:cNvGrpSpPr/>
          <p:nvPr/>
        </p:nvGrpSpPr>
        <p:grpSpPr>
          <a:xfrm>
            <a:off x="2768656" y="1129850"/>
            <a:ext cx="3785709" cy="3611359"/>
            <a:chOff x="1422399" y="0"/>
            <a:chExt cx="4064100" cy="4064100"/>
          </a:xfrm>
        </p:grpSpPr>
        <p:sp>
          <p:nvSpPr>
            <p:cNvPr id="540" name="Google Shape;540;p55"/>
            <p:cNvSpPr/>
            <p:nvPr/>
          </p:nvSpPr>
          <p:spPr>
            <a:xfrm>
              <a:off x="1422399" y="0"/>
              <a:ext cx="4064100" cy="4064100"/>
            </a:xfrm>
            <a:prstGeom prst="ellipse">
              <a:avLst/>
            </a:prstGeom>
            <a:solidFill>
              <a:srgbClr val="C4E0B2"/>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5"/>
            <p:cNvSpPr txBox="1"/>
            <p:nvPr/>
          </p:nvSpPr>
          <p:spPr>
            <a:xfrm>
              <a:off x="2886252" y="203199"/>
              <a:ext cx="1136400" cy="609600"/>
            </a:xfrm>
            <a:prstGeom prst="rect">
              <a:avLst/>
            </a:prstGeom>
            <a:noFill/>
            <a:ln>
              <a:noFill/>
            </a:ln>
          </p:spPr>
          <p:txBody>
            <a:bodyPr anchorCtr="0" anchor="ctr" bIns="85325" lIns="85325" spcFirstLastPara="1" rIns="85325" wrap="square" tIns="85325">
              <a:noAutofit/>
            </a:bodyPr>
            <a:lstStyle/>
            <a:p>
              <a:pPr indent="0" lvl="0" marL="0" marR="0" rtl="0" algn="ctr">
                <a:lnSpc>
                  <a:spcPct val="90000"/>
                </a:lnSpc>
                <a:spcBef>
                  <a:spcPts val="0"/>
                </a:spcBef>
                <a:spcAft>
                  <a:spcPts val="0"/>
                </a:spcAft>
                <a:buNone/>
              </a:pPr>
              <a:r>
                <a:rPr b="1" lang="es" sz="1200">
                  <a:solidFill>
                    <a:srgbClr val="000000"/>
                  </a:solidFill>
                  <a:latin typeface="Cambria"/>
                  <a:ea typeface="Cambria"/>
                  <a:cs typeface="Cambria"/>
                  <a:sym typeface="Cambria"/>
                </a:rPr>
                <a:t>DE RAZÓN</a:t>
              </a:r>
              <a:endParaRPr/>
            </a:p>
          </p:txBody>
        </p:sp>
        <p:sp>
          <p:nvSpPr>
            <p:cNvPr id="542" name="Google Shape;542;p55"/>
            <p:cNvSpPr/>
            <p:nvPr/>
          </p:nvSpPr>
          <p:spPr>
            <a:xfrm>
              <a:off x="1828799" y="812799"/>
              <a:ext cx="3251100" cy="3251100"/>
            </a:xfrm>
            <a:prstGeom prst="ellipse">
              <a:avLst/>
            </a:prstGeom>
            <a:solidFill>
              <a:srgbClr val="A8D08C"/>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5"/>
            <p:cNvSpPr txBox="1"/>
            <p:nvPr/>
          </p:nvSpPr>
          <p:spPr>
            <a:xfrm>
              <a:off x="2886252" y="1007871"/>
              <a:ext cx="1136400" cy="585300"/>
            </a:xfrm>
            <a:prstGeom prst="rect">
              <a:avLst/>
            </a:prstGeom>
            <a:noFill/>
            <a:ln>
              <a:noFill/>
            </a:ln>
          </p:spPr>
          <p:txBody>
            <a:bodyPr anchorCtr="0" anchor="ctr" bIns="85325" lIns="85325" spcFirstLastPara="1" rIns="85325" wrap="square" tIns="85325">
              <a:noAutofit/>
            </a:bodyPr>
            <a:lstStyle/>
            <a:p>
              <a:pPr indent="0" lvl="0" marL="0" marR="0" rtl="0" algn="ctr">
                <a:lnSpc>
                  <a:spcPct val="90000"/>
                </a:lnSpc>
                <a:spcBef>
                  <a:spcPts val="0"/>
                </a:spcBef>
                <a:spcAft>
                  <a:spcPts val="0"/>
                </a:spcAft>
                <a:buNone/>
              </a:pPr>
              <a:r>
                <a:rPr b="1" lang="es" sz="1200">
                  <a:solidFill>
                    <a:srgbClr val="000000"/>
                  </a:solidFill>
                  <a:latin typeface="Cambria"/>
                  <a:ea typeface="Cambria"/>
                  <a:cs typeface="Cambria"/>
                  <a:sym typeface="Cambria"/>
                </a:rPr>
                <a:t>DE INTERVALO</a:t>
              </a:r>
              <a:endParaRPr/>
            </a:p>
          </p:txBody>
        </p:sp>
        <p:sp>
          <p:nvSpPr>
            <p:cNvPr id="544" name="Google Shape;544;p55"/>
            <p:cNvSpPr/>
            <p:nvPr/>
          </p:nvSpPr>
          <p:spPr>
            <a:xfrm>
              <a:off x="2235199" y="1625599"/>
              <a:ext cx="2438400" cy="2438400"/>
            </a:xfrm>
            <a:prstGeom prst="ellipse">
              <a:avLst/>
            </a:prstGeom>
            <a:solidFill>
              <a:srgbClr val="70AD47"/>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5"/>
            <p:cNvSpPr txBox="1"/>
            <p:nvPr/>
          </p:nvSpPr>
          <p:spPr>
            <a:xfrm>
              <a:off x="2886252" y="1808479"/>
              <a:ext cx="1136400" cy="548700"/>
            </a:xfrm>
            <a:prstGeom prst="rect">
              <a:avLst/>
            </a:prstGeom>
            <a:noFill/>
            <a:ln>
              <a:noFill/>
            </a:ln>
          </p:spPr>
          <p:txBody>
            <a:bodyPr anchorCtr="0" anchor="ctr" bIns="85325" lIns="85325" spcFirstLastPara="1" rIns="85325" wrap="square" tIns="85325">
              <a:noAutofit/>
            </a:bodyPr>
            <a:lstStyle/>
            <a:p>
              <a:pPr indent="0" lvl="0" marL="0" marR="0" rtl="0" algn="ctr">
                <a:lnSpc>
                  <a:spcPct val="90000"/>
                </a:lnSpc>
                <a:spcBef>
                  <a:spcPts val="0"/>
                </a:spcBef>
                <a:spcAft>
                  <a:spcPts val="0"/>
                </a:spcAft>
                <a:buNone/>
              </a:pPr>
              <a:r>
                <a:rPr b="1" lang="es" sz="1200">
                  <a:solidFill>
                    <a:srgbClr val="000000"/>
                  </a:solidFill>
                  <a:latin typeface="Cambria"/>
                  <a:ea typeface="Cambria"/>
                  <a:cs typeface="Cambria"/>
                  <a:sym typeface="Cambria"/>
                </a:rPr>
                <a:t>ORDINAL</a:t>
              </a:r>
              <a:endParaRPr/>
            </a:p>
          </p:txBody>
        </p:sp>
        <p:sp>
          <p:nvSpPr>
            <p:cNvPr id="546" name="Google Shape;546;p55"/>
            <p:cNvSpPr/>
            <p:nvPr/>
          </p:nvSpPr>
          <p:spPr>
            <a:xfrm>
              <a:off x="2641599" y="2438399"/>
              <a:ext cx="1625700" cy="1625700"/>
            </a:xfrm>
            <a:prstGeom prst="ellipse">
              <a:avLst/>
            </a:prstGeom>
            <a:solidFill>
              <a:srgbClr val="548135"/>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5"/>
            <p:cNvSpPr txBox="1"/>
            <p:nvPr/>
          </p:nvSpPr>
          <p:spPr>
            <a:xfrm>
              <a:off x="2879663" y="2844799"/>
              <a:ext cx="1149600" cy="812700"/>
            </a:xfrm>
            <a:prstGeom prst="rect">
              <a:avLst/>
            </a:prstGeom>
            <a:noFill/>
            <a:ln>
              <a:noFill/>
            </a:ln>
          </p:spPr>
          <p:txBody>
            <a:bodyPr anchorCtr="0" anchor="ctr" bIns="85325" lIns="85325" spcFirstLastPara="1" rIns="85325" wrap="square" tIns="85325">
              <a:noAutofit/>
            </a:bodyPr>
            <a:lstStyle/>
            <a:p>
              <a:pPr indent="0" lvl="0" marL="0" marR="0" rtl="0" algn="ctr">
                <a:lnSpc>
                  <a:spcPct val="90000"/>
                </a:lnSpc>
                <a:spcBef>
                  <a:spcPts val="0"/>
                </a:spcBef>
                <a:spcAft>
                  <a:spcPts val="0"/>
                </a:spcAft>
                <a:buNone/>
              </a:pPr>
              <a:r>
                <a:rPr b="1" lang="es" sz="1200">
                  <a:solidFill>
                    <a:srgbClr val="000000"/>
                  </a:solidFill>
                  <a:latin typeface="Cambria"/>
                  <a:ea typeface="Cambria"/>
                  <a:cs typeface="Cambria"/>
                  <a:sym typeface="Cambria"/>
                </a:rPr>
                <a:t>NOMINAL</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553" name="Google Shape;553;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554" name="Google Shape;554;p56"/>
          <p:cNvGraphicFramePr/>
          <p:nvPr/>
        </p:nvGraphicFramePr>
        <p:xfrm>
          <a:off x="528638" y="1183573"/>
          <a:ext cx="3000000" cy="3000000"/>
        </p:xfrm>
        <a:graphic>
          <a:graphicData uri="http://schemas.openxmlformats.org/drawingml/2006/table">
            <a:tbl>
              <a:tblPr bandRow="1" firstRow="1">
                <a:noFill/>
                <a:tableStyleId>{BD77198A-63D1-4FB9-AA38-57E1537C359A}</a:tableStyleId>
              </a:tblPr>
              <a:tblGrid>
                <a:gridCol w="3403475"/>
                <a:gridCol w="2355425"/>
                <a:gridCol w="2284925"/>
              </a:tblGrid>
              <a:tr h="335250">
                <a:tc>
                  <a:txBody>
                    <a:bodyPr/>
                    <a:lstStyle/>
                    <a:p>
                      <a:pPr indent="0" lvl="0" marL="0" marR="0" rtl="0" algn="l">
                        <a:spcBef>
                          <a:spcPts val="0"/>
                        </a:spcBef>
                        <a:spcAft>
                          <a:spcPts val="0"/>
                        </a:spcAft>
                        <a:buNone/>
                      </a:pPr>
                      <a:r>
                        <a:rPr lang="es" sz="1600">
                          <a:latin typeface="EB Garamond"/>
                          <a:ea typeface="EB Garamond"/>
                          <a:cs typeface="EB Garamond"/>
                          <a:sym typeface="EB Garamond"/>
                        </a:rPr>
                        <a:t>Variables y atributos</a:t>
                      </a:r>
                      <a:endParaRPr>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solidFill>
                      <a:srgbClr val="156C77"/>
                    </a:solidFill>
                  </a:tcPr>
                </a:tc>
                <a:tc>
                  <a:txBody>
                    <a:bodyPr/>
                    <a:lstStyle/>
                    <a:p>
                      <a:pPr indent="0" lvl="0" marL="0" marR="0" rtl="0" algn="l">
                        <a:spcBef>
                          <a:spcPts val="0"/>
                        </a:spcBef>
                        <a:spcAft>
                          <a:spcPts val="0"/>
                        </a:spcAft>
                        <a:buNone/>
                      </a:pPr>
                      <a:r>
                        <a:rPr lang="es" sz="1600">
                          <a:latin typeface="EB Garamond"/>
                          <a:ea typeface="EB Garamond"/>
                          <a:cs typeface="EB Garamond"/>
                          <a:sym typeface="EB Garamond"/>
                        </a:rPr>
                        <a:t>Tipo de Variable</a:t>
                      </a:r>
                      <a:endParaRPr>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solidFill>
                      <a:srgbClr val="156C77"/>
                    </a:solidFill>
                  </a:tcPr>
                </a:tc>
                <a:tc>
                  <a:txBody>
                    <a:bodyPr/>
                    <a:lstStyle/>
                    <a:p>
                      <a:pPr indent="0" lvl="0" marL="0" rtl="0" algn="l">
                        <a:spcBef>
                          <a:spcPts val="0"/>
                        </a:spcBef>
                        <a:spcAft>
                          <a:spcPts val="0"/>
                        </a:spcAft>
                        <a:buClr>
                          <a:schemeClr val="dk1"/>
                        </a:buClr>
                        <a:buFont typeface="Arial"/>
                        <a:buNone/>
                      </a:pPr>
                      <a:r>
                        <a:rPr lang="es" sz="1600">
                          <a:solidFill>
                            <a:schemeClr val="lt1"/>
                          </a:solidFill>
                          <a:latin typeface="EB Garamond"/>
                          <a:ea typeface="EB Garamond"/>
                          <a:cs typeface="EB Garamond"/>
                          <a:sym typeface="EB Garamond"/>
                        </a:rPr>
                        <a:t>Nivel de Medición</a:t>
                      </a:r>
                      <a:endParaRPr sz="1600">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solidFill>
                      <a:srgbClr val="156C77"/>
                    </a:solidFill>
                  </a:tcPr>
                </a:tc>
              </a:tr>
              <a:tr h="41452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Edad</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t/>
                      </a:r>
                      <a:endParaRPr sz="1600">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r>
              <a:tr h="396900">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Nivel de confianza en las instituciones</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687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Estado Civil</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t/>
                      </a:r>
                      <a:endParaRPr sz="1600">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r>
              <a:tr h="432125">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Nivel de aprobación al gobierno</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5700">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Puntaje PTU</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c>
                  <a:txBody>
                    <a:bodyPr/>
                    <a:lstStyle/>
                    <a:p>
                      <a:pPr indent="0" lvl="0" marL="0" marR="0" rtl="0" algn="l">
                        <a:spcBef>
                          <a:spcPts val="0"/>
                        </a:spcBef>
                        <a:spcAft>
                          <a:spcPts val="0"/>
                        </a:spcAft>
                        <a:buNone/>
                      </a:pPr>
                      <a:r>
                        <a:t/>
                      </a:r>
                      <a:endParaRPr sz="1600">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D5D4"/>
                    </a:solidFill>
                  </a:tcPr>
                </a:tc>
              </a:tr>
              <a:tr h="414500">
                <a:tc>
                  <a:txBody>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Cantidad de hijos nacidos vivos</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solidFill>
                          <a:schemeClr val="dk2"/>
                        </a:solidFill>
                        <a:latin typeface="EB Garamond"/>
                        <a:ea typeface="EB Garamond"/>
                        <a:cs typeface="EB Garamond"/>
                        <a:sym typeface="EB Garamond"/>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descr="Diagrama&#10;&#10;Descripción generada automáticamente" id="560" name="Google Shape;560;p57"/>
          <p:cNvPicPr preferRelativeResize="0"/>
          <p:nvPr/>
        </p:nvPicPr>
        <p:blipFill rotWithShape="1">
          <a:blip r:embed="rId3">
            <a:alphaModFix/>
          </a:blip>
          <a:srcRect b="0" l="0" r="0" t="0"/>
          <a:stretch/>
        </p:blipFill>
        <p:spPr>
          <a:xfrm>
            <a:off x="914323" y="0"/>
            <a:ext cx="7315354" cy="51435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Mundo de las variables</a:t>
            </a:r>
            <a:endParaRPr b="1">
              <a:latin typeface="EB Garamond"/>
              <a:ea typeface="EB Garamond"/>
              <a:cs typeface="EB Garamond"/>
              <a:sym typeface="EB Garamond"/>
            </a:endParaRPr>
          </a:p>
        </p:txBody>
      </p:sp>
      <p:sp>
        <p:nvSpPr>
          <p:cNvPr id="566" name="Google Shape;566;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67" name="Google Shape;567;p58"/>
          <p:cNvSpPr/>
          <p:nvPr/>
        </p:nvSpPr>
        <p:spPr>
          <a:xfrm>
            <a:off x="508182" y="20070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 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(Categóricas)</a:t>
            </a:r>
            <a:endParaRPr sz="1500">
              <a:solidFill>
                <a:srgbClr val="FFFFFF"/>
              </a:solidFill>
              <a:latin typeface="EB Garamond"/>
              <a:ea typeface="EB Garamond"/>
              <a:cs typeface="EB Garamond"/>
              <a:sym typeface="EB Garamond"/>
            </a:endParaRPr>
          </a:p>
        </p:txBody>
      </p:sp>
      <p:sp>
        <p:nvSpPr>
          <p:cNvPr id="568" name="Google Shape;568;p58"/>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(Numéricas)</a:t>
            </a:r>
            <a:endParaRPr sz="1500">
              <a:solidFill>
                <a:srgbClr val="FFFFFF"/>
              </a:solidFill>
              <a:latin typeface="EB Garamond"/>
              <a:ea typeface="EB Garamond"/>
              <a:cs typeface="EB Garamond"/>
              <a:sym typeface="EB Garamond"/>
            </a:endParaRPr>
          </a:p>
        </p:txBody>
      </p:sp>
      <p:sp>
        <p:nvSpPr>
          <p:cNvPr id="569" name="Google Shape;569;p58"/>
          <p:cNvSpPr/>
          <p:nvPr/>
        </p:nvSpPr>
        <p:spPr>
          <a:xfrm>
            <a:off x="2699481" y="2047942"/>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570" name="Google Shape;570;p58"/>
          <p:cNvSpPr/>
          <p:nvPr/>
        </p:nvSpPr>
        <p:spPr>
          <a:xfrm>
            <a:off x="2699481" y="275862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571" name="Google Shape;571;p58"/>
          <p:cNvSpPr/>
          <p:nvPr/>
        </p:nvSpPr>
        <p:spPr>
          <a:xfrm>
            <a:off x="2699481" y="346931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572" name="Google Shape;572;p58"/>
          <p:cNvSpPr/>
          <p:nvPr/>
        </p:nvSpPr>
        <p:spPr>
          <a:xfrm>
            <a:off x="2699481" y="416602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573" name="Google Shape;573;p58"/>
          <p:cNvSpPr txBox="1"/>
          <p:nvPr/>
        </p:nvSpPr>
        <p:spPr>
          <a:xfrm>
            <a:off x="508174" y="1361250"/>
            <a:ext cx="1917600" cy="323100"/>
          </a:xfrm>
          <a:prstGeom prst="rect">
            <a:avLst/>
          </a:prstGeom>
          <a:solidFill>
            <a:srgbClr val="C27BA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TIPOS</a:t>
            </a:r>
            <a:endParaRPr sz="1100">
              <a:solidFill>
                <a:schemeClr val="dk2"/>
              </a:solidFill>
              <a:latin typeface="EB Garamond"/>
              <a:ea typeface="EB Garamond"/>
              <a:cs typeface="EB Garamond"/>
              <a:sym typeface="EB Garamond"/>
            </a:endParaRPr>
          </a:p>
        </p:txBody>
      </p:sp>
      <p:sp>
        <p:nvSpPr>
          <p:cNvPr id="574" name="Google Shape;574;p58"/>
          <p:cNvSpPr txBox="1"/>
          <p:nvPr/>
        </p:nvSpPr>
        <p:spPr>
          <a:xfrm>
            <a:off x="2699475" y="1361250"/>
            <a:ext cx="1917600" cy="554100"/>
          </a:xfrm>
          <a:prstGeom prst="rect">
            <a:avLst/>
          </a:prstGeom>
          <a:solidFill>
            <a:srgbClr val="AAD5D4"/>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NIVEL DE MEDICIÓN</a:t>
            </a:r>
            <a:endParaRPr sz="1100">
              <a:solidFill>
                <a:schemeClr val="dk2"/>
              </a:solidFill>
              <a:latin typeface="EB Garamond"/>
              <a:ea typeface="EB Garamond"/>
              <a:cs typeface="EB Garamond"/>
              <a:sym typeface="EB Garamond"/>
            </a:endParaRPr>
          </a:p>
        </p:txBody>
      </p:sp>
      <p:sp>
        <p:nvSpPr>
          <p:cNvPr id="575" name="Google Shape;575;p58"/>
          <p:cNvSpPr/>
          <p:nvPr/>
        </p:nvSpPr>
        <p:spPr>
          <a:xfrm>
            <a:off x="6871250" y="2055750"/>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100">
              <a:latin typeface="EB Garamond"/>
              <a:ea typeface="EB Garamond"/>
              <a:cs typeface="EB Garamond"/>
              <a:sym typeface="EB Garamond"/>
            </a:endParaRPr>
          </a:p>
        </p:txBody>
      </p:sp>
      <p:sp>
        <p:nvSpPr>
          <p:cNvPr id="576" name="Google Shape;576;p58"/>
          <p:cNvSpPr/>
          <p:nvPr/>
        </p:nvSpPr>
        <p:spPr>
          <a:xfrm>
            <a:off x="6871249" y="3013767"/>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100">
              <a:latin typeface="EB Garamond"/>
              <a:ea typeface="EB Garamond"/>
              <a:cs typeface="EB Garamond"/>
              <a:sym typeface="EB Garamond"/>
            </a:endParaRPr>
          </a:p>
        </p:txBody>
      </p:sp>
      <p:sp>
        <p:nvSpPr>
          <p:cNvPr id="577" name="Google Shape;577;p58"/>
          <p:cNvSpPr/>
          <p:nvPr/>
        </p:nvSpPr>
        <p:spPr>
          <a:xfrm>
            <a:off x="6871249" y="400417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100">
              <a:latin typeface="EB Garamond"/>
              <a:ea typeface="EB Garamond"/>
              <a:cs typeface="EB Garamond"/>
              <a:sym typeface="EB Garamond"/>
            </a:endParaRPr>
          </a:p>
        </p:txBody>
      </p:sp>
      <p:sp>
        <p:nvSpPr>
          <p:cNvPr id="578" name="Google Shape;578;p58"/>
          <p:cNvSpPr txBox="1"/>
          <p:nvPr/>
        </p:nvSpPr>
        <p:spPr>
          <a:xfrm>
            <a:off x="6871250" y="1361250"/>
            <a:ext cx="1917600" cy="554100"/>
          </a:xfrm>
          <a:prstGeom prst="rect">
            <a:avLst/>
          </a:prstGeom>
          <a:solidFill>
            <a:srgbClr val="A5A5A5"/>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FUNCIÓN EN LA INVESTIGACIÓN</a:t>
            </a:r>
            <a:endParaRPr sz="1100">
              <a:solidFill>
                <a:schemeClr val="dk2"/>
              </a:solidFill>
              <a:latin typeface="EB Garamond"/>
              <a:ea typeface="EB Garamond"/>
              <a:cs typeface="EB Garamond"/>
              <a:sym typeface="EB Garamond"/>
            </a:endParaRPr>
          </a:p>
        </p:txBody>
      </p:sp>
      <p:sp>
        <p:nvSpPr>
          <p:cNvPr id="579" name="Google Shape;579;p58"/>
          <p:cNvSpPr/>
          <p:nvPr/>
        </p:nvSpPr>
        <p:spPr>
          <a:xfrm>
            <a:off x="4801325" y="2774075"/>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Continua</a:t>
            </a:r>
            <a:endParaRPr sz="1100">
              <a:solidFill>
                <a:schemeClr val="dk2"/>
              </a:solidFill>
              <a:latin typeface="EB Garamond"/>
              <a:ea typeface="EB Garamond"/>
              <a:cs typeface="EB Garamond"/>
              <a:sym typeface="EB Garamond"/>
            </a:endParaRPr>
          </a:p>
        </p:txBody>
      </p:sp>
      <p:sp>
        <p:nvSpPr>
          <p:cNvPr id="580" name="Google Shape;580;p58"/>
          <p:cNvSpPr/>
          <p:nvPr/>
        </p:nvSpPr>
        <p:spPr>
          <a:xfrm>
            <a:off x="4801325" y="207045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Discreta</a:t>
            </a:r>
            <a:endParaRPr sz="1100">
              <a:solidFill>
                <a:schemeClr val="dk2"/>
              </a:solidFill>
              <a:latin typeface="EB Garamond"/>
              <a:ea typeface="EB Garamond"/>
              <a:cs typeface="EB Garamond"/>
              <a:sym typeface="EB Garamond"/>
            </a:endParaRPr>
          </a:p>
        </p:txBody>
      </p:sp>
      <p:sp>
        <p:nvSpPr>
          <p:cNvPr id="581" name="Google Shape;581;p58"/>
          <p:cNvSpPr txBox="1"/>
          <p:nvPr/>
        </p:nvSpPr>
        <p:spPr>
          <a:xfrm>
            <a:off x="4801325" y="1361250"/>
            <a:ext cx="1917600" cy="5541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ESCALA DE MEDICIÓN</a:t>
            </a:r>
            <a:endParaRPr sz="1100">
              <a:solidFill>
                <a:schemeClr val="dk2"/>
              </a:solidFill>
              <a:latin typeface="EB Garamond"/>
              <a:ea typeface="EB Garamond"/>
              <a:cs typeface="EB Garamond"/>
              <a:sym typeface="EB Garamond"/>
            </a:endParaRPr>
          </a:p>
        </p:txBody>
      </p:sp>
      <p:sp>
        <p:nvSpPr>
          <p:cNvPr id="582" name="Google Shape;582;p58"/>
          <p:cNvSpPr/>
          <p:nvPr/>
        </p:nvSpPr>
        <p:spPr>
          <a:xfrm>
            <a:off x="6809550" y="1191925"/>
            <a:ext cx="2022600" cy="35583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 name="Google Shape;583;p58"/>
          <p:cNvSpPr/>
          <p:nvPr/>
        </p:nvSpPr>
        <p:spPr>
          <a:xfrm>
            <a:off x="435600" y="1191925"/>
            <a:ext cx="4275000" cy="35583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Escala de medición</a:t>
            </a:r>
            <a:endParaRPr b="1">
              <a:latin typeface="EB Garamond"/>
              <a:ea typeface="EB Garamond"/>
              <a:cs typeface="EB Garamond"/>
              <a:sym typeface="EB Garamond"/>
            </a:endParaRPr>
          </a:p>
        </p:txBody>
      </p:sp>
      <p:sp>
        <p:nvSpPr>
          <p:cNvPr id="589" name="Google Shape;58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590" name="Google Shape;590;p59"/>
          <p:cNvSpPr/>
          <p:nvPr/>
        </p:nvSpPr>
        <p:spPr>
          <a:xfrm>
            <a:off x="432879" y="310039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chemeClr val="dk2"/>
                </a:solidFill>
                <a:latin typeface="EB Garamond"/>
                <a:ea typeface="EB Garamond"/>
                <a:cs typeface="EB Garamond"/>
                <a:sym typeface="EB Garamond"/>
              </a:rPr>
              <a:t>Continua</a:t>
            </a:r>
            <a:endParaRPr sz="1800">
              <a:solidFill>
                <a:schemeClr val="dk2"/>
              </a:solidFill>
              <a:latin typeface="EB Garamond"/>
              <a:ea typeface="EB Garamond"/>
              <a:cs typeface="EB Garamond"/>
              <a:sym typeface="EB Garamond"/>
            </a:endParaRPr>
          </a:p>
        </p:txBody>
      </p:sp>
      <p:sp>
        <p:nvSpPr>
          <p:cNvPr id="591" name="Google Shape;591;p59"/>
          <p:cNvSpPr/>
          <p:nvPr/>
        </p:nvSpPr>
        <p:spPr>
          <a:xfrm>
            <a:off x="432875" y="136630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800">
                <a:solidFill>
                  <a:schemeClr val="dk2"/>
                </a:solidFill>
                <a:latin typeface="EB Garamond"/>
                <a:ea typeface="EB Garamond"/>
                <a:cs typeface="EB Garamond"/>
                <a:sym typeface="EB Garamond"/>
              </a:rPr>
              <a:t>Discreta</a:t>
            </a:r>
            <a:endParaRPr>
              <a:solidFill>
                <a:schemeClr val="dk2"/>
              </a:solidFill>
              <a:latin typeface="EB Garamond"/>
              <a:ea typeface="EB Garamond"/>
              <a:cs typeface="EB Garamond"/>
              <a:sym typeface="EB Garamond"/>
            </a:endParaRPr>
          </a:p>
        </p:txBody>
      </p:sp>
      <p:sp>
        <p:nvSpPr>
          <p:cNvPr id="592" name="Google Shape;592;p59"/>
          <p:cNvSpPr txBox="1"/>
          <p:nvPr/>
        </p:nvSpPr>
        <p:spPr>
          <a:xfrm>
            <a:off x="2897799" y="1366300"/>
            <a:ext cx="55746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Son aquellas en que la escala de medición de la variable </a:t>
            </a:r>
            <a:r>
              <a:rPr b="1" lang="es" sz="1600">
                <a:solidFill>
                  <a:schemeClr val="dk2"/>
                </a:solidFill>
                <a:latin typeface="EB Garamond"/>
                <a:ea typeface="EB Garamond"/>
                <a:cs typeface="EB Garamond"/>
                <a:sym typeface="EB Garamond"/>
              </a:rPr>
              <a:t>no cabe la posibilidad de hallar valores intermedios</a:t>
            </a:r>
            <a:r>
              <a:rPr lang="es" sz="1600">
                <a:solidFill>
                  <a:schemeClr val="dk2"/>
                </a:solidFill>
                <a:latin typeface="EB Garamond"/>
                <a:ea typeface="EB Garamond"/>
                <a:cs typeface="EB Garamond"/>
                <a:sym typeface="EB Garamond"/>
              </a:rPr>
              <a:t>, comprendidos entre 2 atributos de la variable</a:t>
            </a:r>
            <a:endParaRPr sz="1200">
              <a:solidFill>
                <a:schemeClr val="dk2"/>
              </a:solidFill>
              <a:latin typeface="EB Garamond"/>
              <a:ea typeface="EB Garamond"/>
              <a:cs typeface="EB Garamond"/>
              <a:sym typeface="EB Garamond"/>
            </a:endParaRPr>
          </a:p>
        </p:txBody>
      </p:sp>
      <p:sp>
        <p:nvSpPr>
          <p:cNvPr id="593" name="Google Shape;593;p59"/>
          <p:cNvSpPr txBox="1"/>
          <p:nvPr/>
        </p:nvSpPr>
        <p:spPr>
          <a:xfrm>
            <a:off x="2897789" y="3071455"/>
            <a:ext cx="5949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600">
                <a:solidFill>
                  <a:schemeClr val="dk2"/>
                </a:solidFill>
                <a:latin typeface="EB Garamond"/>
                <a:ea typeface="EB Garamond"/>
                <a:cs typeface="EB Garamond"/>
                <a:sym typeface="EB Garamond"/>
              </a:rPr>
              <a:t>Son aquellas en las que puede hallarse valores intermedios entre dos valores dados, al conformar una </a:t>
            </a:r>
            <a:r>
              <a:rPr b="1" lang="es" sz="1600">
                <a:solidFill>
                  <a:schemeClr val="dk2"/>
                </a:solidFill>
                <a:latin typeface="EB Garamond"/>
                <a:ea typeface="EB Garamond"/>
                <a:cs typeface="EB Garamond"/>
                <a:sym typeface="EB Garamond"/>
              </a:rPr>
              <a:t>escala ininterrumpida de valores.</a:t>
            </a:r>
            <a:endParaRPr sz="1200">
              <a:solidFill>
                <a:schemeClr val="dk2"/>
              </a:solidFill>
              <a:latin typeface="EB Garamond"/>
              <a:ea typeface="EB Garamond"/>
              <a:cs typeface="EB Garamond"/>
              <a:sym typeface="EB Garamond"/>
            </a:endParaRPr>
          </a:p>
        </p:txBody>
      </p:sp>
      <p:sp>
        <p:nvSpPr>
          <p:cNvPr id="594" name="Google Shape;594;p59"/>
          <p:cNvSpPr txBox="1"/>
          <p:nvPr/>
        </p:nvSpPr>
        <p:spPr>
          <a:xfrm>
            <a:off x="5328626" y="2026825"/>
            <a:ext cx="2837400" cy="738900"/>
          </a:xfrm>
          <a:prstGeom prst="rect">
            <a:avLst/>
          </a:prstGeom>
          <a:noFill/>
          <a:ln cap="flat" cmpd="sng" w="41275">
            <a:solidFill>
              <a:schemeClr val="accent4"/>
            </a:solidFill>
            <a:prstDash val="dash"/>
            <a:round/>
            <a:headEnd len="sm" w="sm" type="none"/>
            <a:tailEnd len="sm" w="sm" type="none"/>
          </a:ln>
        </p:spPr>
        <p:txBody>
          <a:bodyPr anchorCtr="0" anchor="t" bIns="45700" lIns="91425" spcFirstLastPara="1" rIns="91425" wrap="square" tIns="45700">
            <a:spAutoFit/>
          </a:bodyPr>
          <a:lstStyle/>
          <a:p>
            <a:pPr indent="-273050" lvl="0" marL="285750" marR="0" rtl="0" algn="l">
              <a:spcBef>
                <a:spcPts val="0"/>
              </a:spcBef>
              <a:spcAft>
                <a:spcPts val="0"/>
              </a:spcAft>
              <a:buClr>
                <a:schemeClr val="dk2"/>
              </a:buClr>
              <a:buSzPts val="1400"/>
              <a:buFont typeface="EB Garamond"/>
              <a:buChar char="✔"/>
            </a:pPr>
            <a:r>
              <a:rPr lang="es">
                <a:solidFill>
                  <a:schemeClr val="dk2"/>
                </a:solidFill>
                <a:latin typeface="EB Garamond"/>
                <a:ea typeface="EB Garamond"/>
                <a:cs typeface="EB Garamond"/>
                <a:sym typeface="EB Garamond"/>
              </a:rPr>
              <a:t>Número de hijos/as</a:t>
            </a:r>
            <a:endParaRPr>
              <a:solidFill>
                <a:schemeClr val="dk2"/>
              </a:solidFill>
              <a:latin typeface="EB Garamond"/>
              <a:ea typeface="EB Garamond"/>
              <a:cs typeface="EB Garamond"/>
              <a:sym typeface="EB Garamond"/>
            </a:endParaRPr>
          </a:p>
          <a:p>
            <a:pPr indent="-273050" lvl="0" marL="285750" marR="0" rtl="0" algn="l">
              <a:spcBef>
                <a:spcPts val="0"/>
              </a:spcBef>
              <a:spcAft>
                <a:spcPts val="0"/>
              </a:spcAft>
              <a:buClr>
                <a:schemeClr val="dk2"/>
              </a:buClr>
              <a:buSzPts val="1400"/>
              <a:buFont typeface="EB Garamond"/>
              <a:buChar char="✔"/>
            </a:pPr>
            <a:r>
              <a:rPr lang="es">
                <a:solidFill>
                  <a:schemeClr val="dk2"/>
                </a:solidFill>
                <a:latin typeface="EB Garamond"/>
                <a:ea typeface="EB Garamond"/>
                <a:cs typeface="EB Garamond"/>
                <a:sym typeface="EB Garamond"/>
              </a:rPr>
              <a:t>Veces que miro mi celular</a:t>
            </a:r>
            <a:endParaRPr>
              <a:solidFill>
                <a:schemeClr val="dk2"/>
              </a:solidFill>
              <a:latin typeface="EB Garamond"/>
              <a:ea typeface="EB Garamond"/>
              <a:cs typeface="EB Garamond"/>
              <a:sym typeface="EB Garamond"/>
            </a:endParaRPr>
          </a:p>
          <a:p>
            <a:pPr indent="-273050" lvl="0" marL="285750" marR="0" rtl="0" algn="l">
              <a:spcBef>
                <a:spcPts val="0"/>
              </a:spcBef>
              <a:spcAft>
                <a:spcPts val="0"/>
              </a:spcAft>
              <a:buClr>
                <a:schemeClr val="dk2"/>
              </a:buClr>
              <a:buSzPts val="1400"/>
              <a:buFont typeface="EB Garamond"/>
              <a:buChar char="✔"/>
            </a:pPr>
            <a:r>
              <a:rPr lang="es">
                <a:solidFill>
                  <a:schemeClr val="dk2"/>
                </a:solidFill>
                <a:latin typeface="EB Garamond"/>
                <a:ea typeface="EB Garamond"/>
                <a:cs typeface="EB Garamond"/>
                <a:sym typeface="EB Garamond"/>
              </a:rPr>
              <a:t>Número de integrantes hogar</a:t>
            </a:r>
            <a:endParaRPr>
              <a:solidFill>
                <a:schemeClr val="dk2"/>
              </a:solidFill>
              <a:latin typeface="EB Garamond"/>
              <a:ea typeface="EB Garamond"/>
              <a:cs typeface="EB Garamond"/>
              <a:sym typeface="EB Garamond"/>
            </a:endParaRPr>
          </a:p>
        </p:txBody>
      </p:sp>
      <p:sp>
        <p:nvSpPr>
          <p:cNvPr id="595" name="Google Shape;595;p59"/>
          <p:cNvSpPr txBox="1"/>
          <p:nvPr/>
        </p:nvSpPr>
        <p:spPr>
          <a:xfrm>
            <a:off x="5328550" y="3790375"/>
            <a:ext cx="2837400" cy="738900"/>
          </a:xfrm>
          <a:prstGeom prst="rect">
            <a:avLst/>
          </a:prstGeom>
          <a:noFill/>
          <a:ln cap="flat" cmpd="sng" w="41275">
            <a:solidFill>
              <a:schemeClr val="accent4"/>
            </a:solidFill>
            <a:prstDash val="dash"/>
            <a:round/>
            <a:headEnd len="sm" w="sm" type="none"/>
            <a:tailEnd len="sm" w="sm" type="none"/>
          </a:ln>
        </p:spPr>
        <p:txBody>
          <a:bodyPr anchorCtr="0" anchor="t" bIns="45700" lIns="91425" spcFirstLastPara="1" rIns="91425" wrap="square" tIns="45700">
            <a:spAutoFit/>
          </a:bodyPr>
          <a:lstStyle/>
          <a:p>
            <a:pPr indent="-273050" lvl="0" marL="285750" marR="0" rtl="0" algn="l">
              <a:spcBef>
                <a:spcPts val="0"/>
              </a:spcBef>
              <a:spcAft>
                <a:spcPts val="0"/>
              </a:spcAft>
              <a:buClr>
                <a:schemeClr val="dk2"/>
              </a:buClr>
              <a:buSzPts val="1400"/>
              <a:buFont typeface="EB Garamond"/>
              <a:buChar char="✔"/>
            </a:pPr>
            <a:r>
              <a:rPr lang="es">
                <a:solidFill>
                  <a:schemeClr val="dk2"/>
                </a:solidFill>
                <a:latin typeface="EB Garamond"/>
                <a:ea typeface="EB Garamond"/>
                <a:cs typeface="EB Garamond"/>
                <a:sym typeface="EB Garamond"/>
              </a:rPr>
              <a:t>Peso</a:t>
            </a:r>
            <a:endParaRPr>
              <a:solidFill>
                <a:schemeClr val="dk2"/>
              </a:solidFill>
              <a:latin typeface="EB Garamond"/>
              <a:ea typeface="EB Garamond"/>
              <a:cs typeface="EB Garamond"/>
              <a:sym typeface="EB Garamond"/>
            </a:endParaRPr>
          </a:p>
          <a:p>
            <a:pPr indent="-273050" lvl="0" marL="285750" marR="0" rtl="0" algn="l">
              <a:spcBef>
                <a:spcPts val="0"/>
              </a:spcBef>
              <a:spcAft>
                <a:spcPts val="0"/>
              </a:spcAft>
              <a:buClr>
                <a:schemeClr val="dk2"/>
              </a:buClr>
              <a:buSzPts val="1400"/>
              <a:buFont typeface="EB Garamond"/>
              <a:buChar char="✔"/>
            </a:pPr>
            <a:r>
              <a:rPr lang="es">
                <a:solidFill>
                  <a:schemeClr val="dk2"/>
                </a:solidFill>
                <a:latin typeface="EB Garamond"/>
                <a:ea typeface="EB Garamond"/>
                <a:cs typeface="EB Garamond"/>
                <a:sym typeface="EB Garamond"/>
              </a:rPr>
              <a:t>Talla</a:t>
            </a:r>
            <a:endParaRPr>
              <a:solidFill>
                <a:schemeClr val="dk2"/>
              </a:solidFill>
              <a:latin typeface="EB Garamond"/>
              <a:ea typeface="EB Garamond"/>
              <a:cs typeface="EB Garamond"/>
              <a:sym typeface="EB Garamond"/>
            </a:endParaRPr>
          </a:p>
          <a:p>
            <a:pPr indent="-273050" lvl="0" marL="285750" marR="0" rtl="0" algn="l">
              <a:spcBef>
                <a:spcPts val="0"/>
              </a:spcBef>
              <a:spcAft>
                <a:spcPts val="0"/>
              </a:spcAft>
              <a:buClr>
                <a:schemeClr val="dk2"/>
              </a:buClr>
              <a:buSzPts val="1400"/>
              <a:buFont typeface="EB Garamond"/>
              <a:buChar char="✔"/>
            </a:pPr>
            <a:r>
              <a:rPr lang="es">
                <a:solidFill>
                  <a:schemeClr val="dk2"/>
                </a:solidFill>
                <a:latin typeface="EB Garamond"/>
                <a:ea typeface="EB Garamond"/>
                <a:cs typeface="EB Garamond"/>
                <a:sym typeface="EB Garamond"/>
              </a:rPr>
              <a:t>Ingreso</a:t>
            </a:r>
            <a:endParaRPr>
              <a:solidFill>
                <a:schemeClr val="dk2"/>
              </a:solidFill>
              <a:latin typeface="EB Garamond"/>
              <a:ea typeface="EB Garamond"/>
              <a:cs typeface="EB Garamond"/>
              <a:sym typeface="EB Garamon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Mundo de las variables</a:t>
            </a:r>
            <a:endParaRPr b="1">
              <a:latin typeface="EB Garamond"/>
              <a:ea typeface="EB Garamond"/>
              <a:cs typeface="EB Garamond"/>
              <a:sym typeface="EB Garamond"/>
            </a:endParaRPr>
          </a:p>
        </p:txBody>
      </p:sp>
      <p:sp>
        <p:nvSpPr>
          <p:cNvPr id="601" name="Google Shape;601;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02" name="Google Shape;602;p60"/>
          <p:cNvSpPr/>
          <p:nvPr/>
        </p:nvSpPr>
        <p:spPr>
          <a:xfrm>
            <a:off x="508182" y="20070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 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(Categóricas)</a:t>
            </a:r>
            <a:endParaRPr sz="1500">
              <a:solidFill>
                <a:srgbClr val="FFFFFF"/>
              </a:solidFill>
              <a:latin typeface="EB Garamond"/>
              <a:ea typeface="EB Garamond"/>
              <a:cs typeface="EB Garamond"/>
              <a:sym typeface="EB Garamond"/>
            </a:endParaRPr>
          </a:p>
        </p:txBody>
      </p:sp>
      <p:sp>
        <p:nvSpPr>
          <p:cNvPr id="603" name="Google Shape;603;p60"/>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(Numéricas)</a:t>
            </a:r>
            <a:endParaRPr sz="1500">
              <a:solidFill>
                <a:srgbClr val="FFFFFF"/>
              </a:solidFill>
              <a:latin typeface="EB Garamond"/>
              <a:ea typeface="EB Garamond"/>
              <a:cs typeface="EB Garamond"/>
              <a:sym typeface="EB Garamond"/>
            </a:endParaRPr>
          </a:p>
        </p:txBody>
      </p:sp>
      <p:sp>
        <p:nvSpPr>
          <p:cNvPr id="604" name="Google Shape;604;p60"/>
          <p:cNvSpPr/>
          <p:nvPr/>
        </p:nvSpPr>
        <p:spPr>
          <a:xfrm>
            <a:off x="2699481" y="2047942"/>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605" name="Google Shape;605;p60"/>
          <p:cNvSpPr/>
          <p:nvPr/>
        </p:nvSpPr>
        <p:spPr>
          <a:xfrm>
            <a:off x="2699481" y="275862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606" name="Google Shape;606;p60"/>
          <p:cNvSpPr/>
          <p:nvPr/>
        </p:nvSpPr>
        <p:spPr>
          <a:xfrm>
            <a:off x="2699481" y="346931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607" name="Google Shape;607;p60"/>
          <p:cNvSpPr/>
          <p:nvPr/>
        </p:nvSpPr>
        <p:spPr>
          <a:xfrm>
            <a:off x="2699481" y="416602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608" name="Google Shape;608;p60"/>
          <p:cNvSpPr txBox="1"/>
          <p:nvPr/>
        </p:nvSpPr>
        <p:spPr>
          <a:xfrm>
            <a:off x="508174" y="1361250"/>
            <a:ext cx="1917600" cy="323100"/>
          </a:xfrm>
          <a:prstGeom prst="rect">
            <a:avLst/>
          </a:prstGeom>
          <a:solidFill>
            <a:srgbClr val="C27BA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TIPOS</a:t>
            </a:r>
            <a:endParaRPr sz="1100">
              <a:solidFill>
                <a:schemeClr val="dk2"/>
              </a:solidFill>
              <a:latin typeface="EB Garamond"/>
              <a:ea typeface="EB Garamond"/>
              <a:cs typeface="EB Garamond"/>
              <a:sym typeface="EB Garamond"/>
            </a:endParaRPr>
          </a:p>
        </p:txBody>
      </p:sp>
      <p:sp>
        <p:nvSpPr>
          <p:cNvPr id="609" name="Google Shape;609;p60"/>
          <p:cNvSpPr txBox="1"/>
          <p:nvPr/>
        </p:nvSpPr>
        <p:spPr>
          <a:xfrm>
            <a:off x="2699475" y="1361250"/>
            <a:ext cx="1917600" cy="554100"/>
          </a:xfrm>
          <a:prstGeom prst="rect">
            <a:avLst/>
          </a:prstGeom>
          <a:solidFill>
            <a:srgbClr val="AAD5D4"/>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NIVEL DE MEDICIÓN</a:t>
            </a:r>
            <a:endParaRPr sz="1100">
              <a:solidFill>
                <a:schemeClr val="dk2"/>
              </a:solidFill>
              <a:latin typeface="EB Garamond"/>
              <a:ea typeface="EB Garamond"/>
              <a:cs typeface="EB Garamond"/>
              <a:sym typeface="EB Garamond"/>
            </a:endParaRPr>
          </a:p>
        </p:txBody>
      </p:sp>
      <p:sp>
        <p:nvSpPr>
          <p:cNvPr id="610" name="Google Shape;610;p60"/>
          <p:cNvSpPr/>
          <p:nvPr/>
        </p:nvSpPr>
        <p:spPr>
          <a:xfrm>
            <a:off x="6871250" y="2055750"/>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100">
              <a:latin typeface="EB Garamond"/>
              <a:ea typeface="EB Garamond"/>
              <a:cs typeface="EB Garamond"/>
              <a:sym typeface="EB Garamond"/>
            </a:endParaRPr>
          </a:p>
        </p:txBody>
      </p:sp>
      <p:sp>
        <p:nvSpPr>
          <p:cNvPr id="611" name="Google Shape;611;p60"/>
          <p:cNvSpPr/>
          <p:nvPr/>
        </p:nvSpPr>
        <p:spPr>
          <a:xfrm>
            <a:off x="6871249" y="3013767"/>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100">
              <a:latin typeface="EB Garamond"/>
              <a:ea typeface="EB Garamond"/>
              <a:cs typeface="EB Garamond"/>
              <a:sym typeface="EB Garamond"/>
            </a:endParaRPr>
          </a:p>
        </p:txBody>
      </p:sp>
      <p:sp>
        <p:nvSpPr>
          <p:cNvPr id="612" name="Google Shape;612;p60"/>
          <p:cNvSpPr/>
          <p:nvPr/>
        </p:nvSpPr>
        <p:spPr>
          <a:xfrm>
            <a:off x="6871249" y="400417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100">
              <a:latin typeface="EB Garamond"/>
              <a:ea typeface="EB Garamond"/>
              <a:cs typeface="EB Garamond"/>
              <a:sym typeface="EB Garamond"/>
            </a:endParaRPr>
          </a:p>
        </p:txBody>
      </p:sp>
      <p:sp>
        <p:nvSpPr>
          <p:cNvPr id="613" name="Google Shape;613;p60"/>
          <p:cNvSpPr txBox="1"/>
          <p:nvPr/>
        </p:nvSpPr>
        <p:spPr>
          <a:xfrm>
            <a:off x="6871250" y="1361250"/>
            <a:ext cx="1917600" cy="554100"/>
          </a:xfrm>
          <a:prstGeom prst="rect">
            <a:avLst/>
          </a:prstGeom>
          <a:solidFill>
            <a:srgbClr val="A5A5A5"/>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FUNCIÓN EN LA INVESTIGACIÓN</a:t>
            </a:r>
            <a:endParaRPr sz="1100">
              <a:solidFill>
                <a:schemeClr val="dk2"/>
              </a:solidFill>
              <a:latin typeface="EB Garamond"/>
              <a:ea typeface="EB Garamond"/>
              <a:cs typeface="EB Garamond"/>
              <a:sym typeface="EB Garamond"/>
            </a:endParaRPr>
          </a:p>
        </p:txBody>
      </p:sp>
      <p:sp>
        <p:nvSpPr>
          <p:cNvPr id="614" name="Google Shape;614;p60"/>
          <p:cNvSpPr/>
          <p:nvPr/>
        </p:nvSpPr>
        <p:spPr>
          <a:xfrm>
            <a:off x="4801325" y="2774075"/>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Continua</a:t>
            </a:r>
            <a:endParaRPr sz="1100">
              <a:solidFill>
                <a:schemeClr val="dk2"/>
              </a:solidFill>
              <a:latin typeface="EB Garamond"/>
              <a:ea typeface="EB Garamond"/>
              <a:cs typeface="EB Garamond"/>
              <a:sym typeface="EB Garamond"/>
            </a:endParaRPr>
          </a:p>
        </p:txBody>
      </p:sp>
      <p:sp>
        <p:nvSpPr>
          <p:cNvPr id="615" name="Google Shape;615;p60"/>
          <p:cNvSpPr/>
          <p:nvPr/>
        </p:nvSpPr>
        <p:spPr>
          <a:xfrm>
            <a:off x="4801325" y="207045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Discreta</a:t>
            </a:r>
            <a:endParaRPr sz="1100">
              <a:solidFill>
                <a:schemeClr val="dk2"/>
              </a:solidFill>
              <a:latin typeface="EB Garamond"/>
              <a:ea typeface="EB Garamond"/>
              <a:cs typeface="EB Garamond"/>
              <a:sym typeface="EB Garamond"/>
            </a:endParaRPr>
          </a:p>
        </p:txBody>
      </p:sp>
      <p:sp>
        <p:nvSpPr>
          <p:cNvPr id="616" name="Google Shape;616;p60"/>
          <p:cNvSpPr txBox="1"/>
          <p:nvPr/>
        </p:nvSpPr>
        <p:spPr>
          <a:xfrm>
            <a:off x="4801325" y="1361250"/>
            <a:ext cx="1917600" cy="5541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ESCALA DE MEDICIÓN</a:t>
            </a:r>
            <a:endParaRPr sz="1100">
              <a:solidFill>
                <a:schemeClr val="dk2"/>
              </a:solidFill>
              <a:latin typeface="EB Garamond"/>
              <a:ea typeface="EB Garamond"/>
              <a:cs typeface="EB Garamond"/>
              <a:sym typeface="EB Garamond"/>
            </a:endParaRPr>
          </a:p>
        </p:txBody>
      </p:sp>
      <p:sp>
        <p:nvSpPr>
          <p:cNvPr id="617" name="Google Shape;617;p60"/>
          <p:cNvSpPr/>
          <p:nvPr/>
        </p:nvSpPr>
        <p:spPr>
          <a:xfrm>
            <a:off x="435600" y="1191925"/>
            <a:ext cx="6365100" cy="3558300"/>
          </a:xfrm>
          <a:prstGeom prst="rect">
            <a:avLst/>
          </a:prstGeom>
          <a:solidFill>
            <a:srgbClr val="AAD5D4">
              <a:alpha val="552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Función en la investigación</a:t>
            </a:r>
            <a:endParaRPr b="1">
              <a:latin typeface="EB Garamond"/>
              <a:ea typeface="EB Garamond"/>
              <a:cs typeface="EB Garamond"/>
              <a:sym typeface="EB Garamond"/>
            </a:endParaRPr>
          </a:p>
        </p:txBody>
      </p:sp>
      <p:sp>
        <p:nvSpPr>
          <p:cNvPr id="623" name="Google Shape;623;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24" name="Google Shape;624;p61"/>
          <p:cNvSpPr/>
          <p:nvPr/>
        </p:nvSpPr>
        <p:spPr>
          <a:xfrm>
            <a:off x="311700" y="1346575"/>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100">
              <a:latin typeface="EB Garamond"/>
              <a:ea typeface="EB Garamond"/>
              <a:cs typeface="EB Garamond"/>
              <a:sym typeface="EB Garamond"/>
            </a:endParaRPr>
          </a:p>
        </p:txBody>
      </p:sp>
      <p:sp>
        <p:nvSpPr>
          <p:cNvPr id="625" name="Google Shape;625;p61"/>
          <p:cNvSpPr/>
          <p:nvPr/>
        </p:nvSpPr>
        <p:spPr>
          <a:xfrm>
            <a:off x="311699" y="2530592"/>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100">
              <a:latin typeface="EB Garamond"/>
              <a:ea typeface="EB Garamond"/>
              <a:cs typeface="EB Garamond"/>
              <a:sym typeface="EB Garamond"/>
            </a:endParaRPr>
          </a:p>
        </p:txBody>
      </p:sp>
      <p:sp>
        <p:nvSpPr>
          <p:cNvPr id="626" name="Google Shape;626;p61"/>
          <p:cNvSpPr/>
          <p:nvPr/>
        </p:nvSpPr>
        <p:spPr>
          <a:xfrm>
            <a:off x="311699" y="374702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100">
              <a:latin typeface="EB Garamond"/>
              <a:ea typeface="EB Garamond"/>
              <a:cs typeface="EB Garamond"/>
              <a:sym typeface="EB Garamond"/>
            </a:endParaRPr>
          </a:p>
        </p:txBody>
      </p:sp>
      <p:sp>
        <p:nvSpPr>
          <p:cNvPr id="627" name="Google Shape;627;p61"/>
          <p:cNvSpPr txBox="1"/>
          <p:nvPr/>
        </p:nvSpPr>
        <p:spPr>
          <a:xfrm>
            <a:off x="2558992" y="1413187"/>
            <a:ext cx="2990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400">
                <a:solidFill>
                  <a:schemeClr val="dk2"/>
                </a:solidFill>
                <a:latin typeface="EB Garamond"/>
                <a:ea typeface="EB Garamond"/>
                <a:cs typeface="EB Garamond"/>
                <a:sym typeface="EB Garamond"/>
              </a:rPr>
              <a:t>Aquellas cuyos atributos “dependen” de cómo varían las variables independientes.</a:t>
            </a:r>
            <a:endParaRPr>
              <a:solidFill>
                <a:schemeClr val="dk2"/>
              </a:solidFill>
              <a:latin typeface="EB Garamond"/>
              <a:ea typeface="EB Garamond"/>
              <a:cs typeface="EB Garamond"/>
              <a:sym typeface="EB Garamond"/>
            </a:endParaRPr>
          </a:p>
        </p:txBody>
      </p:sp>
      <p:sp>
        <p:nvSpPr>
          <p:cNvPr id="628" name="Google Shape;628;p61"/>
          <p:cNvSpPr txBox="1"/>
          <p:nvPr/>
        </p:nvSpPr>
        <p:spPr>
          <a:xfrm>
            <a:off x="2558991" y="2613401"/>
            <a:ext cx="2990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400">
                <a:solidFill>
                  <a:schemeClr val="dk2"/>
                </a:solidFill>
                <a:latin typeface="EB Garamond"/>
                <a:ea typeface="EB Garamond"/>
                <a:cs typeface="EB Garamond"/>
                <a:sym typeface="EB Garamond"/>
              </a:rPr>
              <a:t>Variable que la “variar”, debería influir a la variable que depende de ella.</a:t>
            </a:r>
            <a:endParaRPr>
              <a:solidFill>
                <a:schemeClr val="dk2"/>
              </a:solidFill>
              <a:latin typeface="EB Garamond"/>
              <a:ea typeface="EB Garamond"/>
              <a:cs typeface="EB Garamond"/>
              <a:sym typeface="EB Garamond"/>
            </a:endParaRPr>
          </a:p>
        </p:txBody>
      </p:sp>
      <p:sp>
        <p:nvSpPr>
          <p:cNvPr id="629" name="Google Shape;629;p61"/>
          <p:cNvSpPr txBox="1"/>
          <p:nvPr/>
        </p:nvSpPr>
        <p:spPr>
          <a:xfrm>
            <a:off x="2558990" y="3721971"/>
            <a:ext cx="29901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400">
                <a:solidFill>
                  <a:schemeClr val="dk2"/>
                </a:solidFill>
                <a:latin typeface="EB Garamond"/>
                <a:ea typeface="EB Garamond"/>
                <a:cs typeface="EB Garamond"/>
                <a:sym typeface="EB Garamond"/>
              </a:rPr>
              <a:t>Aquella que busca ”controlar” la relación entre VI y VD, es decir, ver cómo se comporta si entra otra variable en juego.</a:t>
            </a:r>
            <a:endParaRPr>
              <a:solidFill>
                <a:schemeClr val="dk2"/>
              </a:solidFill>
              <a:latin typeface="EB Garamond"/>
              <a:ea typeface="EB Garamond"/>
              <a:cs typeface="EB Garamond"/>
              <a:sym typeface="EB Garamond"/>
            </a:endParaRPr>
          </a:p>
        </p:txBody>
      </p:sp>
      <p:sp>
        <p:nvSpPr>
          <p:cNvPr id="630" name="Google Shape;630;p61"/>
          <p:cNvSpPr txBox="1"/>
          <p:nvPr/>
        </p:nvSpPr>
        <p:spPr>
          <a:xfrm>
            <a:off x="5910203" y="1413180"/>
            <a:ext cx="2605200" cy="492600"/>
          </a:xfrm>
          <a:prstGeom prst="rect">
            <a:avLst/>
          </a:prstGeom>
          <a:noFill/>
          <a:ln cap="flat" cmpd="sng" w="28575">
            <a:solidFill>
              <a:schemeClr val="accent3"/>
            </a:solidFill>
            <a:prstDash val="dash"/>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 sz="1300">
                <a:solidFill>
                  <a:schemeClr val="dk2"/>
                </a:solidFill>
                <a:latin typeface="EB Garamond"/>
                <a:ea typeface="EB Garamond"/>
                <a:cs typeface="EB Garamond"/>
                <a:sym typeface="EB Garamond"/>
              </a:rPr>
              <a:t>Mi INGRESO (VD) “depende” de mi NIVEL EDUCATIVO (VI) </a:t>
            </a:r>
            <a:endParaRPr sz="1300">
              <a:solidFill>
                <a:schemeClr val="dk2"/>
              </a:solidFill>
              <a:latin typeface="EB Garamond"/>
              <a:ea typeface="EB Garamond"/>
              <a:cs typeface="EB Garamond"/>
              <a:sym typeface="EB Garamond"/>
            </a:endParaRPr>
          </a:p>
        </p:txBody>
      </p:sp>
      <p:sp>
        <p:nvSpPr>
          <p:cNvPr id="631" name="Google Shape;631;p61"/>
          <p:cNvSpPr txBox="1"/>
          <p:nvPr/>
        </p:nvSpPr>
        <p:spPr>
          <a:xfrm>
            <a:off x="5878800" y="2599438"/>
            <a:ext cx="2753700" cy="492600"/>
          </a:xfrm>
          <a:prstGeom prst="rect">
            <a:avLst/>
          </a:prstGeom>
          <a:noFill/>
          <a:ln cap="flat" cmpd="sng" w="28575">
            <a:solidFill>
              <a:schemeClr val="accent3"/>
            </a:solidFill>
            <a:prstDash val="dash"/>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 sz="1300">
                <a:solidFill>
                  <a:schemeClr val="dk2"/>
                </a:solidFill>
                <a:latin typeface="EB Garamond"/>
                <a:ea typeface="EB Garamond"/>
                <a:cs typeface="EB Garamond"/>
                <a:sym typeface="EB Garamond"/>
              </a:rPr>
              <a:t>Mi NIVEL EDUCATIVO (VI) es independiente de mi INGRESO (VD)</a:t>
            </a:r>
            <a:endParaRPr sz="1300">
              <a:solidFill>
                <a:schemeClr val="dk2"/>
              </a:solidFill>
              <a:latin typeface="EB Garamond"/>
              <a:ea typeface="EB Garamond"/>
              <a:cs typeface="EB Garamond"/>
              <a:sym typeface="EB Garamond"/>
            </a:endParaRPr>
          </a:p>
        </p:txBody>
      </p:sp>
      <p:sp>
        <p:nvSpPr>
          <p:cNvPr id="632" name="Google Shape;632;p61"/>
          <p:cNvSpPr txBox="1"/>
          <p:nvPr/>
        </p:nvSpPr>
        <p:spPr>
          <a:xfrm>
            <a:off x="5878800" y="3785725"/>
            <a:ext cx="2753700" cy="692700"/>
          </a:xfrm>
          <a:prstGeom prst="rect">
            <a:avLst/>
          </a:prstGeom>
          <a:noFill/>
          <a:ln cap="flat" cmpd="sng" w="28575">
            <a:solidFill>
              <a:schemeClr val="accent3"/>
            </a:solidFill>
            <a:prstDash val="dash"/>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 sz="1300">
                <a:solidFill>
                  <a:schemeClr val="dk2"/>
                </a:solidFill>
                <a:latin typeface="EB Garamond"/>
                <a:ea typeface="EB Garamond"/>
                <a:cs typeface="EB Garamond"/>
                <a:sym typeface="EB Garamond"/>
              </a:rPr>
              <a:t>Mi NIVEL EDUCATIVO (VI) influye a mi INGRESO (VD) de manera distinta si controlo por GÉNERO (VC)</a:t>
            </a:r>
            <a:endParaRPr sz="1300">
              <a:solidFill>
                <a:schemeClr val="dk2"/>
              </a:solidFill>
              <a:latin typeface="EB Garamond"/>
              <a:ea typeface="EB Garamond"/>
              <a:cs typeface="EB Garamond"/>
              <a:sym typeface="EB Garamon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638" name="Google Shape;638;p62"/>
          <p:cNvSpPr txBox="1"/>
          <p:nvPr>
            <p:ph idx="1" type="body"/>
          </p:nvPr>
        </p:nvSpPr>
        <p:spPr>
          <a:xfrm>
            <a:off x="311700" y="1152475"/>
            <a:ext cx="5053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700">
                <a:latin typeface="EB Garamond"/>
                <a:ea typeface="EB Garamond"/>
                <a:cs typeface="EB Garamond"/>
                <a:sym typeface="EB Garamond"/>
              </a:rPr>
              <a:t>Nº1: Un estudio levantado con 215 madres chilenas y publicado por el Psychology of Women Quarterly, buscó develar factores que podrían estar asociados a la violencia doméstica que sufren las mujeres. Algunas de las ideas que manejaban los investigadores del estudio, indicaban que la violencia sobre madres chilenas se debe a contextos socioeconómicos desaventajados y a una vida estresante reportada por ellas mismas y que esto puede variar según la edad de las mujeres.</a:t>
            </a:r>
            <a:endParaRPr sz="1700">
              <a:latin typeface="EB Garamond"/>
              <a:ea typeface="EB Garamond"/>
              <a:cs typeface="EB Garamond"/>
              <a:sym typeface="EB Garamond"/>
            </a:endParaRPr>
          </a:p>
        </p:txBody>
      </p:sp>
      <p:sp>
        <p:nvSpPr>
          <p:cNvPr id="639" name="Google Shape;639;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40" name="Google Shape;640;p62"/>
          <p:cNvSpPr txBox="1"/>
          <p:nvPr>
            <p:ph idx="2" type="body"/>
          </p:nvPr>
        </p:nvSpPr>
        <p:spPr>
          <a:xfrm>
            <a:off x="5990475" y="1152475"/>
            <a:ext cx="2841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latin typeface="EB Garamond"/>
                <a:ea typeface="EB Garamond"/>
                <a:cs typeface="EB Garamond"/>
                <a:sym typeface="EB Garamond"/>
              </a:rPr>
              <a:t>Variable dependiente</a:t>
            </a:r>
            <a:endParaRPr b="1">
              <a:latin typeface="EB Garamond"/>
              <a:ea typeface="EB Garamond"/>
              <a:cs typeface="EB Garamond"/>
              <a:sym typeface="EB Garamond"/>
            </a:endParaRPr>
          </a:p>
          <a:p>
            <a:pPr indent="0" lvl="0" marL="0" rtl="0" algn="l">
              <a:spcBef>
                <a:spcPts val="1200"/>
              </a:spcBef>
              <a:spcAft>
                <a:spcPts val="0"/>
              </a:spcAft>
              <a:buNone/>
            </a:pPr>
            <a:r>
              <a:t/>
            </a:r>
            <a:endParaRPr b="1">
              <a:latin typeface="EB Garamond"/>
              <a:ea typeface="EB Garamond"/>
              <a:cs typeface="EB Garamond"/>
              <a:sym typeface="EB Garamond"/>
            </a:endParaRPr>
          </a:p>
          <a:p>
            <a:pPr indent="0" lvl="0" marL="0" rtl="0" algn="l">
              <a:spcBef>
                <a:spcPts val="1200"/>
              </a:spcBef>
              <a:spcAft>
                <a:spcPts val="0"/>
              </a:spcAft>
              <a:buNone/>
            </a:pPr>
            <a:r>
              <a:rPr b="1" lang="es">
                <a:latin typeface="EB Garamond"/>
                <a:ea typeface="EB Garamond"/>
                <a:cs typeface="EB Garamond"/>
                <a:sym typeface="EB Garamond"/>
              </a:rPr>
              <a:t>Variable independiente</a:t>
            </a:r>
            <a:endParaRPr b="1">
              <a:latin typeface="EB Garamond"/>
              <a:ea typeface="EB Garamond"/>
              <a:cs typeface="EB Garamond"/>
              <a:sym typeface="EB Garamond"/>
            </a:endParaRPr>
          </a:p>
          <a:p>
            <a:pPr indent="0" lvl="0" marL="0" rtl="0" algn="l">
              <a:spcBef>
                <a:spcPts val="1200"/>
              </a:spcBef>
              <a:spcAft>
                <a:spcPts val="0"/>
              </a:spcAft>
              <a:buNone/>
            </a:pPr>
            <a:r>
              <a:t/>
            </a:r>
            <a:endParaRPr b="1">
              <a:latin typeface="EB Garamond"/>
              <a:ea typeface="EB Garamond"/>
              <a:cs typeface="EB Garamond"/>
              <a:sym typeface="EB Garamond"/>
            </a:endParaRPr>
          </a:p>
          <a:p>
            <a:pPr indent="0" lvl="0" marL="0" rtl="0" algn="l">
              <a:spcBef>
                <a:spcPts val="1200"/>
              </a:spcBef>
              <a:spcAft>
                <a:spcPts val="1200"/>
              </a:spcAft>
              <a:buNone/>
            </a:pPr>
            <a:r>
              <a:rPr b="1" lang="es">
                <a:latin typeface="EB Garamond"/>
                <a:ea typeface="EB Garamond"/>
                <a:cs typeface="EB Garamond"/>
                <a:sym typeface="EB Garamond"/>
              </a:rPr>
              <a:t>Variable control</a:t>
            </a:r>
            <a:endParaRPr b="1">
              <a:latin typeface="EB Garamond"/>
              <a:ea typeface="EB Garamond"/>
              <a:cs typeface="EB Garamond"/>
              <a:sym typeface="EB Garamo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646" name="Google Shape;646;p63"/>
          <p:cNvSpPr txBox="1"/>
          <p:nvPr>
            <p:ph idx="1" type="body"/>
          </p:nvPr>
        </p:nvSpPr>
        <p:spPr>
          <a:xfrm>
            <a:off x="311700" y="1152475"/>
            <a:ext cx="50535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s" sz="1800">
                <a:latin typeface="EB Garamond"/>
                <a:ea typeface="EB Garamond"/>
                <a:cs typeface="EB Garamond"/>
                <a:sym typeface="EB Garamond"/>
              </a:rPr>
              <a:t>Nº2: Examinamos dos fuentes de variación en la adaptación social de los adolescentes en las escuelas: el informante que identifica al niño como víctima (es decir, los compañeros, él mismo, o ambos), y el género de la víctima. La percepción de los pares y los auto reportes fueron proporcionados para 508 alumnos de cuarto y quinto grado del oeste de EE.UU. Dentro de los hallazgos se identifica que las niñas tenían más probabilidades que los niños a ser víctimas de bullying. Esto quiere decir, que según lo reportado por las distintas fuentes, las mujeres presentan una peor y lenta adaptación social en la escuela, siendo víctimas de más antipatías que sus pares masculinos. Entre otros hallazgos, tener amigos se asoció con una adaptación social positiva, tanto en hombres como mujeres.</a:t>
            </a:r>
            <a:endParaRPr sz="1800">
              <a:latin typeface="EB Garamond"/>
              <a:ea typeface="EB Garamond"/>
              <a:cs typeface="EB Garamond"/>
              <a:sym typeface="EB Garamond"/>
            </a:endParaRPr>
          </a:p>
        </p:txBody>
      </p:sp>
      <p:sp>
        <p:nvSpPr>
          <p:cNvPr id="647" name="Google Shape;647;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48" name="Google Shape;648;p63"/>
          <p:cNvSpPr txBox="1"/>
          <p:nvPr>
            <p:ph idx="2" type="body"/>
          </p:nvPr>
        </p:nvSpPr>
        <p:spPr>
          <a:xfrm>
            <a:off x="5990475" y="1152475"/>
            <a:ext cx="2841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latin typeface="EB Garamond"/>
                <a:ea typeface="EB Garamond"/>
                <a:cs typeface="EB Garamond"/>
                <a:sym typeface="EB Garamond"/>
              </a:rPr>
              <a:t>Variable dependiente</a:t>
            </a:r>
            <a:endParaRPr b="1">
              <a:latin typeface="EB Garamond"/>
              <a:ea typeface="EB Garamond"/>
              <a:cs typeface="EB Garamond"/>
              <a:sym typeface="EB Garamond"/>
            </a:endParaRPr>
          </a:p>
          <a:p>
            <a:pPr indent="0" lvl="0" marL="0" rtl="0" algn="l">
              <a:spcBef>
                <a:spcPts val="1200"/>
              </a:spcBef>
              <a:spcAft>
                <a:spcPts val="0"/>
              </a:spcAft>
              <a:buNone/>
            </a:pPr>
            <a:r>
              <a:t/>
            </a:r>
            <a:endParaRPr b="1">
              <a:latin typeface="EB Garamond"/>
              <a:ea typeface="EB Garamond"/>
              <a:cs typeface="EB Garamond"/>
              <a:sym typeface="EB Garamond"/>
            </a:endParaRPr>
          </a:p>
          <a:p>
            <a:pPr indent="0" lvl="0" marL="0" rtl="0" algn="l">
              <a:spcBef>
                <a:spcPts val="1200"/>
              </a:spcBef>
              <a:spcAft>
                <a:spcPts val="0"/>
              </a:spcAft>
              <a:buNone/>
            </a:pPr>
            <a:r>
              <a:rPr b="1" lang="es">
                <a:latin typeface="EB Garamond"/>
                <a:ea typeface="EB Garamond"/>
                <a:cs typeface="EB Garamond"/>
                <a:sym typeface="EB Garamond"/>
              </a:rPr>
              <a:t>Variable independiente</a:t>
            </a:r>
            <a:endParaRPr b="1">
              <a:latin typeface="EB Garamond"/>
              <a:ea typeface="EB Garamond"/>
              <a:cs typeface="EB Garamond"/>
              <a:sym typeface="EB Garamond"/>
            </a:endParaRPr>
          </a:p>
          <a:p>
            <a:pPr indent="0" lvl="0" marL="0" rtl="0" algn="l">
              <a:spcBef>
                <a:spcPts val="1200"/>
              </a:spcBef>
              <a:spcAft>
                <a:spcPts val="0"/>
              </a:spcAft>
              <a:buNone/>
            </a:pPr>
            <a:r>
              <a:t/>
            </a:r>
            <a:endParaRPr b="1">
              <a:latin typeface="EB Garamond"/>
              <a:ea typeface="EB Garamond"/>
              <a:cs typeface="EB Garamond"/>
              <a:sym typeface="EB Garamond"/>
            </a:endParaRPr>
          </a:p>
          <a:p>
            <a:pPr indent="0" lvl="0" marL="0" rtl="0" algn="l">
              <a:spcBef>
                <a:spcPts val="1200"/>
              </a:spcBef>
              <a:spcAft>
                <a:spcPts val="1200"/>
              </a:spcAft>
              <a:buNone/>
            </a:pPr>
            <a:r>
              <a:rPr b="1" lang="es">
                <a:latin typeface="EB Garamond"/>
                <a:ea typeface="EB Garamond"/>
                <a:cs typeface="EB Garamond"/>
                <a:sym typeface="EB Garamond"/>
              </a:rPr>
              <a:t>Variable control</a:t>
            </a:r>
            <a:endParaRPr b="1">
              <a:latin typeface="EB Garamond"/>
              <a:ea typeface="EB Garamond"/>
              <a:cs typeface="EB Garamond"/>
              <a:sym typeface="EB Garamo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a:t>
            </a:r>
            <a:endParaRPr>
              <a:latin typeface="EB Garamond"/>
              <a:ea typeface="EB Garamond"/>
              <a:cs typeface="EB Garamond"/>
              <a:sym typeface="EB Garamond"/>
            </a:endParaRPr>
          </a:p>
        </p:txBody>
      </p:sp>
      <p:sp>
        <p:nvSpPr>
          <p:cNvPr id="654" name="Google Shape;654;p64"/>
          <p:cNvSpPr txBox="1"/>
          <p:nvPr>
            <p:ph idx="1" type="body"/>
          </p:nvPr>
        </p:nvSpPr>
        <p:spPr>
          <a:xfrm>
            <a:off x="311700" y="1152475"/>
            <a:ext cx="50535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s" sz="1800">
                <a:latin typeface="EB Garamond"/>
                <a:ea typeface="EB Garamond"/>
                <a:cs typeface="EB Garamond"/>
                <a:sym typeface="EB Garamond"/>
              </a:rPr>
              <a:t>Nº3: Una investigación intentó explicar el aumento del nivel de productividad de un grupo de trabajadores de una empresa multinacional a través de la satisfacción de los empleados. A juicio de los investigadores, la satisfacción estaba directamente relacionada con el nivel de ingresos que éstos percibían. No obstante, debieron evaluarse otras variables, como la jornada laboral, la existencia de beneficios para los trabajadores, así como las relaciones interpersonales entre trabajadores y la existencia de recursos técnicos y ambientales a la hora de realizar sus labores. Los datos fueron extraídos a partir de un cuestionario aplicado al 70% de los trabajadores que fueron evaluados por la empresa como “más productivos dentro del último año” y se observó se comportaba la relación según género y edad.</a:t>
            </a:r>
            <a:endParaRPr sz="1800">
              <a:latin typeface="EB Garamond"/>
              <a:ea typeface="EB Garamond"/>
              <a:cs typeface="EB Garamond"/>
              <a:sym typeface="EB Garamond"/>
            </a:endParaRPr>
          </a:p>
        </p:txBody>
      </p:sp>
      <p:sp>
        <p:nvSpPr>
          <p:cNvPr id="655" name="Google Shape;655;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56" name="Google Shape;656;p64"/>
          <p:cNvSpPr txBox="1"/>
          <p:nvPr>
            <p:ph idx="2" type="body"/>
          </p:nvPr>
        </p:nvSpPr>
        <p:spPr>
          <a:xfrm>
            <a:off x="5990475" y="1152475"/>
            <a:ext cx="2841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latin typeface="EB Garamond"/>
                <a:ea typeface="EB Garamond"/>
                <a:cs typeface="EB Garamond"/>
                <a:sym typeface="EB Garamond"/>
              </a:rPr>
              <a:t>Variable dependiente</a:t>
            </a:r>
            <a:endParaRPr b="1">
              <a:latin typeface="EB Garamond"/>
              <a:ea typeface="EB Garamond"/>
              <a:cs typeface="EB Garamond"/>
              <a:sym typeface="EB Garamond"/>
            </a:endParaRPr>
          </a:p>
          <a:p>
            <a:pPr indent="0" lvl="0" marL="0" rtl="0" algn="l">
              <a:spcBef>
                <a:spcPts val="1200"/>
              </a:spcBef>
              <a:spcAft>
                <a:spcPts val="0"/>
              </a:spcAft>
              <a:buNone/>
            </a:pPr>
            <a:r>
              <a:t/>
            </a:r>
            <a:endParaRPr b="1">
              <a:latin typeface="EB Garamond"/>
              <a:ea typeface="EB Garamond"/>
              <a:cs typeface="EB Garamond"/>
              <a:sym typeface="EB Garamond"/>
            </a:endParaRPr>
          </a:p>
          <a:p>
            <a:pPr indent="0" lvl="0" marL="0" rtl="0" algn="l">
              <a:spcBef>
                <a:spcPts val="1200"/>
              </a:spcBef>
              <a:spcAft>
                <a:spcPts val="0"/>
              </a:spcAft>
              <a:buNone/>
            </a:pPr>
            <a:r>
              <a:rPr b="1" lang="es">
                <a:latin typeface="EB Garamond"/>
                <a:ea typeface="EB Garamond"/>
                <a:cs typeface="EB Garamond"/>
                <a:sym typeface="EB Garamond"/>
              </a:rPr>
              <a:t>Variable independiente</a:t>
            </a:r>
            <a:endParaRPr b="1">
              <a:latin typeface="EB Garamond"/>
              <a:ea typeface="EB Garamond"/>
              <a:cs typeface="EB Garamond"/>
              <a:sym typeface="EB Garamond"/>
            </a:endParaRPr>
          </a:p>
          <a:p>
            <a:pPr indent="0" lvl="0" marL="0" rtl="0" algn="l">
              <a:spcBef>
                <a:spcPts val="1200"/>
              </a:spcBef>
              <a:spcAft>
                <a:spcPts val="0"/>
              </a:spcAft>
              <a:buNone/>
            </a:pPr>
            <a:r>
              <a:t/>
            </a:r>
            <a:endParaRPr b="1">
              <a:latin typeface="EB Garamond"/>
              <a:ea typeface="EB Garamond"/>
              <a:cs typeface="EB Garamond"/>
              <a:sym typeface="EB Garamond"/>
            </a:endParaRPr>
          </a:p>
          <a:p>
            <a:pPr indent="0" lvl="0" marL="0" rtl="0" algn="l">
              <a:spcBef>
                <a:spcPts val="1200"/>
              </a:spcBef>
              <a:spcAft>
                <a:spcPts val="1200"/>
              </a:spcAft>
              <a:buNone/>
            </a:pPr>
            <a:r>
              <a:rPr b="1" lang="es">
                <a:latin typeface="EB Garamond"/>
                <a:ea typeface="EB Garamond"/>
                <a:cs typeface="EB Garamond"/>
                <a:sym typeface="EB Garamond"/>
              </a:rPr>
              <a:t>Variable control</a:t>
            </a:r>
            <a:endParaRPr b="1">
              <a:latin typeface="EB Garamond"/>
              <a:ea typeface="EB Garamond"/>
              <a:cs typeface="EB Garamond"/>
              <a:sym typeface="EB Garamon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Mundo de las variables</a:t>
            </a:r>
            <a:endParaRPr b="1">
              <a:latin typeface="EB Garamond"/>
              <a:ea typeface="EB Garamond"/>
              <a:cs typeface="EB Garamond"/>
              <a:sym typeface="EB Garamond"/>
            </a:endParaRPr>
          </a:p>
        </p:txBody>
      </p:sp>
      <p:sp>
        <p:nvSpPr>
          <p:cNvPr id="662" name="Google Shape;662;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63" name="Google Shape;663;p65"/>
          <p:cNvSpPr/>
          <p:nvPr/>
        </p:nvSpPr>
        <p:spPr>
          <a:xfrm>
            <a:off x="508182" y="2007071"/>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 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(Categóricas)</a:t>
            </a:r>
            <a:endParaRPr sz="1500">
              <a:solidFill>
                <a:srgbClr val="FFFFFF"/>
              </a:solidFill>
              <a:latin typeface="EB Garamond"/>
              <a:ea typeface="EB Garamond"/>
              <a:cs typeface="EB Garamond"/>
              <a:sym typeface="EB Garamond"/>
            </a:endParaRPr>
          </a:p>
        </p:txBody>
      </p:sp>
      <p:sp>
        <p:nvSpPr>
          <p:cNvPr id="664" name="Google Shape;664;p65"/>
          <p:cNvSpPr/>
          <p:nvPr/>
        </p:nvSpPr>
        <p:spPr>
          <a:xfrm>
            <a:off x="508182" y="3428438"/>
            <a:ext cx="1917600" cy="1237800"/>
          </a:xfrm>
          <a:prstGeom prst="roundRect">
            <a:avLst>
              <a:gd fmla="val 16667" name="adj"/>
            </a:avLst>
          </a:prstGeom>
          <a:solidFill>
            <a:srgbClr val="A64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Métricas</a:t>
            </a:r>
            <a:endParaRPr sz="1500">
              <a:solidFill>
                <a:srgbClr val="FFFFFF"/>
              </a:solidFill>
              <a:latin typeface="EB Garamond"/>
              <a:ea typeface="EB Garamond"/>
              <a:cs typeface="EB Garamond"/>
              <a:sym typeface="EB Garamond"/>
            </a:endParaRPr>
          </a:p>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(Numéricas)</a:t>
            </a:r>
            <a:endParaRPr sz="1500">
              <a:solidFill>
                <a:srgbClr val="FFFFFF"/>
              </a:solidFill>
              <a:latin typeface="EB Garamond"/>
              <a:ea typeface="EB Garamond"/>
              <a:cs typeface="EB Garamond"/>
              <a:sym typeface="EB Garamond"/>
            </a:endParaRPr>
          </a:p>
        </p:txBody>
      </p:sp>
      <p:sp>
        <p:nvSpPr>
          <p:cNvPr id="665" name="Google Shape;665;p65"/>
          <p:cNvSpPr/>
          <p:nvPr/>
        </p:nvSpPr>
        <p:spPr>
          <a:xfrm>
            <a:off x="2699481" y="2047942"/>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Nominal</a:t>
            </a:r>
            <a:endParaRPr sz="1100">
              <a:latin typeface="EB Garamond"/>
              <a:ea typeface="EB Garamond"/>
              <a:cs typeface="EB Garamond"/>
              <a:sym typeface="EB Garamond"/>
            </a:endParaRPr>
          </a:p>
        </p:txBody>
      </p:sp>
      <p:sp>
        <p:nvSpPr>
          <p:cNvPr id="666" name="Google Shape;666;p65"/>
          <p:cNvSpPr/>
          <p:nvPr/>
        </p:nvSpPr>
        <p:spPr>
          <a:xfrm>
            <a:off x="2699481" y="2758626"/>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Ordinal</a:t>
            </a:r>
            <a:endParaRPr sz="1100">
              <a:latin typeface="EB Garamond"/>
              <a:ea typeface="EB Garamond"/>
              <a:cs typeface="EB Garamond"/>
              <a:sym typeface="EB Garamond"/>
            </a:endParaRPr>
          </a:p>
        </p:txBody>
      </p:sp>
      <p:sp>
        <p:nvSpPr>
          <p:cNvPr id="667" name="Google Shape;667;p65"/>
          <p:cNvSpPr/>
          <p:nvPr/>
        </p:nvSpPr>
        <p:spPr>
          <a:xfrm>
            <a:off x="2699481" y="346931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Intervalo</a:t>
            </a:r>
            <a:endParaRPr sz="1100">
              <a:latin typeface="EB Garamond"/>
              <a:ea typeface="EB Garamond"/>
              <a:cs typeface="EB Garamond"/>
              <a:sym typeface="EB Garamond"/>
            </a:endParaRPr>
          </a:p>
        </p:txBody>
      </p:sp>
      <p:sp>
        <p:nvSpPr>
          <p:cNvPr id="668" name="Google Shape;668;p65"/>
          <p:cNvSpPr/>
          <p:nvPr/>
        </p:nvSpPr>
        <p:spPr>
          <a:xfrm>
            <a:off x="2699481" y="4166020"/>
            <a:ext cx="1917600" cy="527100"/>
          </a:xfrm>
          <a:prstGeom prst="roundRect">
            <a:avLst>
              <a:gd fmla="val 16667"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Razón</a:t>
            </a:r>
            <a:endParaRPr sz="1100">
              <a:latin typeface="EB Garamond"/>
              <a:ea typeface="EB Garamond"/>
              <a:cs typeface="EB Garamond"/>
              <a:sym typeface="EB Garamond"/>
            </a:endParaRPr>
          </a:p>
        </p:txBody>
      </p:sp>
      <p:sp>
        <p:nvSpPr>
          <p:cNvPr id="669" name="Google Shape;669;p65"/>
          <p:cNvSpPr txBox="1"/>
          <p:nvPr/>
        </p:nvSpPr>
        <p:spPr>
          <a:xfrm>
            <a:off x="508174" y="1361250"/>
            <a:ext cx="1917600" cy="323100"/>
          </a:xfrm>
          <a:prstGeom prst="rect">
            <a:avLst/>
          </a:prstGeom>
          <a:solidFill>
            <a:srgbClr val="C27BA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TIPOS</a:t>
            </a:r>
            <a:endParaRPr sz="1100">
              <a:solidFill>
                <a:schemeClr val="dk2"/>
              </a:solidFill>
              <a:latin typeface="EB Garamond"/>
              <a:ea typeface="EB Garamond"/>
              <a:cs typeface="EB Garamond"/>
              <a:sym typeface="EB Garamond"/>
            </a:endParaRPr>
          </a:p>
        </p:txBody>
      </p:sp>
      <p:sp>
        <p:nvSpPr>
          <p:cNvPr id="670" name="Google Shape;670;p65"/>
          <p:cNvSpPr txBox="1"/>
          <p:nvPr/>
        </p:nvSpPr>
        <p:spPr>
          <a:xfrm>
            <a:off x="2699475" y="1361250"/>
            <a:ext cx="1917600" cy="554100"/>
          </a:xfrm>
          <a:prstGeom prst="rect">
            <a:avLst/>
          </a:prstGeom>
          <a:solidFill>
            <a:srgbClr val="AAD5D4"/>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NIVEL DE MEDICIÓN</a:t>
            </a:r>
            <a:endParaRPr sz="1100">
              <a:solidFill>
                <a:schemeClr val="dk2"/>
              </a:solidFill>
              <a:latin typeface="EB Garamond"/>
              <a:ea typeface="EB Garamond"/>
              <a:cs typeface="EB Garamond"/>
              <a:sym typeface="EB Garamond"/>
            </a:endParaRPr>
          </a:p>
        </p:txBody>
      </p:sp>
      <p:sp>
        <p:nvSpPr>
          <p:cNvPr id="671" name="Google Shape;671;p65"/>
          <p:cNvSpPr/>
          <p:nvPr/>
        </p:nvSpPr>
        <p:spPr>
          <a:xfrm>
            <a:off x="6871250" y="2055750"/>
            <a:ext cx="1917600" cy="6564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Dependiente</a:t>
            </a:r>
            <a:endParaRPr sz="1100">
              <a:latin typeface="EB Garamond"/>
              <a:ea typeface="EB Garamond"/>
              <a:cs typeface="EB Garamond"/>
              <a:sym typeface="EB Garamond"/>
            </a:endParaRPr>
          </a:p>
        </p:txBody>
      </p:sp>
      <p:sp>
        <p:nvSpPr>
          <p:cNvPr id="672" name="Google Shape;672;p65"/>
          <p:cNvSpPr/>
          <p:nvPr/>
        </p:nvSpPr>
        <p:spPr>
          <a:xfrm>
            <a:off x="6871249" y="3013767"/>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Independiente</a:t>
            </a:r>
            <a:endParaRPr sz="1100">
              <a:latin typeface="EB Garamond"/>
              <a:ea typeface="EB Garamond"/>
              <a:cs typeface="EB Garamond"/>
              <a:sym typeface="EB Garamond"/>
            </a:endParaRPr>
          </a:p>
        </p:txBody>
      </p:sp>
      <p:sp>
        <p:nvSpPr>
          <p:cNvPr id="673" name="Google Shape;673;p65"/>
          <p:cNvSpPr/>
          <p:nvPr/>
        </p:nvSpPr>
        <p:spPr>
          <a:xfrm>
            <a:off x="6871249" y="4004174"/>
            <a:ext cx="1917600" cy="6888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rgbClr val="FFFFFF"/>
                </a:solidFill>
                <a:latin typeface="EB Garamond"/>
                <a:ea typeface="EB Garamond"/>
                <a:cs typeface="EB Garamond"/>
                <a:sym typeface="EB Garamond"/>
              </a:rPr>
              <a:t>Control</a:t>
            </a:r>
            <a:endParaRPr sz="1100">
              <a:latin typeface="EB Garamond"/>
              <a:ea typeface="EB Garamond"/>
              <a:cs typeface="EB Garamond"/>
              <a:sym typeface="EB Garamond"/>
            </a:endParaRPr>
          </a:p>
        </p:txBody>
      </p:sp>
      <p:sp>
        <p:nvSpPr>
          <p:cNvPr id="674" name="Google Shape;674;p65"/>
          <p:cNvSpPr txBox="1"/>
          <p:nvPr/>
        </p:nvSpPr>
        <p:spPr>
          <a:xfrm>
            <a:off x="6871250" y="1361250"/>
            <a:ext cx="1917600" cy="554100"/>
          </a:xfrm>
          <a:prstGeom prst="rect">
            <a:avLst/>
          </a:prstGeom>
          <a:solidFill>
            <a:srgbClr val="A5A5A5"/>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FUNCIÓN EN LA INVESTIGACIÓN</a:t>
            </a:r>
            <a:endParaRPr sz="1100">
              <a:solidFill>
                <a:schemeClr val="dk2"/>
              </a:solidFill>
              <a:latin typeface="EB Garamond"/>
              <a:ea typeface="EB Garamond"/>
              <a:cs typeface="EB Garamond"/>
              <a:sym typeface="EB Garamond"/>
            </a:endParaRPr>
          </a:p>
        </p:txBody>
      </p:sp>
      <p:sp>
        <p:nvSpPr>
          <p:cNvPr id="675" name="Google Shape;675;p65"/>
          <p:cNvSpPr/>
          <p:nvPr/>
        </p:nvSpPr>
        <p:spPr>
          <a:xfrm>
            <a:off x="4801325" y="2774075"/>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Continua</a:t>
            </a:r>
            <a:endParaRPr sz="1100">
              <a:solidFill>
                <a:schemeClr val="dk2"/>
              </a:solidFill>
              <a:latin typeface="EB Garamond"/>
              <a:ea typeface="EB Garamond"/>
              <a:cs typeface="EB Garamond"/>
              <a:sym typeface="EB Garamond"/>
            </a:endParaRPr>
          </a:p>
        </p:txBody>
      </p:sp>
      <p:sp>
        <p:nvSpPr>
          <p:cNvPr id="676" name="Google Shape;676;p65"/>
          <p:cNvSpPr/>
          <p:nvPr/>
        </p:nvSpPr>
        <p:spPr>
          <a:xfrm>
            <a:off x="4801325" y="2070450"/>
            <a:ext cx="1917600" cy="5271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s" sz="1500">
                <a:solidFill>
                  <a:schemeClr val="dk2"/>
                </a:solidFill>
                <a:latin typeface="EB Garamond"/>
                <a:ea typeface="EB Garamond"/>
                <a:cs typeface="EB Garamond"/>
                <a:sym typeface="EB Garamond"/>
              </a:rPr>
              <a:t>Discreta</a:t>
            </a:r>
            <a:endParaRPr sz="1100">
              <a:solidFill>
                <a:schemeClr val="dk2"/>
              </a:solidFill>
              <a:latin typeface="EB Garamond"/>
              <a:ea typeface="EB Garamond"/>
              <a:cs typeface="EB Garamond"/>
              <a:sym typeface="EB Garamond"/>
            </a:endParaRPr>
          </a:p>
        </p:txBody>
      </p:sp>
      <p:sp>
        <p:nvSpPr>
          <p:cNvPr id="677" name="Google Shape;677;p65"/>
          <p:cNvSpPr txBox="1"/>
          <p:nvPr/>
        </p:nvSpPr>
        <p:spPr>
          <a:xfrm>
            <a:off x="4801325" y="1361250"/>
            <a:ext cx="1917600" cy="5541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1500">
                <a:solidFill>
                  <a:schemeClr val="dk2"/>
                </a:solidFill>
                <a:latin typeface="EB Garamond"/>
                <a:ea typeface="EB Garamond"/>
                <a:cs typeface="EB Garamond"/>
                <a:sym typeface="EB Garamond"/>
              </a:rPr>
              <a:t>ESCALA DE MEDICIÓN</a:t>
            </a:r>
            <a:endParaRPr sz="1100">
              <a:solidFill>
                <a:schemeClr val="dk2"/>
              </a:solidFill>
              <a:latin typeface="EB Garamond"/>
              <a:ea typeface="EB Garamond"/>
              <a:cs typeface="EB Garamond"/>
              <a:sym typeface="EB Garamo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4D79"/>
        </a:solidFill>
      </p:bgPr>
    </p:bg>
    <p:spTree>
      <p:nvGrpSpPr>
        <p:cNvPr id="681" name="Shape 681"/>
        <p:cNvGrpSpPr/>
        <p:nvPr/>
      </p:nvGrpSpPr>
      <p:grpSpPr>
        <a:xfrm>
          <a:off x="0" y="0"/>
          <a:ext cx="0" cy="0"/>
          <a:chOff x="0" y="0"/>
          <a:chExt cx="0" cy="0"/>
        </a:xfrm>
      </p:grpSpPr>
      <p:sp>
        <p:nvSpPr>
          <p:cNvPr id="682" name="Google Shape;682;p6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457200" rtl="0" algn="ctr">
              <a:spcBef>
                <a:spcPts val="0"/>
              </a:spcBef>
              <a:spcAft>
                <a:spcPts val="0"/>
              </a:spcAft>
              <a:buClr>
                <a:schemeClr val="dk1"/>
              </a:buClr>
              <a:buSzPct val="30556"/>
              <a:buFont typeface="Arial"/>
              <a:buNone/>
            </a:pPr>
            <a:r>
              <a:rPr lang="es">
                <a:solidFill>
                  <a:schemeClr val="lt2"/>
                </a:solidFill>
                <a:latin typeface="EB Garamond"/>
                <a:ea typeface="EB Garamond"/>
                <a:cs typeface="EB Garamond"/>
                <a:sym typeface="EB Garamond"/>
              </a:rPr>
              <a:t>I.4. Conceptualización de variables e indicadores y operacionalización</a:t>
            </a:r>
            <a:endParaRPr>
              <a:solidFill>
                <a:schemeClr val="lt2"/>
              </a:solidFill>
              <a:latin typeface="EB Garamond"/>
              <a:ea typeface="EB Garamond"/>
              <a:cs typeface="EB Garamond"/>
              <a:sym typeface="EB Garamond"/>
            </a:endParaRPr>
          </a:p>
          <a:p>
            <a:pPr indent="0" lvl="0" marL="457200" rtl="0" algn="ctr">
              <a:spcBef>
                <a:spcPts val="0"/>
              </a:spcBef>
              <a:spcAft>
                <a:spcPts val="0"/>
              </a:spcAft>
              <a:buClr>
                <a:schemeClr val="dk1"/>
              </a:buClr>
              <a:buSzPct val="30556"/>
              <a:buFont typeface="Arial"/>
              <a:buNone/>
            </a:pPr>
            <a:r>
              <a:t/>
            </a:r>
            <a:endParaRPr>
              <a:solidFill>
                <a:schemeClr val="lt2"/>
              </a:solidFill>
              <a:latin typeface="EB Garamond"/>
              <a:ea typeface="EB Garamond"/>
              <a:cs typeface="EB Garamond"/>
              <a:sym typeface="EB Garamond"/>
            </a:endParaRPr>
          </a:p>
          <a:p>
            <a:pPr indent="0" lvl="0" marL="457200" rtl="0" algn="ctr">
              <a:spcBef>
                <a:spcPts val="0"/>
              </a:spcBef>
              <a:spcAft>
                <a:spcPts val="0"/>
              </a:spcAft>
              <a:buNone/>
            </a:pPr>
            <a:r>
              <a:rPr lang="es" sz="3267">
                <a:solidFill>
                  <a:schemeClr val="lt2"/>
                </a:solidFill>
                <a:latin typeface="EB Garamond"/>
                <a:ea typeface="EB Garamond"/>
                <a:cs typeface="EB Garamond"/>
                <a:sym typeface="EB Garamond"/>
              </a:rPr>
              <a:t>I.4.4. Transformación de nivel de medición de las variables</a:t>
            </a:r>
            <a:endParaRPr sz="3267">
              <a:solidFill>
                <a:schemeClr val="lt2"/>
              </a:solidFill>
              <a:latin typeface="EB Garamond"/>
              <a:ea typeface="EB Garamond"/>
              <a:cs typeface="EB Garamond"/>
              <a:sym typeface="EB Garamond"/>
            </a:endParaRPr>
          </a:p>
        </p:txBody>
      </p:sp>
      <p:sp>
        <p:nvSpPr>
          <p:cNvPr id="683" name="Google Shape;683;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Nivel de medición</a:t>
            </a:r>
            <a:endParaRPr b="1">
              <a:latin typeface="EB Garamond"/>
              <a:ea typeface="EB Garamond"/>
              <a:cs typeface="EB Garamond"/>
              <a:sym typeface="EB Garamond"/>
            </a:endParaRPr>
          </a:p>
        </p:txBody>
      </p:sp>
      <p:sp>
        <p:nvSpPr>
          <p:cNvPr id="689" name="Google Shape;689;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690" name="Google Shape;690;p67"/>
          <p:cNvSpPr/>
          <p:nvPr/>
        </p:nvSpPr>
        <p:spPr>
          <a:xfrm>
            <a:off x="7230550" y="2211625"/>
            <a:ext cx="180600" cy="792600"/>
          </a:xfrm>
          <a:prstGeom prst="rightBrace">
            <a:avLst>
              <a:gd fmla="val 50000" name="adj1"/>
              <a:gd fmla="val 50604" name="adj2"/>
            </a:avLst>
          </a:prstGeom>
          <a:noFill/>
          <a:ln cap="flat" cmpd="sng" w="38100">
            <a:solidFill>
              <a:srgbClr val="0B63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691" name="Google Shape;691;p67"/>
          <p:cNvSpPr/>
          <p:nvPr/>
        </p:nvSpPr>
        <p:spPr>
          <a:xfrm>
            <a:off x="7236825" y="3004225"/>
            <a:ext cx="180600" cy="792600"/>
          </a:xfrm>
          <a:prstGeom prst="rightBrace">
            <a:avLst>
              <a:gd fmla="val 50000" name="adj1"/>
              <a:gd fmla="val 50604" name="adj2"/>
            </a:avLst>
          </a:prstGeom>
          <a:noFill/>
          <a:ln cap="flat" cmpd="sng" w="38100">
            <a:solidFill>
              <a:srgbClr val="0B63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692" name="Google Shape;692;p67"/>
          <p:cNvSpPr/>
          <p:nvPr/>
        </p:nvSpPr>
        <p:spPr>
          <a:xfrm>
            <a:off x="7500975" y="2431150"/>
            <a:ext cx="1031346" cy="249588"/>
          </a:xfrm>
          <a:prstGeom prst="flowChartTerminator">
            <a:avLst/>
          </a:prstGeom>
          <a:solidFill>
            <a:srgbClr val="8DD8D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chemeClr val="dk2"/>
                </a:solidFill>
                <a:latin typeface="EB Garamond"/>
                <a:ea typeface="EB Garamond"/>
                <a:cs typeface="EB Garamond"/>
                <a:sym typeface="EB Garamond"/>
              </a:rPr>
              <a:t>Categóricas</a:t>
            </a:r>
            <a:endParaRPr sz="1000">
              <a:solidFill>
                <a:schemeClr val="dk2"/>
              </a:solidFill>
              <a:latin typeface="EB Garamond"/>
              <a:ea typeface="EB Garamond"/>
              <a:cs typeface="EB Garamond"/>
              <a:sym typeface="EB Garamond"/>
            </a:endParaRPr>
          </a:p>
        </p:txBody>
      </p:sp>
      <p:sp>
        <p:nvSpPr>
          <p:cNvPr id="693" name="Google Shape;693;p67"/>
          <p:cNvSpPr/>
          <p:nvPr/>
        </p:nvSpPr>
        <p:spPr>
          <a:xfrm>
            <a:off x="7481538" y="3208125"/>
            <a:ext cx="1096524" cy="249588"/>
          </a:xfrm>
          <a:prstGeom prst="flowChartTerminator">
            <a:avLst/>
          </a:prstGeom>
          <a:solidFill>
            <a:srgbClr val="8DD8D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chemeClr val="dk2"/>
                </a:solidFill>
                <a:latin typeface="EB Garamond"/>
                <a:ea typeface="EB Garamond"/>
                <a:cs typeface="EB Garamond"/>
                <a:sym typeface="EB Garamond"/>
              </a:rPr>
              <a:t>Numéricas</a:t>
            </a:r>
            <a:endParaRPr sz="1000">
              <a:solidFill>
                <a:schemeClr val="dk2"/>
              </a:solidFill>
              <a:latin typeface="EB Garamond"/>
              <a:ea typeface="EB Garamond"/>
              <a:cs typeface="EB Garamond"/>
              <a:sym typeface="EB Garamond"/>
            </a:endParaRPr>
          </a:p>
        </p:txBody>
      </p:sp>
      <p:sp>
        <p:nvSpPr>
          <p:cNvPr id="694" name="Google Shape;694;p67"/>
          <p:cNvSpPr txBox="1"/>
          <p:nvPr/>
        </p:nvSpPr>
        <p:spPr>
          <a:xfrm>
            <a:off x="7581125" y="2636575"/>
            <a:ext cx="94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dk2"/>
                </a:solidFill>
                <a:latin typeface="EB Garamond"/>
                <a:ea typeface="EB Garamond"/>
                <a:cs typeface="EB Garamond"/>
                <a:sym typeface="EB Garamond"/>
              </a:rPr>
              <a:t>(No métricas)</a:t>
            </a:r>
            <a:endParaRPr sz="1000">
              <a:solidFill>
                <a:schemeClr val="dk2"/>
              </a:solidFill>
              <a:latin typeface="EB Garamond"/>
              <a:ea typeface="EB Garamond"/>
              <a:cs typeface="EB Garamond"/>
              <a:sym typeface="EB Garamond"/>
            </a:endParaRPr>
          </a:p>
        </p:txBody>
      </p:sp>
      <p:sp>
        <p:nvSpPr>
          <p:cNvPr id="695" name="Google Shape;695;p67"/>
          <p:cNvSpPr txBox="1"/>
          <p:nvPr/>
        </p:nvSpPr>
        <p:spPr>
          <a:xfrm>
            <a:off x="7703200" y="3457713"/>
            <a:ext cx="918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dk2"/>
                </a:solidFill>
                <a:latin typeface="EB Garamond"/>
                <a:ea typeface="EB Garamond"/>
                <a:cs typeface="EB Garamond"/>
                <a:sym typeface="EB Garamond"/>
              </a:rPr>
              <a:t>(Métricas)</a:t>
            </a:r>
            <a:endParaRPr sz="1000">
              <a:solidFill>
                <a:schemeClr val="dk2"/>
              </a:solidFill>
              <a:latin typeface="EB Garamond"/>
              <a:ea typeface="EB Garamond"/>
              <a:cs typeface="EB Garamond"/>
              <a:sym typeface="EB Garamond"/>
            </a:endParaRPr>
          </a:p>
        </p:txBody>
      </p:sp>
      <p:graphicFrame>
        <p:nvGraphicFramePr>
          <p:cNvPr id="696" name="Google Shape;696;p67"/>
          <p:cNvGraphicFramePr/>
          <p:nvPr/>
        </p:nvGraphicFramePr>
        <p:xfrm>
          <a:off x="608225" y="1602063"/>
          <a:ext cx="3000000" cy="3000000"/>
        </p:xfrm>
        <a:graphic>
          <a:graphicData uri="http://schemas.openxmlformats.org/drawingml/2006/table">
            <a:tbl>
              <a:tblPr>
                <a:noFill/>
                <a:tableStyleId>{22F9FB94-6CE0-400D-A714-B6118AD48B22}</a:tableStyleId>
              </a:tblPr>
              <a:tblGrid>
                <a:gridCol w="1122925"/>
                <a:gridCol w="1130500"/>
                <a:gridCol w="1202150"/>
                <a:gridCol w="1656900"/>
                <a:gridCol w="1278125"/>
              </a:tblGrid>
              <a:tr h="381000">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156C77"/>
                    </a:solidFill>
                  </a:tcPr>
                </a:tc>
                <a:tc>
                  <a:txBody>
                    <a:bodyPr/>
                    <a:lstStyle/>
                    <a:p>
                      <a:pPr indent="0" lvl="0" marL="0" rtl="0" algn="l">
                        <a:spcBef>
                          <a:spcPts val="0"/>
                        </a:spcBef>
                        <a:spcAft>
                          <a:spcPts val="0"/>
                        </a:spcAft>
                        <a:buNone/>
                      </a:pPr>
                      <a:r>
                        <a:rPr b="1" lang="es">
                          <a:solidFill>
                            <a:schemeClr val="lt2"/>
                          </a:solidFill>
                          <a:latin typeface="EB Garamond"/>
                          <a:ea typeface="EB Garamond"/>
                          <a:cs typeface="EB Garamond"/>
                          <a:sym typeface="EB Garamond"/>
                        </a:rPr>
                        <a:t>Clasificar</a:t>
                      </a:r>
                      <a:endParaRPr b="1">
                        <a:solidFill>
                          <a:schemeClr val="lt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156C77"/>
                    </a:solidFill>
                  </a:tcPr>
                </a:tc>
                <a:tc>
                  <a:txBody>
                    <a:bodyPr/>
                    <a:lstStyle/>
                    <a:p>
                      <a:pPr indent="0" lvl="0" marL="0" rtl="0" algn="l">
                        <a:spcBef>
                          <a:spcPts val="0"/>
                        </a:spcBef>
                        <a:spcAft>
                          <a:spcPts val="0"/>
                        </a:spcAft>
                        <a:buNone/>
                      </a:pPr>
                      <a:r>
                        <a:rPr b="1" lang="es">
                          <a:solidFill>
                            <a:schemeClr val="lt2"/>
                          </a:solidFill>
                          <a:latin typeface="EB Garamond"/>
                          <a:ea typeface="EB Garamond"/>
                          <a:cs typeface="EB Garamond"/>
                          <a:sym typeface="EB Garamond"/>
                        </a:rPr>
                        <a:t>Ordenar</a:t>
                      </a:r>
                      <a:endParaRPr b="1">
                        <a:solidFill>
                          <a:schemeClr val="lt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156C77"/>
                    </a:solidFill>
                  </a:tcPr>
                </a:tc>
                <a:tc>
                  <a:txBody>
                    <a:bodyPr/>
                    <a:lstStyle/>
                    <a:p>
                      <a:pPr indent="0" lvl="0" marL="0" rtl="0" algn="l">
                        <a:spcBef>
                          <a:spcPts val="0"/>
                        </a:spcBef>
                        <a:spcAft>
                          <a:spcPts val="0"/>
                        </a:spcAft>
                        <a:buNone/>
                      </a:pPr>
                      <a:r>
                        <a:rPr b="1" lang="es">
                          <a:solidFill>
                            <a:schemeClr val="lt2"/>
                          </a:solidFill>
                          <a:latin typeface="EB Garamond"/>
                          <a:ea typeface="EB Garamond"/>
                          <a:cs typeface="EB Garamond"/>
                          <a:sym typeface="EB Garamond"/>
                        </a:rPr>
                        <a:t>Establecer distancia</a:t>
                      </a:r>
                      <a:endParaRPr b="1">
                        <a:solidFill>
                          <a:schemeClr val="lt2"/>
                        </a:solidFill>
                        <a:latin typeface="EB Garamond"/>
                        <a:ea typeface="EB Garamond"/>
                        <a:cs typeface="EB Garamond"/>
                        <a:sym typeface="EB Garamond"/>
                      </a:endParaRPr>
                    </a:p>
                    <a:p>
                      <a:pPr indent="0" lvl="0" marL="0" rtl="0" algn="l">
                        <a:spcBef>
                          <a:spcPts val="0"/>
                        </a:spcBef>
                        <a:spcAft>
                          <a:spcPts val="0"/>
                        </a:spcAft>
                        <a:buNone/>
                      </a:pPr>
                      <a:r>
                        <a:rPr lang="es">
                          <a:solidFill>
                            <a:schemeClr val="lt2"/>
                          </a:solidFill>
                          <a:latin typeface="EB Garamond"/>
                          <a:ea typeface="EB Garamond"/>
                          <a:cs typeface="EB Garamond"/>
                          <a:sym typeface="EB Garamond"/>
                        </a:rPr>
                        <a:t>(Magnitud)</a:t>
                      </a:r>
                      <a:endParaRPr>
                        <a:solidFill>
                          <a:schemeClr val="lt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156C77"/>
                    </a:solidFill>
                  </a:tcPr>
                </a:tc>
                <a:tc>
                  <a:txBody>
                    <a:bodyPr/>
                    <a:lstStyle/>
                    <a:p>
                      <a:pPr indent="0" lvl="0" marL="0" rtl="0" algn="l">
                        <a:spcBef>
                          <a:spcPts val="0"/>
                        </a:spcBef>
                        <a:spcAft>
                          <a:spcPts val="0"/>
                        </a:spcAft>
                        <a:buNone/>
                      </a:pPr>
                      <a:r>
                        <a:rPr b="1" lang="es">
                          <a:solidFill>
                            <a:schemeClr val="lt2"/>
                          </a:solidFill>
                          <a:latin typeface="EB Garamond"/>
                          <a:ea typeface="EB Garamond"/>
                          <a:cs typeface="EB Garamond"/>
                          <a:sym typeface="EB Garamond"/>
                        </a:rPr>
                        <a:t>Magnitud + 0</a:t>
                      </a:r>
                      <a:endParaRPr b="1">
                        <a:solidFill>
                          <a:schemeClr val="lt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156C77"/>
                    </a:solidFill>
                  </a:tcPr>
                </a:tc>
              </a:tr>
              <a:tr h="381000">
                <a:tc>
                  <a:txBody>
                    <a:bodyPr/>
                    <a:lstStyle/>
                    <a:p>
                      <a:pPr indent="0" lvl="0" marL="0" rtl="0" algn="l">
                        <a:spcBef>
                          <a:spcPts val="0"/>
                        </a:spcBef>
                        <a:spcAft>
                          <a:spcPts val="0"/>
                        </a:spcAft>
                        <a:buNone/>
                      </a:pPr>
                      <a:r>
                        <a:rPr lang="es">
                          <a:solidFill>
                            <a:schemeClr val="dk2"/>
                          </a:solidFill>
                          <a:latin typeface="EB Garamond"/>
                          <a:ea typeface="EB Garamond"/>
                          <a:cs typeface="EB Garamond"/>
                          <a:sym typeface="EB Garamond"/>
                        </a:rPr>
                        <a:t>Nominal</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c>
                  <a:txBody>
                    <a:bodyPr/>
                    <a:lstStyle/>
                    <a:p>
                      <a:pPr indent="0" lvl="0" marL="0" rtl="0" algn="l">
                        <a:spcBef>
                          <a:spcPts val="0"/>
                        </a:spcBef>
                        <a:spcAft>
                          <a:spcPts val="0"/>
                        </a:spcAft>
                        <a:buNone/>
                      </a:pPr>
                      <a:r>
                        <a:rPr lang="es">
                          <a:solidFill>
                            <a:schemeClr val="dk2"/>
                          </a:solidFill>
                          <a:latin typeface="EB Garamond"/>
                          <a:ea typeface="EB Garamond"/>
                          <a:cs typeface="EB Garamond"/>
                          <a:sym typeface="EB Garamond"/>
                        </a:rPr>
                        <a:t>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r>
              <a:tr h="381000">
                <a:tc>
                  <a:txBody>
                    <a:bodyPr/>
                    <a:lstStyle/>
                    <a:p>
                      <a:pPr indent="0" lvl="0" marL="0" rtl="0" algn="l">
                        <a:spcBef>
                          <a:spcPts val="0"/>
                        </a:spcBef>
                        <a:spcAft>
                          <a:spcPts val="0"/>
                        </a:spcAft>
                        <a:buNone/>
                      </a:pPr>
                      <a:r>
                        <a:rPr lang="es">
                          <a:solidFill>
                            <a:schemeClr val="dk2"/>
                          </a:solidFill>
                          <a:latin typeface="EB Garamond"/>
                          <a:ea typeface="EB Garamond"/>
                          <a:cs typeface="EB Garamond"/>
                          <a:sym typeface="EB Garamond"/>
                        </a:rPr>
                        <a:t>Ordinal</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None/>
                      </a:pPr>
                      <a:r>
                        <a:rPr lang="es">
                          <a:solidFill>
                            <a:schemeClr val="dk2"/>
                          </a:solidFill>
                          <a:latin typeface="EB Garamond"/>
                          <a:ea typeface="EB Garamond"/>
                          <a:cs typeface="EB Garamond"/>
                          <a:sym typeface="EB Garamond"/>
                        </a:rPr>
                        <a:t>Intervalar</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AAD5D4"/>
                    </a:solidFill>
                  </a:tcPr>
                </a:tc>
              </a:tr>
              <a:tr h="381000">
                <a:tc>
                  <a:txBody>
                    <a:bodyPr/>
                    <a:lstStyle/>
                    <a:p>
                      <a:pPr indent="0" lvl="0" marL="0" rtl="0" algn="l">
                        <a:spcBef>
                          <a:spcPts val="0"/>
                        </a:spcBef>
                        <a:spcAft>
                          <a:spcPts val="0"/>
                        </a:spcAft>
                        <a:buNone/>
                      </a:pPr>
                      <a:r>
                        <a:rPr lang="es">
                          <a:solidFill>
                            <a:schemeClr val="dk2"/>
                          </a:solidFill>
                          <a:latin typeface="EB Garamond"/>
                          <a:ea typeface="EB Garamond"/>
                          <a:cs typeface="EB Garamond"/>
                          <a:sym typeface="EB Garamond"/>
                        </a:rPr>
                        <a:t>De razón</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2"/>
                        </a:solidFill>
                        <a:latin typeface="EB Garamond"/>
                        <a:ea typeface="EB Garamond"/>
                        <a:cs typeface="EB Garamond"/>
                        <a:sym typeface="EB Garamo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697" name="Google Shape;697;p67"/>
          <p:cNvSpPr/>
          <p:nvPr/>
        </p:nvSpPr>
        <p:spPr>
          <a:xfrm>
            <a:off x="3286625" y="2284050"/>
            <a:ext cx="282000" cy="249600"/>
          </a:xfrm>
          <a:prstGeom prst="mathMultiply">
            <a:avLst>
              <a:gd fmla="val 23520" name="adj1"/>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8" name="Google Shape;698;p67"/>
          <p:cNvSpPr/>
          <p:nvPr/>
        </p:nvSpPr>
        <p:spPr>
          <a:xfrm>
            <a:off x="4751325" y="2284050"/>
            <a:ext cx="282000" cy="249600"/>
          </a:xfrm>
          <a:prstGeom prst="mathMultiply">
            <a:avLst>
              <a:gd fmla="val 23520" name="adj1"/>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9" name="Google Shape;699;p67"/>
          <p:cNvSpPr/>
          <p:nvPr/>
        </p:nvSpPr>
        <p:spPr>
          <a:xfrm>
            <a:off x="6216025" y="2284050"/>
            <a:ext cx="282000" cy="249600"/>
          </a:xfrm>
          <a:prstGeom prst="mathMultiply">
            <a:avLst>
              <a:gd fmla="val 23520" name="adj1"/>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0" name="Google Shape;700;p67"/>
          <p:cNvSpPr/>
          <p:nvPr/>
        </p:nvSpPr>
        <p:spPr>
          <a:xfrm>
            <a:off x="4751325" y="2681125"/>
            <a:ext cx="282000" cy="249600"/>
          </a:xfrm>
          <a:prstGeom prst="mathMultiply">
            <a:avLst>
              <a:gd fmla="val 23520" name="adj1"/>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1" name="Google Shape;701;p67"/>
          <p:cNvSpPr/>
          <p:nvPr/>
        </p:nvSpPr>
        <p:spPr>
          <a:xfrm>
            <a:off x="6216025" y="2681125"/>
            <a:ext cx="282000" cy="249600"/>
          </a:xfrm>
          <a:prstGeom prst="mathMultiply">
            <a:avLst>
              <a:gd fmla="val 23520" name="adj1"/>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67"/>
          <p:cNvSpPr/>
          <p:nvPr/>
        </p:nvSpPr>
        <p:spPr>
          <a:xfrm>
            <a:off x="6216025" y="3078200"/>
            <a:ext cx="282000" cy="249600"/>
          </a:xfrm>
          <a:prstGeom prst="mathMultiply">
            <a:avLst>
              <a:gd fmla="val 23520" name="adj1"/>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p67"/>
          <p:cNvSpPr/>
          <p:nvPr/>
        </p:nvSpPr>
        <p:spPr>
          <a:xfrm>
            <a:off x="2194500" y="2354500"/>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4" name="Google Shape;704;p67"/>
          <p:cNvSpPr/>
          <p:nvPr/>
        </p:nvSpPr>
        <p:spPr>
          <a:xfrm>
            <a:off x="2194500" y="2716375"/>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5" name="Google Shape;705;p67"/>
          <p:cNvSpPr/>
          <p:nvPr/>
        </p:nvSpPr>
        <p:spPr>
          <a:xfrm>
            <a:off x="3337325" y="2716375"/>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6" name="Google Shape;706;p67"/>
          <p:cNvSpPr/>
          <p:nvPr/>
        </p:nvSpPr>
        <p:spPr>
          <a:xfrm>
            <a:off x="2194500" y="3113450"/>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7" name="Google Shape;707;p67"/>
          <p:cNvSpPr/>
          <p:nvPr/>
        </p:nvSpPr>
        <p:spPr>
          <a:xfrm>
            <a:off x="3337325" y="3113450"/>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8" name="Google Shape;708;p67"/>
          <p:cNvSpPr/>
          <p:nvPr/>
        </p:nvSpPr>
        <p:spPr>
          <a:xfrm>
            <a:off x="4838025" y="3078200"/>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9" name="Google Shape;709;p67"/>
          <p:cNvSpPr/>
          <p:nvPr/>
        </p:nvSpPr>
        <p:spPr>
          <a:xfrm>
            <a:off x="2194500" y="3510525"/>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67"/>
          <p:cNvSpPr/>
          <p:nvPr/>
        </p:nvSpPr>
        <p:spPr>
          <a:xfrm>
            <a:off x="3337325" y="3510525"/>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67"/>
          <p:cNvSpPr/>
          <p:nvPr/>
        </p:nvSpPr>
        <p:spPr>
          <a:xfrm>
            <a:off x="4838025" y="3510525"/>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2" name="Google Shape;712;p67"/>
          <p:cNvSpPr/>
          <p:nvPr/>
        </p:nvSpPr>
        <p:spPr>
          <a:xfrm>
            <a:off x="6270613" y="3475275"/>
            <a:ext cx="180600" cy="179100"/>
          </a:xfrm>
          <a:prstGeom prst="smileyFace">
            <a:avLst>
              <a:gd fmla="val 4653" name="adj"/>
            </a:avLst>
          </a:prstGeom>
          <a:solidFill>
            <a:srgbClr val="68A08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s">
                <a:latin typeface="EB Garamond"/>
                <a:ea typeface="EB Garamond"/>
                <a:cs typeface="EB Garamond"/>
                <a:sym typeface="EB Garamond"/>
              </a:rPr>
              <a:t>Nivel de medición</a:t>
            </a:r>
            <a:endParaRPr>
              <a:latin typeface="EB Garamond"/>
              <a:ea typeface="EB Garamond"/>
              <a:cs typeface="EB Garamond"/>
              <a:sym typeface="EB Garamond"/>
            </a:endParaRPr>
          </a:p>
        </p:txBody>
      </p:sp>
      <p:sp>
        <p:nvSpPr>
          <p:cNvPr id="718" name="Google Shape;718;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719" name="Google Shape;719;p68"/>
          <p:cNvPicPr preferRelativeResize="0"/>
          <p:nvPr/>
        </p:nvPicPr>
        <p:blipFill rotWithShape="1">
          <a:blip r:embed="rId3">
            <a:alphaModFix/>
          </a:blip>
          <a:srcRect b="0" l="0" r="0" t="0"/>
          <a:stretch/>
        </p:blipFill>
        <p:spPr>
          <a:xfrm>
            <a:off x="690276" y="1549976"/>
            <a:ext cx="7763449" cy="1943325"/>
          </a:xfrm>
          <a:prstGeom prst="rect">
            <a:avLst/>
          </a:prstGeom>
          <a:noFill/>
          <a:ln>
            <a:noFill/>
          </a:ln>
        </p:spPr>
      </p:pic>
      <p:sp>
        <p:nvSpPr>
          <p:cNvPr id="720" name="Google Shape;720;p68"/>
          <p:cNvSpPr txBox="1"/>
          <p:nvPr/>
        </p:nvSpPr>
        <p:spPr>
          <a:xfrm>
            <a:off x="431404" y="3785368"/>
            <a:ext cx="84009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a:solidFill>
                  <a:schemeClr val="dk2"/>
                </a:solidFill>
                <a:latin typeface="EB Garamond"/>
                <a:ea typeface="EB Garamond"/>
                <a:cs typeface="EB Garamond"/>
                <a:sym typeface="EB Garamond"/>
              </a:rPr>
              <a:t>D</a:t>
            </a:r>
            <a:r>
              <a:rPr lang="es" sz="1400">
                <a:solidFill>
                  <a:schemeClr val="dk2"/>
                </a:solidFill>
                <a:latin typeface="EB Garamond"/>
                <a:ea typeface="EB Garamond"/>
                <a:cs typeface="EB Garamond"/>
                <a:sym typeface="EB Garamond"/>
              </a:rPr>
              <a:t>el</a:t>
            </a:r>
            <a:r>
              <a:rPr b="1" lang="es" sz="1400">
                <a:solidFill>
                  <a:schemeClr val="dk2"/>
                </a:solidFill>
                <a:latin typeface="EB Garamond"/>
                <a:ea typeface="EB Garamond"/>
                <a:cs typeface="EB Garamond"/>
                <a:sym typeface="EB Garamond"/>
              </a:rPr>
              <a:t> </a:t>
            </a:r>
            <a:r>
              <a:rPr b="1" lang="es" sz="1400">
                <a:solidFill>
                  <a:schemeClr val="dk2"/>
                </a:solidFill>
                <a:highlight>
                  <a:srgbClr val="FDBF41"/>
                </a:highlight>
                <a:latin typeface="EB Garamond"/>
                <a:ea typeface="EB Garamond"/>
                <a:cs typeface="EB Garamond"/>
                <a:sym typeface="EB Garamond"/>
              </a:rPr>
              <a:t>nivel de medición</a:t>
            </a:r>
            <a:r>
              <a:rPr lang="es" sz="1400">
                <a:solidFill>
                  <a:schemeClr val="dk2"/>
                </a:solidFill>
                <a:latin typeface="EB Garamond"/>
                <a:ea typeface="EB Garamond"/>
                <a:cs typeface="EB Garamond"/>
                <a:sym typeface="EB Garamond"/>
              </a:rPr>
              <a:t> de mis variables depende la </a:t>
            </a:r>
            <a:r>
              <a:rPr b="1" lang="es" sz="1400">
                <a:solidFill>
                  <a:schemeClr val="dk2"/>
                </a:solidFill>
                <a:highlight>
                  <a:srgbClr val="FDBF41"/>
                </a:highlight>
                <a:latin typeface="EB Garamond"/>
                <a:ea typeface="EB Garamond"/>
                <a:cs typeface="EB Garamond"/>
                <a:sym typeface="EB Garamond"/>
              </a:rPr>
              <a:t>información estadística</a:t>
            </a:r>
            <a:r>
              <a:rPr lang="es" sz="1400">
                <a:solidFill>
                  <a:schemeClr val="dk2"/>
                </a:solidFill>
                <a:latin typeface="EB Garamond"/>
                <a:ea typeface="EB Garamond"/>
                <a:cs typeface="EB Garamond"/>
                <a:sym typeface="EB Garamond"/>
              </a:rPr>
              <a:t> que puedo obtener. En esta tabl</a:t>
            </a:r>
            <a:r>
              <a:rPr lang="es">
                <a:solidFill>
                  <a:schemeClr val="dk2"/>
                </a:solidFill>
                <a:latin typeface="EB Garamond"/>
                <a:ea typeface="EB Garamond"/>
                <a:cs typeface="EB Garamond"/>
                <a:sym typeface="EB Garamond"/>
              </a:rPr>
              <a:t>a</a:t>
            </a:r>
            <a:r>
              <a:rPr lang="es" sz="1400">
                <a:solidFill>
                  <a:schemeClr val="dk2"/>
                </a:solidFill>
                <a:latin typeface="EB Garamond"/>
                <a:ea typeface="EB Garamond"/>
                <a:cs typeface="EB Garamond"/>
                <a:sym typeface="EB Garamond"/>
              </a:rPr>
              <a:t> solo se presentan la relación con las medidas de dispersión.</a:t>
            </a:r>
            <a:endParaRPr>
              <a:solidFill>
                <a:schemeClr val="dk2"/>
              </a:solidFill>
              <a:latin typeface="EB Garamond"/>
              <a:ea typeface="EB Garamond"/>
              <a:cs typeface="EB Garamond"/>
              <a:sym typeface="EB Garamon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726" name="Google Shape;726;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727" name="Google Shape;727;p69"/>
          <p:cNvPicPr preferRelativeResize="0"/>
          <p:nvPr/>
        </p:nvPicPr>
        <p:blipFill rotWithShape="1">
          <a:blip r:embed="rId3">
            <a:alphaModFix/>
          </a:blip>
          <a:srcRect b="0" l="0" r="0" t="0"/>
          <a:stretch/>
        </p:blipFill>
        <p:spPr>
          <a:xfrm>
            <a:off x="842637" y="1529250"/>
            <a:ext cx="7458725" cy="20850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733" name="Google Shape;733;p70"/>
          <p:cNvSpPr txBox="1"/>
          <p:nvPr>
            <p:ph idx="1" type="body"/>
          </p:nvPr>
        </p:nvSpPr>
        <p:spPr>
          <a:xfrm>
            <a:off x="311700" y="1152475"/>
            <a:ext cx="33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lt2"/>
                </a:solidFill>
                <a:highlight>
                  <a:srgbClr val="156C77"/>
                </a:highlight>
                <a:latin typeface="EB Garamond"/>
                <a:ea typeface="EB Garamond"/>
                <a:cs typeface="EB Garamond"/>
                <a:sym typeface="EB Garamond"/>
              </a:rPr>
              <a:t>1. Variable (encuesta)</a:t>
            </a:r>
            <a:endParaRPr sz="1600">
              <a:solidFill>
                <a:schemeClr val="lt2"/>
              </a:solidFill>
              <a:highlight>
                <a:srgbClr val="156C77"/>
              </a:highlight>
              <a:latin typeface="EB Garamond"/>
              <a:ea typeface="EB Garamond"/>
              <a:cs typeface="EB Garamond"/>
              <a:sym typeface="EB Garamond"/>
            </a:endParaRPr>
          </a:p>
          <a:p>
            <a:pPr indent="0" lvl="0" marL="0" rtl="0" algn="l">
              <a:spcBef>
                <a:spcPts val="1200"/>
              </a:spcBef>
              <a:spcAft>
                <a:spcPts val="0"/>
              </a:spcAft>
              <a:buNone/>
            </a:pPr>
            <a:r>
              <a:rPr lang="es" sz="1400">
                <a:latin typeface="EB Garamond"/>
                <a:ea typeface="EB Garamond"/>
                <a:cs typeface="EB Garamond"/>
                <a:sym typeface="EB Garamond"/>
              </a:rPr>
              <a:t>P1. Indique su edad en años cumplidos: ____</a:t>
            </a:r>
            <a:endParaRPr sz="1400">
              <a:latin typeface="EB Garamond"/>
              <a:ea typeface="EB Garamond"/>
              <a:cs typeface="EB Garamond"/>
              <a:sym typeface="EB Garamond"/>
            </a:endParaRPr>
          </a:p>
          <a:p>
            <a:pPr indent="0" lvl="0" marL="0" rtl="0" algn="l">
              <a:spcBef>
                <a:spcPts val="1200"/>
              </a:spcBef>
              <a:spcAft>
                <a:spcPts val="0"/>
              </a:spcAft>
              <a:buNone/>
            </a:pPr>
            <a:r>
              <a:rPr lang="es" sz="1600">
                <a:solidFill>
                  <a:schemeClr val="lt2"/>
                </a:solidFill>
                <a:highlight>
                  <a:srgbClr val="A64D79"/>
                </a:highlight>
                <a:latin typeface="EB Garamond"/>
                <a:ea typeface="EB Garamond"/>
                <a:cs typeface="EB Garamond"/>
                <a:sym typeface="EB Garamond"/>
              </a:rPr>
              <a:t>2. Atributos (matriz datos)</a:t>
            </a:r>
            <a:endParaRPr sz="1600">
              <a:solidFill>
                <a:schemeClr val="lt2"/>
              </a:solidFill>
              <a:highlight>
                <a:srgbClr val="A64D79"/>
              </a:highlight>
              <a:latin typeface="EB Garamond"/>
              <a:ea typeface="EB Garamond"/>
              <a:cs typeface="EB Garamond"/>
              <a:sym typeface="EB Garamond"/>
            </a:endParaRPr>
          </a:p>
          <a:p>
            <a:pPr indent="0" lvl="0" marL="0" rtl="0" algn="l">
              <a:spcBef>
                <a:spcPts val="1200"/>
              </a:spcBef>
              <a:spcAft>
                <a:spcPts val="1200"/>
              </a:spcAft>
              <a:buNone/>
            </a:pPr>
            <a:r>
              <a:t/>
            </a:r>
            <a:endParaRPr>
              <a:solidFill>
                <a:schemeClr val="lt2"/>
              </a:solidFill>
              <a:highlight>
                <a:srgbClr val="A64D79"/>
              </a:highlight>
              <a:latin typeface="EB Garamond"/>
              <a:ea typeface="EB Garamond"/>
              <a:cs typeface="EB Garamond"/>
              <a:sym typeface="EB Garamond"/>
            </a:endParaRPr>
          </a:p>
        </p:txBody>
      </p:sp>
      <p:sp>
        <p:nvSpPr>
          <p:cNvPr id="734" name="Google Shape;734;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735" name="Google Shape;735;p70"/>
          <p:cNvSpPr txBox="1"/>
          <p:nvPr>
            <p:ph idx="2" type="body"/>
          </p:nvPr>
        </p:nvSpPr>
        <p:spPr>
          <a:xfrm>
            <a:off x="4061650" y="1152475"/>
            <a:ext cx="477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highlight>
                  <a:schemeClr val="accent4"/>
                </a:highlight>
                <a:latin typeface="EB Garamond"/>
                <a:ea typeface="EB Garamond"/>
                <a:cs typeface="EB Garamond"/>
                <a:sym typeface="EB Garamond"/>
              </a:rPr>
              <a:t>3. Transformación del nivel de medición (análisis de datos)</a:t>
            </a:r>
            <a:endParaRPr sz="1600">
              <a:highlight>
                <a:schemeClr val="accent4"/>
              </a:highlight>
              <a:latin typeface="EB Garamond"/>
              <a:ea typeface="EB Garamond"/>
              <a:cs typeface="EB Garamond"/>
              <a:sym typeface="EB Garamond"/>
            </a:endParaRPr>
          </a:p>
          <a:p>
            <a:pPr indent="0" lvl="0" marL="0" rtl="0" algn="l">
              <a:lnSpc>
                <a:spcPct val="100000"/>
              </a:lnSpc>
              <a:spcBef>
                <a:spcPts val="1200"/>
              </a:spcBef>
              <a:spcAft>
                <a:spcPts val="0"/>
              </a:spcAft>
              <a:buClr>
                <a:schemeClr val="dk1"/>
              </a:buClr>
              <a:buFont typeface="Arial"/>
              <a:buNone/>
            </a:pPr>
            <a:r>
              <a:rPr lang="es">
                <a:latin typeface="EB Garamond"/>
                <a:ea typeface="EB Garamond"/>
                <a:cs typeface="EB Garamond"/>
                <a:sym typeface="EB Garamond"/>
              </a:rPr>
              <a:t>Tenemos edad como una variable </a:t>
            </a:r>
            <a:r>
              <a:rPr lang="es">
                <a:highlight>
                  <a:srgbClr val="FDBF41"/>
                </a:highlight>
                <a:latin typeface="EB Garamond"/>
                <a:ea typeface="EB Garamond"/>
                <a:cs typeface="EB Garamond"/>
                <a:sym typeface="EB Garamond"/>
              </a:rPr>
              <a:t>escalar de razón</a:t>
            </a:r>
            <a:r>
              <a:rPr b="1" lang="es">
                <a:latin typeface="EB Garamond"/>
                <a:ea typeface="EB Garamond"/>
                <a:cs typeface="EB Garamond"/>
                <a:sym typeface="EB Garamond"/>
              </a:rPr>
              <a:t> </a:t>
            </a:r>
            <a:r>
              <a:rPr lang="es">
                <a:latin typeface="EB Garamond"/>
                <a:ea typeface="EB Garamond"/>
                <a:cs typeface="EB Garamond"/>
                <a:sym typeface="EB Garamond"/>
              </a:rPr>
              <a:t>donde cualquier caso puede tener cualquier número. Nos permite ver la continuidad de los datos:</a:t>
            </a:r>
            <a:endParaRPr sz="1200">
              <a:highlight>
                <a:schemeClr val="accent4"/>
              </a:highlight>
              <a:latin typeface="EB Garamond"/>
              <a:ea typeface="EB Garamond"/>
              <a:cs typeface="EB Garamond"/>
              <a:sym typeface="EB Garamond"/>
            </a:endParaRPr>
          </a:p>
        </p:txBody>
      </p:sp>
      <p:graphicFrame>
        <p:nvGraphicFramePr>
          <p:cNvPr id="736" name="Google Shape;736;p70"/>
          <p:cNvGraphicFramePr/>
          <p:nvPr/>
        </p:nvGraphicFramePr>
        <p:xfrm>
          <a:off x="405976" y="2487950"/>
          <a:ext cx="3000000" cy="3000000"/>
        </p:xfrm>
        <a:graphic>
          <a:graphicData uri="http://schemas.openxmlformats.org/drawingml/2006/table">
            <a:tbl>
              <a:tblPr bandRow="1" firstRow="1">
                <a:noFill/>
                <a:tableStyleId>{5AD48871-FB56-4D40-95C2-87B6C148C408}</a:tableStyleId>
              </a:tblPr>
              <a:tblGrid>
                <a:gridCol w="565400"/>
                <a:gridCol w="565400"/>
              </a:tblGrid>
              <a:tr h="191500">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caso</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edad</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1</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20</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0</a:t>
                      </a:r>
                      <a:endParaRPr sz="1200">
                        <a:solidFill>
                          <a:schemeClr val="dk2"/>
                        </a:solidFill>
                        <a:latin typeface="EB Garamond"/>
                        <a:ea typeface="EB Garamond"/>
                        <a:cs typeface="EB Garamond"/>
                        <a:sym typeface="EB Garamond"/>
                      </a:endParaRPr>
                    </a:p>
                  </a:txBody>
                  <a:tcPr marT="45725" marB="45725" marR="91450" marL="91450"/>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3</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78</a:t>
                      </a:r>
                      <a:endParaRPr sz="1200">
                        <a:solidFill>
                          <a:schemeClr val="dk2"/>
                        </a:solidFill>
                        <a:latin typeface="EB Garamond"/>
                        <a:ea typeface="EB Garamond"/>
                        <a:cs typeface="EB Garamond"/>
                        <a:sym typeface="EB Garamond"/>
                      </a:endParaRPr>
                    </a:p>
                  </a:txBody>
                  <a:tcPr marT="45725" marB="45725" marR="91450" marL="91450"/>
                </a:tc>
              </a:tr>
              <a:tr h="173875">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n</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a:t>
                      </a:r>
                      <a:endParaRPr sz="1200">
                        <a:solidFill>
                          <a:schemeClr val="dk2"/>
                        </a:solidFill>
                        <a:latin typeface="EB Garamond"/>
                        <a:ea typeface="EB Garamond"/>
                        <a:cs typeface="EB Garamond"/>
                        <a:sym typeface="EB Garamond"/>
                      </a:endParaRPr>
                    </a:p>
                  </a:txBody>
                  <a:tcPr marT="45725" marB="45725" marR="91450" marL="91450"/>
                </a:tc>
              </a:tr>
            </a:tbl>
          </a:graphicData>
        </a:graphic>
      </p:graphicFrame>
      <p:sp>
        <p:nvSpPr>
          <p:cNvPr id="737" name="Google Shape;737;p70"/>
          <p:cNvSpPr txBox="1"/>
          <p:nvPr/>
        </p:nvSpPr>
        <p:spPr>
          <a:xfrm>
            <a:off x="4546555" y="2691336"/>
            <a:ext cx="3574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600">
                <a:solidFill>
                  <a:schemeClr val="dk2"/>
                </a:solidFill>
                <a:latin typeface="EB Garamond"/>
                <a:ea typeface="EB Garamond"/>
                <a:cs typeface="EB Garamond"/>
                <a:sym typeface="EB Garamond"/>
              </a:rPr>
              <a:t>Pirámide poblacional CENSO (2017)</a:t>
            </a:r>
            <a:endParaRPr>
              <a:solidFill>
                <a:schemeClr val="dk2"/>
              </a:solidFill>
              <a:latin typeface="EB Garamond"/>
              <a:ea typeface="EB Garamond"/>
              <a:cs typeface="EB Garamond"/>
              <a:sym typeface="EB Garamond"/>
            </a:endParaRPr>
          </a:p>
        </p:txBody>
      </p:sp>
      <p:pic>
        <p:nvPicPr>
          <p:cNvPr descr="Imagen que contiene Logotipo&#10;&#10;Descripción generada automáticamente" id="738" name="Google Shape;738;p70"/>
          <p:cNvPicPr preferRelativeResize="0"/>
          <p:nvPr/>
        </p:nvPicPr>
        <p:blipFill rotWithShape="1">
          <a:blip r:embed="rId3">
            <a:alphaModFix/>
          </a:blip>
          <a:srcRect b="0" l="0" r="0" t="0"/>
          <a:stretch/>
        </p:blipFill>
        <p:spPr>
          <a:xfrm>
            <a:off x="4317075" y="3187025"/>
            <a:ext cx="4333225" cy="1381850"/>
          </a:xfrm>
          <a:prstGeom prst="rect">
            <a:avLst/>
          </a:prstGeom>
          <a:noFill/>
          <a:ln>
            <a:noFill/>
          </a:ln>
        </p:spPr>
      </p:pic>
      <p:sp>
        <p:nvSpPr>
          <p:cNvPr id="739" name="Google Shape;739;p70"/>
          <p:cNvSpPr txBox="1"/>
          <p:nvPr/>
        </p:nvSpPr>
        <p:spPr>
          <a:xfrm rot="-5400000">
            <a:off x="3369225" y="3674700"/>
            <a:ext cx="1321200" cy="230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900">
                <a:solidFill>
                  <a:srgbClr val="000000"/>
                </a:solidFill>
                <a:latin typeface="EB Garamond"/>
                <a:ea typeface="EB Garamond"/>
                <a:cs typeface="EB Garamond"/>
                <a:sym typeface="EB Garamond"/>
              </a:rPr>
              <a:t>(-)           EDAD         (+)</a:t>
            </a:r>
            <a:endParaRPr sz="900">
              <a:latin typeface="EB Garamond"/>
              <a:ea typeface="EB Garamond"/>
              <a:cs typeface="EB Garamond"/>
              <a:sym typeface="EB Garamon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745" name="Google Shape;745;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746" name="Google Shape;746;p71"/>
          <p:cNvPicPr preferRelativeResize="0"/>
          <p:nvPr/>
        </p:nvPicPr>
        <p:blipFill rotWithShape="1">
          <a:blip r:embed="rId3">
            <a:alphaModFix/>
          </a:blip>
          <a:srcRect b="0" l="0" r="0" t="0"/>
          <a:stretch/>
        </p:blipFill>
        <p:spPr>
          <a:xfrm>
            <a:off x="700213" y="1749150"/>
            <a:ext cx="7772226" cy="2001725"/>
          </a:xfrm>
          <a:prstGeom prst="rect">
            <a:avLst/>
          </a:prstGeom>
          <a:noFill/>
          <a:ln>
            <a:noFill/>
          </a:ln>
        </p:spPr>
      </p:pic>
      <p:sp>
        <p:nvSpPr>
          <p:cNvPr id="747" name="Google Shape;747;p71"/>
          <p:cNvSpPr/>
          <p:nvPr/>
        </p:nvSpPr>
        <p:spPr>
          <a:xfrm>
            <a:off x="6129948" y="3388416"/>
            <a:ext cx="774600" cy="3621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748" name="Google Shape;748;p71"/>
          <p:cNvSpPr/>
          <p:nvPr/>
        </p:nvSpPr>
        <p:spPr>
          <a:xfrm>
            <a:off x="2268097" y="3388416"/>
            <a:ext cx="774600" cy="362100"/>
          </a:xfrm>
          <a:prstGeom prst="donut">
            <a:avLst>
              <a:gd fmla="val 5436" name="adj"/>
            </a:avLst>
          </a:prstGeom>
          <a:solidFill>
            <a:srgbClr val="156C77"/>
          </a:solidFill>
          <a:ln cap="flat" cmpd="sng" w="12700">
            <a:solidFill>
              <a:srgbClr val="156C7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cxnSp>
        <p:nvCxnSpPr>
          <p:cNvPr id="749" name="Google Shape;749;p71"/>
          <p:cNvCxnSpPr>
            <a:stCxn id="748" idx="6"/>
            <a:endCxn id="747" idx="2"/>
          </p:cNvCxnSpPr>
          <p:nvPr/>
        </p:nvCxnSpPr>
        <p:spPr>
          <a:xfrm>
            <a:off x="3042697" y="3569466"/>
            <a:ext cx="3087300" cy="0"/>
          </a:xfrm>
          <a:prstGeom prst="straightConnector1">
            <a:avLst/>
          </a:prstGeom>
          <a:noFill/>
          <a:ln cap="flat" cmpd="sng" w="38100">
            <a:solidFill>
              <a:srgbClr val="FF1D76"/>
            </a:solidFill>
            <a:prstDash val="solid"/>
            <a:miter lim="800000"/>
            <a:headEnd len="sm" w="sm"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755" name="Google Shape;755;p72"/>
          <p:cNvSpPr txBox="1"/>
          <p:nvPr>
            <p:ph idx="1" type="body"/>
          </p:nvPr>
        </p:nvSpPr>
        <p:spPr>
          <a:xfrm>
            <a:off x="311700" y="1152475"/>
            <a:ext cx="33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lt2"/>
                </a:solidFill>
                <a:highlight>
                  <a:srgbClr val="156C77"/>
                </a:highlight>
                <a:latin typeface="EB Garamond"/>
                <a:ea typeface="EB Garamond"/>
                <a:cs typeface="EB Garamond"/>
                <a:sym typeface="EB Garamond"/>
              </a:rPr>
              <a:t>1. Variable (encuesta)</a:t>
            </a:r>
            <a:endParaRPr sz="1600">
              <a:solidFill>
                <a:schemeClr val="lt2"/>
              </a:solidFill>
              <a:highlight>
                <a:srgbClr val="156C77"/>
              </a:highlight>
              <a:latin typeface="EB Garamond"/>
              <a:ea typeface="EB Garamond"/>
              <a:cs typeface="EB Garamond"/>
              <a:sym typeface="EB Garamond"/>
            </a:endParaRPr>
          </a:p>
          <a:p>
            <a:pPr indent="0" lvl="0" marL="0" rtl="0" algn="l">
              <a:spcBef>
                <a:spcPts val="1200"/>
              </a:spcBef>
              <a:spcAft>
                <a:spcPts val="0"/>
              </a:spcAft>
              <a:buNone/>
            </a:pPr>
            <a:r>
              <a:rPr lang="es" sz="1400">
                <a:latin typeface="EB Garamond"/>
                <a:ea typeface="EB Garamond"/>
                <a:cs typeface="EB Garamond"/>
                <a:sym typeface="EB Garamond"/>
              </a:rPr>
              <a:t>P1. Indique su edad en años cumplidos: ____</a:t>
            </a:r>
            <a:endParaRPr sz="1400">
              <a:latin typeface="EB Garamond"/>
              <a:ea typeface="EB Garamond"/>
              <a:cs typeface="EB Garamond"/>
              <a:sym typeface="EB Garamond"/>
            </a:endParaRPr>
          </a:p>
          <a:p>
            <a:pPr indent="0" lvl="0" marL="0" rtl="0" algn="l">
              <a:spcBef>
                <a:spcPts val="1200"/>
              </a:spcBef>
              <a:spcAft>
                <a:spcPts val="0"/>
              </a:spcAft>
              <a:buNone/>
            </a:pPr>
            <a:r>
              <a:rPr lang="es" sz="1600">
                <a:solidFill>
                  <a:schemeClr val="lt2"/>
                </a:solidFill>
                <a:highlight>
                  <a:srgbClr val="A64D79"/>
                </a:highlight>
                <a:latin typeface="EB Garamond"/>
                <a:ea typeface="EB Garamond"/>
                <a:cs typeface="EB Garamond"/>
                <a:sym typeface="EB Garamond"/>
              </a:rPr>
              <a:t>2. Atributos (matriz datos)</a:t>
            </a:r>
            <a:endParaRPr sz="1600">
              <a:solidFill>
                <a:schemeClr val="lt2"/>
              </a:solidFill>
              <a:highlight>
                <a:srgbClr val="A64D79"/>
              </a:highlight>
              <a:latin typeface="EB Garamond"/>
              <a:ea typeface="EB Garamond"/>
              <a:cs typeface="EB Garamond"/>
              <a:sym typeface="EB Garamond"/>
            </a:endParaRPr>
          </a:p>
          <a:p>
            <a:pPr indent="0" lvl="0" marL="0" rtl="0" algn="l">
              <a:spcBef>
                <a:spcPts val="1200"/>
              </a:spcBef>
              <a:spcAft>
                <a:spcPts val="1200"/>
              </a:spcAft>
              <a:buNone/>
            </a:pPr>
            <a:r>
              <a:t/>
            </a:r>
            <a:endParaRPr>
              <a:solidFill>
                <a:schemeClr val="lt2"/>
              </a:solidFill>
              <a:highlight>
                <a:srgbClr val="A64D79"/>
              </a:highlight>
              <a:latin typeface="EB Garamond"/>
              <a:ea typeface="EB Garamond"/>
              <a:cs typeface="EB Garamond"/>
              <a:sym typeface="EB Garamond"/>
            </a:endParaRPr>
          </a:p>
        </p:txBody>
      </p:sp>
      <p:sp>
        <p:nvSpPr>
          <p:cNvPr id="756" name="Google Shape;756;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757" name="Google Shape;757;p72"/>
          <p:cNvSpPr txBox="1"/>
          <p:nvPr>
            <p:ph idx="2" type="body"/>
          </p:nvPr>
        </p:nvSpPr>
        <p:spPr>
          <a:xfrm>
            <a:off x="4061650" y="1152475"/>
            <a:ext cx="477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highlight>
                  <a:schemeClr val="accent4"/>
                </a:highlight>
                <a:latin typeface="EB Garamond"/>
                <a:ea typeface="EB Garamond"/>
                <a:cs typeface="EB Garamond"/>
                <a:sym typeface="EB Garamond"/>
              </a:rPr>
              <a:t>3. Transformación del nivel de medición (análisis de datos)</a:t>
            </a:r>
            <a:endParaRPr sz="1600">
              <a:highlight>
                <a:schemeClr val="accent4"/>
              </a:highlight>
              <a:latin typeface="EB Garamond"/>
              <a:ea typeface="EB Garamond"/>
              <a:cs typeface="EB Garamond"/>
              <a:sym typeface="EB Garamond"/>
            </a:endParaRPr>
          </a:p>
          <a:p>
            <a:pPr indent="0" lvl="0" marL="0" rtl="0" algn="l">
              <a:lnSpc>
                <a:spcPct val="100000"/>
              </a:lnSpc>
              <a:spcBef>
                <a:spcPts val="1200"/>
              </a:spcBef>
              <a:spcAft>
                <a:spcPts val="0"/>
              </a:spcAft>
              <a:buNone/>
            </a:pPr>
            <a:r>
              <a:rPr lang="es">
                <a:latin typeface="EB Garamond"/>
                <a:ea typeface="EB Garamond"/>
                <a:cs typeface="EB Garamond"/>
                <a:sym typeface="EB Garamond"/>
              </a:rPr>
              <a:t>Tenemos edad como una variable </a:t>
            </a:r>
            <a:r>
              <a:rPr lang="es">
                <a:highlight>
                  <a:srgbClr val="FDBF41"/>
                </a:highlight>
                <a:latin typeface="EB Garamond"/>
                <a:ea typeface="EB Garamond"/>
                <a:cs typeface="EB Garamond"/>
                <a:sym typeface="EB Garamond"/>
              </a:rPr>
              <a:t>escalar de intervalo</a:t>
            </a:r>
            <a:r>
              <a:rPr b="1" lang="es">
                <a:latin typeface="EB Garamond"/>
                <a:ea typeface="EB Garamond"/>
                <a:cs typeface="EB Garamond"/>
                <a:sym typeface="EB Garamond"/>
              </a:rPr>
              <a:t> </a:t>
            </a:r>
            <a:r>
              <a:rPr lang="es">
                <a:latin typeface="EB Garamond"/>
                <a:ea typeface="EB Garamond"/>
                <a:cs typeface="EB Garamond"/>
                <a:sym typeface="EB Garamond"/>
              </a:rPr>
              <a:t>donde cualquier caso puede tener cualquier número (menos el cero). Nos permite ver la continuidad de los datos, sin el cero:</a:t>
            </a:r>
            <a:endParaRPr sz="1200">
              <a:highlight>
                <a:schemeClr val="accent4"/>
              </a:highlight>
              <a:latin typeface="EB Garamond"/>
              <a:ea typeface="EB Garamond"/>
              <a:cs typeface="EB Garamond"/>
              <a:sym typeface="EB Garamond"/>
            </a:endParaRPr>
          </a:p>
        </p:txBody>
      </p:sp>
      <p:graphicFrame>
        <p:nvGraphicFramePr>
          <p:cNvPr id="758" name="Google Shape;758;p72"/>
          <p:cNvGraphicFramePr/>
          <p:nvPr/>
        </p:nvGraphicFramePr>
        <p:xfrm>
          <a:off x="405976" y="2487950"/>
          <a:ext cx="3000000" cy="3000000"/>
        </p:xfrm>
        <a:graphic>
          <a:graphicData uri="http://schemas.openxmlformats.org/drawingml/2006/table">
            <a:tbl>
              <a:tblPr bandRow="1" firstRow="1">
                <a:noFill/>
                <a:tableStyleId>{5AD48871-FB56-4D40-95C2-87B6C148C408}</a:tableStyleId>
              </a:tblPr>
              <a:tblGrid>
                <a:gridCol w="565400"/>
                <a:gridCol w="565400"/>
              </a:tblGrid>
              <a:tr h="191500">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caso</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edad</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1</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20</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highlight>
                            <a:schemeClr val="accent6"/>
                          </a:highlight>
                          <a:latin typeface="EB Garamond"/>
                          <a:ea typeface="EB Garamond"/>
                          <a:cs typeface="EB Garamond"/>
                          <a:sym typeface="EB Garamond"/>
                        </a:rPr>
                        <a:t>1</a:t>
                      </a:r>
                      <a:endParaRPr sz="1200">
                        <a:solidFill>
                          <a:schemeClr val="dk2"/>
                        </a:solidFill>
                        <a:highlight>
                          <a:schemeClr val="accent6"/>
                        </a:highlight>
                        <a:latin typeface="EB Garamond"/>
                        <a:ea typeface="EB Garamond"/>
                        <a:cs typeface="EB Garamond"/>
                        <a:sym typeface="EB Garamond"/>
                      </a:endParaRPr>
                    </a:p>
                  </a:txBody>
                  <a:tcPr marT="45725" marB="45725" marR="91450" marL="91450"/>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3</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78</a:t>
                      </a:r>
                      <a:endParaRPr sz="1200">
                        <a:solidFill>
                          <a:schemeClr val="dk2"/>
                        </a:solidFill>
                        <a:latin typeface="EB Garamond"/>
                        <a:ea typeface="EB Garamond"/>
                        <a:cs typeface="EB Garamond"/>
                        <a:sym typeface="EB Garamond"/>
                      </a:endParaRPr>
                    </a:p>
                  </a:txBody>
                  <a:tcPr marT="45725" marB="45725" marR="91450" marL="91450"/>
                </a:tc>
              </a:tr>
              <a:tr h="173875">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n</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a:t>
                      </a:r>
                      <a:endParaRPr sz="1200">
                        <a:solidFill>
                          <a:schemeClr val="dk2"/>
                        </a:solidFill>
                        <a:latin typeface="EB Garamond"/>
                        <a:ea typeface="EB Garamond"/>
                        <a:cs typeface="EB Garamond"/>
                        <a:sym typeface="EB Garamond"/>
                      </a:endParaRPr>
                    </a:p>
                  </a:txBody>
                  <a:tcPr marT="45725" marB="45725" marR="91450" marL="91450"/>
                </a:tc>
              </a:tr>
            </a:tbl>
          </a:graphicData>
        </a:graphic>
      </p:graphicFrame>
      <p:pic>
        <p:nvPicPr>
          <p:cNvPr descr="Imagen que contiene Logotipo&#10;&#10;Descripción generada automáticamente" id="759" name="Google Shape;759;p72"/>
          <p:cNvPicPr preferRelativeResize="0"/>
          <p:nvPr/>
        </p:nvPicPr>
        <p:blipFill rotWithShape="1">
          <a:blip r:embed="rId3">
            <a:alphaModFix/>
          </a:blip>
          <a:srcRect b="0" l="0" r="0" t="0"/>
          <a:stretch/>
        </p:blipFill>
        <p:spPr>
          <a:xfrm>
            <a:off x="4317075" y="3187025"/>
            <a:ext cx="4333225" cy="1381850"/>
          </a:xfrm>
          <a:prstGeom prst="rect">
            <a:avLst/>
          </a:prstGeom>
          <a:noFill/>
          <a:ln>
            <a:noFill/>
          </a:ln>
        </p:spPr>
      </p:pic>
      <p:sp>
        <p:nvSpPr>
          <p:cNvPr id="760" name="Google Shape;760;p72"/>
          <p:cNvSpPr txBox="1"/>
          <p:nvPr/>
        </p:nvSpPr>
        <p:spPr>
          <a:xfrm>
            <a:off x="4546555" y="2691336"/>
            <a:ext cx="3574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600">
                <a:solidFill>
                  <a:schemeClr val="dk2"/>
                </a:solidFill>
                <a:latin typeface="EB Garamond"/>
                <a:ea typeface="EB Garamond"/>
                <a:cs typeface="EB Garamond"/>
                <a:sym typeface="EB Garamond"/>
              </a:rPr>
              <a:t>Pirámide poblacional CENSO (2017)</a:t>
            </a:r>
            <a:endParaRPr>
              <a:solidFill>
                <a:schemeClr val="dk2"/>
              </a:solidFill>
              <a:latin typeface="EB Garamond"/>
              <a:ea typeface="EB Garamond"/>
              <a:cs typeface="EB Garamond"/>
              <a:sym typeface="EB Garamond"/>
            </a:endParaRPr>
          </a:p>
        </p:txBody>
      </p:sp>
      <p:sp>
        <p:nvSpPr>
          <p:cNvPr id="761" name="Google Shape;761;p72"/>
          <p:cNvSpPr txBox="1"/>
          <p:nvPr/>
        </p:nvSpPr>
        <p:spPr>
          <a:xfrm rot="-5400000">
            <a:off x="3369225" y="3674700"/>
            <a:ext cx="1321200" cy="230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 sz="900">
                <a:solidFill>
                  <a:srgbClr val="000000"/>
                </a:solidFill>
                <a:latin typeface="EB Garamond"/>
                <a:ea typeface="EB Garamond"/>
                <a:cs typeface="EB Garamond"/>
                <a:sym typeface="EB Garamond"/>
              </a:rPr>
              <a:t>(-)           EDAD         (+)</a:t>
            </a:r>
            <a:endParaRPr sz="900">
              <a:latin typeface="EB Garamond"/>
              <a:ea typeface="EB Garamond"/>
              <a:cs typeface="EB Garamond"/>
              <a:sym typeface="EB Garamo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767" name="Google Shape;767;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768" name="Google Shape;768;p73"/>
          <p:cNvPicPr preferRelativeResize="0"/>
          <p:nvPr/>
        </p:nvPicPr>
        <p:blipFill rotWithShape="1">
          <a:blip r:embed="rId3">
            <a:alphaModFix/>
          </a:blip>
          <a:srcRect b="0" l="0" r="0" t="0"/>
          <a:stretch/>
        </p:blipFill>
        <p:spPr>
          <a:xfrm>
            <a:off x="700213" y="1749150"/>
            <a:ext cx="7772226" cy="2001725"/>
          </a:xfrm>
          <a:prstGeom prst="rect">
            <a:avLst/>
          </a:prstGeom>
          <a:noFill/>
          <a:ln>
            <a:noFill/>
          </a:ln>
        </p:spPr>
      </p:pic>
      <p:sp>
        <p:nvSpPr>
          <p:cNvPr id="769" name="Google Shape;769;p73"/>
          <p:cNvSpPr/>
          <p:nvPr/>
        </p:nvSpPr>
        <p:spPr>
          <a:xfrm>
            <a:off x="4844073" y="3388716"/>
            <a:ext cx="774600" cy="3621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770" name="Google Shape;770;p73"/>
          <p:cNvSpPr/>
          <p:nvPr/>
        </p:nvSpPr>
        <p:spPr>
          <a:xfrm>
            <a:off x="2268097" y="3388416"/>
            <a:ext cx="774600" cy="362100"/>
          </a:xfrm>
          <a:prstGeom prst="donut">
            <a:avLst>
              <a:gd fmla="val 5436" name="adj"/>
            </a:avLst>
          </a:prstGeom>
          <a:solidFill>
            <a:srgbClr val="156C77"/>
          </a:solidFill>
          <a:ln cap="flat" cmpd="sng" w="12700">
            <a:solidFill>
              <a:srgbClr val="156C7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cxnSp>
        <p:nvCxnSpPr>
          <p:cNvPr id="771" name="Google Shape;771;p73"/>
          <p:cNvCxnSpPr>
            <a:stCxn id="770" idx="6"/>
            <a:endCxn id="769" idx="2"/>
          </p:cNvCxnSpPr>
          <p:nvPr/>
        </p:nvCxnSpPr>
        <p:spPr>
          <a:xfrm>
            <a:off x="3042697" y="3569466"/>
            <a:ext cx="1801500" cy="300"/>
          </a:xfrm>
          <a:prstGeom prst="straightConnector1">
            <a:avLst/>
          </a:prstGeom>
          <a:noFill/>
          <a:ln cap="flat" cmpd="sng" w="38100">
            <a:solidFill>
              <a:srgbClr val="FF1D76"/>
            </a:solidFill>
            <a:prstDash val="solid"/>
            <a:miter lim="800000"/>
            <a:headEnd len="sm" w="sm" type="none"/>
            <a:tailEnd len="med" w="med" type="triangl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777" name="Google Shape;777;p74"/>
          <p:cNvSpPr txBox="1"/>
          <p:nvPr>
            <p:ph idx="1" type="body"/>
          </p:nvPr>
        </p:nvSpPr>
        <p:spPr>
          <a:xfrm>
            <a:off x="311700" y="1152475"/>
            <a:ext cx="33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lt2"/>
                </a:solidFill>
                <a:highlight>
                  <a:srgbClr val="156C77"/>
                </a:highlight>
                <a:latin typeface="EB Garamond"/>
                <a:ea typeface="EB Garamond"/>
                <a:cs typeface="EB Garamond"/>
                <a:sym typeface="EB Garamond"/>
              </a:rPr>
              <a:t>1. Variable (encuesta)</a:t>
            </a:r>
            <a:endParaRPr sz="1600">
              <a:solidFill>
                <a:schemeClr val="lt2"/>
              </a:solidFill>
              <a:highlight>
                <a:srgbClr val="156C77"/>
              </a:highlight>
              <a:latin typeface="EB Garamond"/>
              <a:ea typeface="EB Garamond"/>
              <a:cs typeface="EB Garamond"/>
              <a:sym typeface="EB Garamond"/>
            </a:endParaRPr>
          </a:p>
          <a:p>
            <a:pPr indent="0" lvl="0" marL="0" rtl="0" algn="l">
              <a:spcBef>
                <a:spcPts val="1200"/>
              </a:spcBef>
              <a:spcAft>
                <a:spcPts val="0"/>
              </a:spcAft>
              <a:buNone/>
            </a:pPr>
            <a:r>
              <a:rPr lang="es" sz="1400">
                <a:latin typeface="EB Garamond"/>
                <a:ea typeface="EB Garamond"/>
                <a:cs typeface="EB Garamond"/>
                <a:sym typeface="EB Garamond"/>
              </a:rPr>
              <a:t>P1. Indique su edad en años cumplidos: ____</a:t>
            </a:r>
            <a:endParaRPr sz="1400">
              <a:latin typeface="EB Garamond"/>
              <a:ea typeface="EB Garamond"/>
              <a:cs typeface="EB Garamond"/>
              <a:sym typeface="EB Garamond"/>
            </a:endParaRPr>
          </a:p>
          <a:p>
            <a:pPr indent="0" lvl="0" marL="0" rtl="0" algn="l">
              <a:spcBef>
                <a:spcPts val="1200"/>
              </a:spcBef>
              <a:spcAft>
                <a:spcPts val="0"/>
              </a:spcAft>
              <a:buNone/>
            </a:pPr>
            <a:r>
              <a:rPr lang="es" sz="1600">
                <a:solidFill>
                  <a:schemeClr val="lt2"/>
                </a:solidFill>
                <a:highlight>
                  <a:srgbClr val="A64D79"/>
                </a:highlight>
                <a:latin typeface="EB Garamond"/>
                <a:ea typeface="EB Garamond"/>
                <a:cs typeface="EB Garamond"/>
                <a:sym typeface="EB Garamond"/>
              </a:rPr>
              <a:t>2. Atributos (matriz datos)</a:t>
            </a:r>
            <a:endParaRPr sz="1600">
              <a:solidFill>
                <a:schemeClr val="lt2"/>
              </a:solidFill>
              <a:highlight>
                <a:srgbClr val="A64D79"/>
              </a:highlight>
              <a:latin typeface="EB Garamond"/>
              <a:ea typeface="EB Garamond"/>
              <a:cs typeface="EB Garamond"/>
              <a:sym typeface="EB Garamond"/>
            </a:endParaRPr>
          </a:p>
          <a:p>
            <a:pPr indent="0" lvl="0" marL="0" rtl="0" algn="l">
              <a:spcBef>
                <a:spcPts val="1200"/>
              </a:spcBef>
              <a:spcAft>
                <a:spcPts val="1200"/>
              </a:spcAft>
              <a:buNone/>
            </a:pPr>
            <a:r>
              <a:t/>
            </a:r>
            <a:endParaRPr>
              <a:solidFill>
                <a:schemeClr val="lt2"/>
              </a:solidFill>
              <a:highlight>
                <a:srgbClr val="A64D79"/>
              </a:highlight>
              <a:latin typeface="EB Garamond"/>
              <a:ea typeface="EB Garamond"/>
              <a:cs typeface="EB Garamond"/>
              <a:sym typeface="EB Garamond"/>
            </a:endParaRPr>
          </a:p>
        </p:txBody>
      </p:sp>
      <p:sp>
        <p:nvSpPr>
          <p:cNvPr id="778" name="Google Shape;778;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779" name="Google Shape;779;p74"/>
          <p:cNvSpPr txBox="1"/>
          <p:nvPr>
            <p:ph idx="2" type="body"/>
          </p:nvPr>
        </p:nvSpPr>
        <p:spPr>
          <a:xfrm>
            <a:off x="4061650" y="1152475"/>
            <a:ext cx="477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highlight>
                  <a:schemeClr val="accent4"/>
                </a:highlight>
                <a:latin typeface="EB Garamond"/>
                <a:ea typeface="EB Garamond"/>
                <a:cs typeface="EB Garamond"/>
                <a:sym typeface="EB Garamond"/>
              </a:rPr>
              <a:t>3. Transformación del nivel de medición (análisis de datos)</a:t>
            </a:r>
            <a:endParaRPr sz="1600">
              <a:highlight>
                <a:schemeClr val="accent4"/>
              </a:highlight>
              <a:latin typeface="EB Garamond"/>
              <a:ea typeface="EB Garamond"/>
              <a:cs typeface="EB Garamond"/>
              <a:sym typeface="EB Garamond"/>
            </a:endParaRPr>
          </a:p>
          <a:p>
            <a:pPr indent="0" lvl="0" marL="0" rtl="0" algn="l">
              <a:lnSpc>
                <a:spcPct val="100000"/>
              </a:lnSpc>
              <a:spcBef>
                <a:spcPts val="1200"/>
              </a:spcBef>
              <a:spcAft>
                <a:spcPts val="0"/>
              </a:spcAft>
              <a:buNone/>
            </a:pPr>
            <a:r>
              <a:rPr lang="es">
                <a:latin typeface="EB Garamond"/>
                <a:ea typeface="EB Garamond"/>
                <a:cs typeface="EB Garamond"/>
                <a:sym typeface="EB Garamond"/>
              </a:rPr>
              <a:t>Tenemos edad como una variable </a:t>
            </a:r>
            <a:r>
              <a:rPr lang="es">
                <a:highlight>
                  <a:srgbClr val="FDBF41"/>
                </a:highlight>
                <a:latin typeface="EB Garamond"/>
                <a:ea typeface="EB Garamond"/>
                <a:cs typeface="EB Garamond"/>
                <a:sym typeface="EB Garamond"/>
              </a:rPr>
              <a:t>ordinal</a:t>
            </a:r>
            <a:r>
              <a:rPr lang="es">
                <a:latin typeface="EB Garamond"/>
                <a:ea typeface="EB Garamond"/>
                <a:cs typeface="EB Garamond"/>
                <a:sym typeface="EB Garamond"/>
              </a:rPr>
              <a:t>:</a:t>
            </a:r>
            <a:endParaRPr sz="1200">
              <a:highlight>
                <a:schemeClr val="accent4"/>
              </a:highlight>
              <a:latin typeface="EB Garamond"/>
              <a:ea typeface="EB Garamond"/>
              <a:cs typeface="EB Garamond"/>
              <a:sym typeface="EB Garamond"/>
            </a:endParaRPr>
          </a:p>
        </p:txBody>
      </p:sp>
      <p:graphicFrame>
        <p:nvGraphicFramePr>
          <p:cNvPr id="780" name="Google Shape;780;p74"/>
          <p:cNvGraphicFramePr/>
          <p:nvPr/>
        </p:nvGraphicFramePr>
        <p:xfrm>
          <a:off x="405976" y="2487950"/>
          <a:ext cx="3000000" cy="3000000"/>
        </p:xfrm>
        <a:graphic>
          <a:graphicData uri="http://schemas.openxmlformats.org/drawingml/2006/table">
            <a:tbl>
              <a:tblPr bandRow="1" firstRow="1">
                <a:noFill/>
                <a:tableStyleId>{5AD48871-FB56-4D40-95C2-87B6C148C408}</a:tableStyleId>
              </a:tblPr>
              <a:tblGrid>
                <a:gridCol w="565400"/>
                <a:gridCol w="565400"/>
              </a:tblGrid>
              <a:tr h="191500">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caso</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edad</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1</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20</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highlight>
                            <a:schemeClr val="accent6"/>
                          </a:highlight>
                          <a:latin typeface="EB Garamond"/>
                          <a:ea typeface="EB Garamond"/>
                          <a:cs typeface="EB Garamond"/>
                          <a:sym typeface="EB Garamond"/>
                        </a:rPr>
                        <a:t>1</a:t>
                      </a:r>
                      <a:endParaRPr sz="1200">
                        <a:solidFill>
                          <a:schemeClr val="dk2"/>
                        </a:solidFill>
                        <a:highlight>
                          <a:schemeClr val="accent6"/>
                        </a:highlight>
                        <a:latin typeface="EB Garamond"/>
                        <a:ea typeface="EB Garamond"/>
                        <a:cs typeface="EB Garamond"/>
                        <a:sym typeface="EB Garamond"/>
                      </a:endParaRPr>
                    </a:p>
                  </a:txBody>
                  <a:tcPr marT="45725" marB="45725" marR="91450" marL="91450"/>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3</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78</a:t>
                      </a:r>
                      <a:endParaRPr sz="1200">
                        <a:solidFill>
                          <a:schemeClr val="dk2"/>
                        </a:solidFill>
                        <a:latin typeface="EB Garamond"/>
                        <a:ea typeface="EB Garamond"/>
                        <a:cs typeface="EB Garamond"/>
                        <a:sym typeface="EB Garamond"/>
                      </a:endParaRPr>
                    </a:p>
                  </a:txBody>
                  <a:tcPr marT="45725" marB="45725" marR="91450" marL="91450"/>
                </a:tc>
              </a:tr>
              <a:tr h="173875">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n</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a:t>
                      </a:r>
                      <a:endParaRPr sz="1200">
                        <a:solidFill>
                          <a:schemeClr val="dk2"/>
                        </a:solidFill>
                        <a:latin typeface="EB Garamond"/>
                        <a:ea typeface="EB Garamond"/>
                        <a:cs typeface="EB Garamond"/>
                        <a:sym typeface="EB Garamond"/>
                      </a:endParaRPr>
                    </a:p>
                  </a:txBody>
                  <a:tcPr marT="45725" marB="45725" marR="91450" marL="91450"/>
                </a:tc>
              </a:tr>
            </a:tbl>
          </a:graphicData>
        </a:graphic>
      </p:graphicFrame>
      <p:sp>
        <p:nvSpPr>
          <p:cNvPr id="781" name="Google Shape;781;p74"/>
          <p:cNvSpPr txBox="1"/>
          <p:nvPr/>
        </p:nvSpPr>
        <p:spPr>
          <a:xfrm>
            <a:off x="4897876" y="2065700"/>
            <a:ext cx="252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600">
                <a:solidFill>
                  <a:schemeClr val="dk2"/>
                </a:solidFill>
                <a:latin typeface="EB Garamond"/>
                <a:ea typeface="EB Garamond"/>
                <a:cs typeface="EB Garamond"/>
                <a:sym typeface="EB Garamond"/>
              </a:rPr>
              <a:t>Población CENSO (2017)</a:t>
            </a:r>
            <a:endParaRPr>
              <a:solidFill>
                <a:schemeClr val="dk2"/>
              </a:solidFill>
              <a:latin typeface="EB Garamond"/>
              <a:ea typeface="EB Garamond"/>
              <a:cs typeface="EB Garamond"/>
              <a:sym typeface="EB Garamond"/>
            </a:endParaRPr>
          </a:p>
        </p:txBody>
      </p:sp>
      <p:pic>
        <p:nvPicPr>
          <p:cNvPr descr="Calendario&#10;&#10;Descripción generada automáticamente" id="782" name="Google Shape;782;p74"/>
          <p:cNvPicPr preferRelativeResize="0"/>
          <p:nvPr/>
        </p:nvPicPr>
        <p:blipFill rotWithShape="1">
          <a:blip r:embed="rId3">
            <a:alphaModFix/>
          </a:blip>
          <a:srcRect b="0" l="0" r="0" t="0"/>
          <a:stretch/>
        </p:blipFill>
        <p:spPr>
          <a:xfrm>
            <a:off x="4478300" y="2487950"/>
            <a:ext cx="3499243" cy="23993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788" name="Google Shape;788;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789" name="Google Shape;789;p75"/>
          <p:cNvPicPr preferRelativeResize="0"/>
          <p:nvPr/>
        </p:nvPicPr>
        <p:blipFill rotWithShape="1">
          <a:blip r:embed="rId3">
            <a:alphaModFix/>
          </a:blip>
          <a:srcRect b="0" l="0" r="0" t="0"/>
          <a:stretch/>
        </p:blipFill>
        <p:spPr>
          <a:xfrm>
            <a:off x="700213" y="1749150"/>
            <a:ext cx="7772226" cy="2001725"/>
          </a:xfrm>
          <a:prstGeom prst="rect">
            <a:avLst/>
          </a:prstGeom>
          <a:noFill/>
          <a:ln>
            <a:noFill/>
          </a:ln>
        </p:spPr>
      </p:pic>
      <p:sp>
        <p:nvSpPr>
          <p:cNvPr id="790" name="Google Shape;790;p75"/>
          <p:cNvSpPr/>
          <p:nvPr/>
        </p:nvSpPr>
        <p:spPr>
          <a:xfrm>
            <a:off x="3647798" y="3388416"/>
            <a:ext cx="774600" cy="3621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791" name="Google Shape;791;p75"/>
          <p:cNvSpPr/>
          <p:nvPr/>
        </p:nvSpPr>
        <p:spPr>
          <a:xfrm>
            <a:off x="2268097" y="3388416"/>
            <a:ext cx="774600" cy="362100"/>
          </a:xfrm>
          <a:prstGeom prst="donut">
            <a:avLst>
              <a:gd fmla="val 5436" name="adj"/>
            </a:avLst>
          </a:prstGeom>
          <a:solidFill>
            <a:srgbClr val="156C77"/>
          </a:solidFill>
          <a:ln cap="flat" cmpd="sng" w="12700">
            <a:solidFill>
              <a:srgbClr val="156C7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cxnSp>
        <p:nvCxnSpPr>
          <p:cNvPr id="792" name="Google Shape;792;p75"/>
          <p:cNvCxnSpPr>
            <a:stCxn id="791" idx="6"/>
          </p:cNvCxnSpPr>
          <p:nvPr/>
        </p:nvCxnSpPr>
        <p:spPr>
          <a:xfrm>
            <a:off x="3042697" y="3569466"/>
            <a:ext cx="605100" cy="18000"/>
          </a:xfrm>
          <a:prstGeom prst="straightConnector1">
            <a:avLst/>
          </a:prstGeom>
          <a:noFill/>
          <a:ln cap="flat" cmpd="sng" w="38100">
            <a:solidFill>
              <a:srgbClr val="FF1D76"/>
            </a:solidFill>
            <a:prstDash val="solid"/>
            <a:miter lim="800000"/>
            <a:headEnd len="sm" w="sm" type="none"/>
            <a:tailEnd len="med" w="med" type="triangl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Ejemplo</a:t>
            </a:r>
            <a:endParaRPr>
              <a:latin typeface="EB Garamond"/>
              <a:ea typeface="EB Garamond"/>
              <a:cs typeface="EB Garamond"/>
              <a:sym typeface="EB Garamond"/>
            </a:endParaRPr>
          </a:p>
        </p:txBody>
      </p:sp>
      <p:sp>
        <p:nvSpPr>
          <p:cNvPr id="798" name="Google Shape;798;p76"/>
          <p:cNvSpPr txBox="1"/>
          <p:nvPr>
            <p:ph idx="1" type="body"/>
          </p:nvPr>
        </p:nvSpPr>
        <p:spPr>
          <a:xfrm>
            <a:off x="311700" y="1152475"/>
            <a:ext cx="33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lt2"/>
                </a:solidFill>
                <a:highlight>
                  <a:srgbClr val="156C77"/>
                </a:highlight>
                <a:latin typeface="EB Garamond"/>
                <a:ea typeface="EB Garamond"/>
                <a:cs typeface="EB Garamond"/>
                <a:sym typeface="EB Garamond"/>
              </a:rPr>
              <a:t>1. Variable (encuesta)</a:t>
            </a:r>
            <a:endParaRPr sz="1600">
              <a:solidFill>
                <a:schemeClr val="lt2"/>
              </a:solidFill>
              <a:highlight>
                <a:srgbClr val="156C77"/>
              </a:highlight>
              <a:latin typeface="EB Garamond"/>
              <a:ea typeface="EB Garamond"/>
              <a:cs typeface="EB Garamond"/>
              <a:sym typeface="EB Garamond"/>
            </a:endParaRPr>
          </a:p>
          <a:p>
            <a:pPr indent="0" lvl="0" marL="0" rtl="0" algn="l">
              <a:spcBef>
                <a:spcPts val="1200"/>
              </a:spcBef>
              <a:spcAft>
                <a:spcPts val="0"/>
              </a:spcAft>
              <a:buNone/>
            </a:pPr>
            <a:r>
              <a:rPr lang="es" sz="1400">
                <a:latin typeface="EB Garamond"/>
                <a:ea typeface="EB Garamond"/>
                <a:cs typeface="EB Garamond"/>
                <a:sym typeface="EB Garamond"/>
              </a:rPr>
              <a:t>P1. Indique su edad en años cumplidos: ____</a:t>
            </a:r>
            <a:endParaRPr sz="1400">
              <a:latin typeface="EB Garamond"/>
              <a:ea typeface="EB Garamond"/>
              <a:cs typeface="EB Garamond"/>
              <a:sym typeface="EB Garamond"/>
            </a:endParaRPr>
          </a:p>
          <a:p>
            <a:pPr indent="0" lvl="0" marL="0" rtl="0" algn="l">
              <a:spcBef>
                <a:spcPts val="1200"/>
              </a:spcBef>
              <a:spcAft>
                <a:spcPts val="0"/>
              </a:spcAft>
              <a:buNone/>
            </a:pPr>
            <a:r>
              <a:rPr lang="es" sz="1600">
                <a:solidFill>
                  <a:schemeClr val="lt2"/>
                </a:solidFill>
                <a:highlight>
                  <a:srgbClr val="A64D79"/>
                </a:highlight>
                <a:latin typeface="EB Garamond"/>
                <a:ea typeface="EB Garamond"/>
                <a:cs typeface="EB Garamond"/>
                <a:sym typeface="EB Garamond"/>
              </a:rPr>
              <a:t>2. Atributos (matriz datos)</a:t>
            </a:r>
            <a:endParaRPr sz="1600">
              <a:solidFill>
                <a:schemeClr val="lt2"/>
              </a:solidFill>
              <a:highlight>
                <a:srgbClr val="A64D79"/>
              </a:highlight>
              <a:latin typeface="EB Garamond"/>
              <a:ea typeface="EB Garamond"/>
              <a:cs typeface="EB Garamond"/>
              <a:sym typeface="EB Garamond"/>
            </a:endParaRPr>
          </a:p>
          <a:p>
            <a:pPr indent="0" lvl="0" marL="0" rtl="0" algn="l">
              <a:spcBef>
                <a:spcPts val="1200"/>
              </a:spcBef>
              <a:spcAft>
                <a:spcPts val="1200"/>
              </a:spcAft>
              <a:buNone/>
            </a:pPr>
            <a:r>
              <a:t/>
            </a:r>
            <a:endParaRPr>
              <a:solidFill>
                <a:schemeClr val="lt2"/>
              </a:solidFill>
              <a:highlight>
                <a:srgbClr val="A64D79"/>
              </a:highlight>
              <a:latin typeface="EB Garamond"/>
              <a:ea typeface="EB Garamond"/>
              <a:cs typeface="EB Garamond"/>
              <a:sym typeface="EB Garamond"/>
            </a:endParaRPr>
          </a:p>
        </p:txBody>
      </p:sp>
      <p:sp>
        <p:nvSpPr>
          <p:cNvPr id="799" name="Google Shape;799;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800" name="Google Shape;800;p76"/>
          <p:cNvSpPr txBox="1"/>
          <p:nvPr>
            <p:ph idx="2" type="body"/>
          </p:nvPr>
        </p:nvSpPr>
        <p:spPr>
          <a:xfrm>
            <a:off x="4061650" y="1152475"/>
            <a:ext cx="477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highlight>
                  <a:schemeClr val="accent4"/>
                </a:highlight>
                <a:latin typeface="EB Garamond"/>
                <a:ea typeface="EB Garamond"/>
                <a:cs typeface="EB Garamond"/>
                <a:sym typeface="EB Garamond"/>
              </a:rPr>
              <a:t>3. Transformación del nivel de medición (análisis de datos)</a:t>
            </a:r>
            <a:endParaRPr sz="1600">
              <a:highlight>
                <a:schemeClr val="accent4"/>
              </a:highlight>
              <a:latin typeface="EB Garamond"/>
              <a:ea typeface="EB Garamond"/>
              <a:cs typeface="EB Garamond"/>
              <a:sym typeface="EB Garamond"/>
            </a:endParaRPr>
          </a:p>
          <a:p>
            <a:pPr indent="0" lvl="0" marL="0" rtl="0" algn="l">
              <a:lnSpc>
                <a:spcPct val="100000"/>
              </a:lnSpc>
              <a:spcBef>
                <a:spcPts val="1200"/>
              </a:spcBef>
              <a:spcAft>
                <a:spcPts val="0"/>
              </a:spcAft>
              <a:buNone/>
            </a:pPr>
            <a:r>
              <a:rPr lang="es">
                <a:latin typeface="EB Garamond"/>
                <a:ea typeface="EB Garamond"/>
                <a:cs typeface="EB Garamond"/>
                <a:sym typeface="EB Garamond"/>
              </a:rPr>
              <a:t>Tenemos edad como una variable </a:t>
            </a:r>
            <a:r>
              <a:rPr lang="es">
                <a:highlight>
                  <a:srgbClr val="FDBF41"/>
                </a:highlight>
                <a:latin typeface="EB Garamond"/>
                <a:ea typeface="EB Garamond"/>
                <a:cs typeface="EB Garamond"/>
                <a:sym typeface="EB Garamond"/>
              </a:rPr>
              <a:t>nominal</a:t>
            </a:r>
            <a:r>
              <a:rPr lang="es">
                <a:latin typeface="EB Garamond"/>
                <a:ea typeface="EB Garamond"/>
                <a:cs typeface="EB Garamond"/>
                <a:sym typeface="EB Garamond"/>
              </a:rPr>
              <a:t>:</a:t>
            </a:r>
            <a:endParaRPr sz="1200">
              <a:highlight>
                <a:schemeClr val="accent4"/>
              </a:highlight>
              <a:latin typeface="EB Garamond"/>
              <a:ea typeface="EB Garamond"/>
              <a:cs typeface="EB Garamond"/>
              <a:sym typeface="EB Garamond"/>
            </a:endParaRPr>
          </a:p>
        </p:txBody>
      </p:sp>
      <p:graphicFrame>
        <p:nvGraphicFramePr>
          <p:cNvPr id="801" name="Google Shape;801;p76"/>
          <p:cNvGraphicFramePr/>
          <p:nvPr/>
        </p:nvGraphicFramePr>
        <p:xfrm>
          <a:off x="405976" y="2487950"/>
          <a:ext cx="3000000" cy="3000000"/>
        </p:xfrm>
        <a:graphic>
          <a:graphicData uri="http://schemas.openxmlformats.org/drawingml/2006/table">
            <a:tbl>
              <a:tblPr bandRow="1" firstRow="1">
                <a:noFill/>
                <a:tableStyleId>{5AD48871-FB56-4D40-95C2-87B6C148C408}</a:tableStyleId>
              </a:tblPr>
              <a:tblGrid>
                <a:gridCol w="565400"/>
                <a:gridCol w="565400"/>
              </a:tblGrid>
              <a:tr h="191500">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caso</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c>
                  <a:txBody>
                    <a:bodyPr/>
                    <a:lstStyle/>
                    <a:p>
                      <a:pPr indent="0" lvl="0" marL="0" marR="0" rtl="0" algn="l">
                        <a:spcBef>
                          <a:spcPts val="0"/>
                        </a:spcBef>
                        <a:spcAft>
                          <a:spcPts val="0"/>
                        </a:spcAft>
                        <a:buNone/>
                      </a:pPr>
                      <a:r>
                        <a:rPr lang="es" sz="1200">
                          <a:solidFill>
                            <a:schemeClr val="lt2"/>
                          </a:solidFill>
                          <a:latin typeface="EB Garamond"/>
                          <a:ea typeface="EB Garamond"/>
                          <a:cs typeface="EB Garamond"/>
                          <a:sym typeface="EB Garamond"/>
                        </a:rPr>
                        <a:t>edad</a:t>
                      </a:r>
                      <a:endParaRPr sz="1200">
                        <a:solidFill>
                          <a:schemeClr val="lt2"/>
                        </a:solidFill>
                        <a:latin typeface="EB Garamond"/>
                        <a:ea typeface="EB Garamond"/>
                        <a:cs typeface="EB Garamond"/>
                        <a:sym typeface="EB Garamond"/>
                      </a:endParaRPr>
                    </a:p>
                  </a:txBody>
                  <a:tcPr marT="45725" marB="45725" marR="91450" marL="91450">
                    <a:solidFill>
                      <a:srgbClr val="156C77"/>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1</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20</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2</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highlight>
                            <a:schemeClr val="accent6"/>
                          </a:highlight>
                          <a:latin typeface="EB Garamond"/>
                          <a:ea typeface="EB Garamond"/>
                          <a:cs typeface="EB Garamond"/>
                          <a:sym typeface="EB Garamond"/>
                        </a:rPr>
                        <a:t>1</a:t>
                      </a:r>
                      <a:endParaRPr sz="1200">
                        <a:solidFill>
                          <a:schemeClr val="dk2"/>
                        </a:solidFill>
                        <a:highlight>
                          <a:schemeClr val="accent6"/>
                        </a:highlight>
                        <a:latin typeface="EB Garamond"/>
                        <a:ea typeface="EB Garamond"/>
                        <a:cs typeface="EB Garamond"/>
                        <a:sym typeface="EB Garamond"/>
                      </a:endParaRPr>
                    </a:p>
                  </a:txBody>
                  <a:tcPr marT="45725" marB="45725" marR="91450" marL="91450"/>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3</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4</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78</a:t>
                      </a:r>
                      <a:endParaRPr sz="1200">
                        <a:solidFill>
                          <a:schemeClr val="dk2"/>
                        </a:solidFill>
                        <a:latin typeface="EB Garamond"/>
                        <a:ea typeface="EB Garamond"/>
                        <a:cs typeface="EB Garamond"/>
                        <a:sym typeface="EB Garamond"/>
                      </a:endParaRPr>
                    </a:p>
                  </a:txBody>
                  <a:tcPr marT="45725" marB="45725" marR="91450" marL="91450"/>
                </a:tc>
              </a:tr>
              <a:tr h="173875">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5</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7</a:t>
                      </a:r>
                      <a:endParaRPr sz="1200">
                        <a:solidFill>
                          <a:schemeClr val="dk2"/>
                        </a:solidFill>
                        <a:latin typeface="EB Garamond"/>
                        <a:ea typeface="EB Garamond"/>
                        <a:cs typeface="EB Garamond"/>
                        <a:sym typeface="EB Garamond"/>
                      </a:endParaRPr>
                    </a:p>
                  </a:txBody>
                  <a:tcPr marT="45725" marB="45725" marR="91450" marL="91450">
                    <a:solidFill>
                      <a:srgbClr val="AAD5D4"/>
                    </a:solidFill>
                  </a:tcPr>
                </a:tc>
              </a:tr>
              <a:tr h="273000">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n</a:t>
                      </a:r>
                      <a:endParaRPr sz="1200">
                        <a:solidFill>
                          <a:schemeClr val="dk2"/>
                        </a:solidFill>
                        <a:latin typeface="EB Garamond"/>
                        <a:ea typeface="EB Garamond"/>
                        <a:cs typeface="EB Garamond"/>
                        <a:sym typeface="EB Garamond"/>
                      </a:endParaRPr>
                    </a:p>
                  </a:txBody>
                  <a:tcPr marT="45725" marB="45725" marR="91450" marL="91450"/>
                </a:tc>
                <a:tc>
                  <a:txBody>
                    <a:bodyPr/>
                    <a:lstStyle/>
                    <a:p>
                      <a:pPr indent="0" lvl="0" marL="0" marR="0" rtl="0" algn="l">
                        <a:spcBef>
                          <a:spcPts val="0"/>
                        </a:spcBef>
                        <a:spcAft>
                          <a:spcPts val="0"/>
                        </a:spcAft>
                        <a:buNone/>
                      </a:pPr>
                      <a:r>
                        <a:rPr lang="es" sz="1200">
                          <a:solidFill>
                            <a:schemeClr val="dk2"/>
                          </a:solidFill>
                          <a:latin typeface="EB Garamond"/>
                          <a:ea typeface="EB Garamond"/>
                          <a:cs typeface="EB Garamond"/>
                          <a:sym typeface="EB Garamond"/>
                        </a:rPr>
                        <a:t>...</a:t>
                      </a:r>
                      <a:endParaRPr sz="1200">
                        <a:solidFill>
                          <a:schemeClr val="dk2"/>
                        </a:solidFill>
                        <a:latin typeface="EB Garamond"/>
                        <a:ea typeface="EB Garamond"/>
                        <a:cs typeface="EB Garamond"/>
                        <a:sym typeface="EB Garamond"/>
                      </a:endParaRPr>
                    </a:p>
                  </a:txBody>
                  <a:tcPr marT="45725" marB="45725" marR="91450" marL="91450"/>
                </a:tc>
              </a:tr>
            </a:tbl>
          </a:graphicData>
        </a:graphic>
      </p:graphicFrame>
      <p:sp>
        <p:nvSpPr>
          <p:cNvPr id="802" name="Google Shape;802;p76"/>
          <p:cNvSpPr txBox="1"/>
          <p:nvPr/>
        </p:nvSpPr>
        <p:spPr>
          <a:xfrm>
            <a:off x="4237825" y="2312300"/>
            <a:ext cx="43050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s">
                <a:solidFill>
                  <a:schemeClr val="dk2"/>
                </a:solidFill>
                <a:latin typeface="EB Garamond"/>
                <a:ea typeface="EB Garamond"/>
                <a:cs typeface="EB Garamond"/>
                <a:sym typeface="EB Garamond"/>
              </a:rPr>
              <a:t>El CENSO 2017 revela que cada 100 personas en Chile:</a:t>
            </a:r>
            <a:endParaRPr sz="1200">
              <a:solidFill>
                <a:schemeClr val="dk2"/>
              </a:solidFill>
              <a:latin typeface="EB Garamond"/>
              <a:ea typeface="EB Garamond"/>
              <a:cs typeface="EB Garamond"/>
              <a:sym typeface="EB Garamond"/>
            </a:endParaRPr>
          </a:p>
        </p:txBody>
      </p:sp>
      <p:pic>
        <p:nvPicPr>
          <p:cNvPr descr="Diagrama&#10;&#10;Descripción generada automáticamente" id="803" name="Google Shape;803;p76"/>
          <p:cNvPicPr preferRelativeResize="0"/>
          <p:nvPr/>
        </p:nvPicPr>
        <p:blipFill rotWithShape="1">
          <a:blip r:embed="rId3">
            <a:alphaModFix/>
          </a:blip>
          <a:srcRect b="0" l="0" r="0" t="0"/>
          <a:stretch/>
        </p:blipFill>
        <p:spPr>
          <a:xfrm>
            <a:off x="4845525" y="2685275"/>
            <a:ext cx="3331245" cy="19202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EB Garamond"/>
                <a:ea typeface="EB Garamond"/>
                <a:cs typeface="EB Garamond"/>
                <a:sym typeface="EB Garamond"/>
              </a:rPr>
              <a:t>¿Se puede cambiar el nivel de medición de una variable?</a:t>
            </a:r>
            <a:endParaRPr b="1">
              <a:latin typeface="EB Garamond"/>
              <a:ea typeface="EB Garamond"/>
              <a:cs typeface="EB Garamond"/>
              <a:sym typeface="EB Garamond"/>
            </a:endParaRPr>
          </a:p>
        </p:txBody>
      </p:sp>
      <p:sp>
        <p:nvSpPr>
          <p:cNvPr id="809" name="Google Shape;809;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810" name="Google Shape;810;p77"/>
          <p:cNvPicPr preferRelativeResize="0"/>
          <p:nvPr/>
        </p:nvPicPr>
        <p:blipFill rotWithShape="1">
          <a:blip r:embed="rId3">
            <a:alphaModFix/>
          </a:blip>
          <a:srcRect b="0" l="0" r="0" t="0"/>
          <a:stretch/>
        </p:blipFill>
        <p:spPr>
          <a:xfrm>
            <a:off x="793425" y="1423250"/>
            <a:ext cx="7557150" cy="2050486"/>
          </a:xfrm>
          <a:prstGeom prst="rect">
            <a:avLst/>
          </a:prstGeom>
          <a:noFill/>
          <a:ln>
            <a:noFill/>
          </a:ln>
        </p:spPr>
      </p:pic>
      <p:sp>
        <p:nvSpPr>
          <p:cNvPr id="811" name="Google Shape;811;p77"/>
          <p:cNvSpPr/>
          <p:nvPr/>
        </p:nvSpPr>
        <p:spPr>
          <a:xfrm>
            <a:off x="7362878" y="3102447"/>
            <a:ext cx="753000" cy="3708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812" name="Google Shape;812;p77"/>
          <p:cNvSpPr/>
          <p:nvPr/>
        </p:nvSpPr>
        <p:spPr>
          <a:xfrm>
            <a:off x="2317922" y="3102448"/>
            <a:ext cx="753000" cy="370800"/>
          </a:xfrm>
          <a:prstGeom prst="donut">
            <a:avLst>
              <a:gd fmla="val 5436" name="adj"/>
            </a:avLst>
          </a:prstGeom>
          <a:solidFill>
            <a:srgbClr val="156C77"/>
          </a:solidFill>
          <a:ln cap="flat" cmpd="sng" w="12700">
            <a:solidFill>
              <a:srgbClr val="156C7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813" name="Google Shape;813;p77"/>
          <p:cNvSpPr/>
          <p:nvPr/>
        </p:nvSpPr>
        <p:spPr>
          <a:xfrm>
            <a:off x="6072905" y="3093737"/>
            <a:ext cx="753000" cy="3708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814" name="Google Shape;814;p77"/>
          <p:cNvSpPr/>
          <p:nvPr/>
        </p:nvSpPr>
        <p:spPr>
          <a:xfrm>
            <a:off x="4818413" y="3093736"/>
            <a:ext cx="753000" cy="3708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815" name="Google Shape;815;p77"/>
          <p:cNvSpPr/>
          <p:nvPr/>
        </p:nvSpPr>
        <p:spPr>
          <a:xfrm>
            <a:off x="3569364" y="3093736"/>
            <a:ext cx="753000" cy="370800"/>
          </a:xfrm>
          <a:prstGeom prst="donut">
            <a:avLst>
              <a:gd fmla="val 5436" name="adj"/>
            </a:avLst>
          </a:prstGeom>
          <a:solidFill>
            <a:srgbClr val="FDBF41"/>
          </a:solidFill>
          <a:ln cap="flat" cmpd="sng" w="12700">
            <a:solidFill>
              <a:srgbClr val="FDBF4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816" name="Google Shape;816;p77"/>
          <p:cNvSpPr/>
          <p:nvPr/>
        </p:nvSpPr>
        <p:spPr>
          <a:xfrm rot="-5400000">
            <a:off x="5303546" y="1454775"/>
            <a:ext cx="129300" cy="4594200"/>
          </a:xfrm>
          <a:prstGeom prst="downArrow">
            <a:avLst>
              <a:gd fmla="val 50000" name="adj1"/>
              <a:gd fmla="val 50000" name="adj2"/>
            </a:avLst>
          </a:prstGeom>
          <a:solidFill>
            <a:srgbClr val="FF1D76"/>
          </a:solidFill>
          <a:ln cap="flat" cmpd="sng" w="12700">
            <a:solidFill>
              <a:srgbClr val="FF1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Ejercicios</a:t>
            </a:r>
            <a:endParaRPr>
              <a:latin typeface="EB Garamond"/>
              <a:ea typeface="EB Garamond"/>
              <a:cs typeface="EB Garamond"/>
              <a:sym typeface="EB Garamond"/>
            </a:endParaRPr>
          </a:p>
        </p:txBody>
      </p:sp>
      <p:sp>
        <p:nvSpPr>
          <p:cNvPr id="822" name="Google Shape;822;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graphicFrame>
        <p:nvGraphicFramePr>
          <p:cNvPr id="823" name="Google Shape;823;p78"/>
          <p:cNvGraphicFramePr/>
          <p:nvPr/>
        </p:nvGraphicFramePr>
        <p:xfrm>
          <a:off x="443593" y="1307375"/>
          <a:ext cx="3000000" cy="3000000"/>
        </p:xfrm>
        <a:graphic>
          <a:graphicData uri="http://schemas.openxmlformats.org/drawingml/2006/table">
            <a:tbl>
              <a:tblPr>
                <a:noFill/>
                <a:tableStyleId>{D811C666-C65A-4277-B8E9-2374CC1DFB90}</a:tableStyleId>
              </a:tblPr>
              <a:tblGrid>
                <a:gridCol w="3986900"/>
              </a:tblGrid>
              <a:tr h="139700">
                <a:tc>
                  <a:txBody>
                    <a:bodyPr/>
                    <a:lstStyle/>
                    <a:p>
                      <a:pPr indent="0" lvl="0" marL="0" marR="0" rtl="0" algn="ctr">
                        <a:spcBef>
                          <a:spcPts val="0"/>
                        </a:spcBef>
                        <a:spcAft>
                          <a:spcPts val="0"/>
                        </a:spcAft>
                        <a:buNone/>
                      </a:pPr>
                      <a:r>
                        <a:rPr b="1" i="0" lang="es" sz="1100" u="none" strike="noStrike">
                          <a:solidFill>
                            <a:srgbClr val="000000"/>
                          </a:solidFill>
                          <a:latin typeface="Calibri"/>
                          <a:ea typeface="Calibri"/>
                          <a:cs typeface="Calibri"/>
                          <a:sym typeface="Calibri"/>
                        </a:rPr>
                        <a:t>Atributos Originales</a:t>
                      </a:r>
                      <a:endParaRPr sz="1350"/>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39700">
                <a:tc>
                  <a:txBody>
                    <a:bodyPr/>
                    <a:lstStyle/>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1 Trabaja tiempo completo</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2 Trabaja media jornada</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3 hace trabajos ocasionales, trabaja menos que media jornada</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4 Trabaja ayudando a un miembro de su familia</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5 Está desempleado, está cesante, está buscando trabajo</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6 Está buscando trabajo por primera vez</a:t>
                      </a:r>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7 Estudiante</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8 Jubilado, retirado, pensionado, montepiado</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9 Quehaceres del hogar, dueña de casa</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10 Permanentemente Impedido/a o discapacitado/a</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11 Otros que no trabajan (por ejemplo rentista)</a:t>
                      </a:r>
                      <a:endParaRPr sz="1100">
                        <a:latin typeface="Cambria"/>
                        <a:ea typeface="Cambria"/>
                        <a:cs typeface="Cambria"/>
                        <a:sym typeface="Cambria"/>
                      </a:endParaRPr>
                    </a:p>
                    <a:p>
                      <a:pPr indent="0" lvl="0" marL="0" marR="0" rtl="0" algn="l">
                        <a:spcBef>
                          <a:spcPts val="0"/>
                        </a:spcBef>
                        <a:spcAft>
                          <a:spcPts val="0"/>
                        </a:spcAft>
                        <a:buNone/>
                      </a:pPr>
                      <a:r>
                        <a:rPr b="0" i="0" lang="es" sz="1100" u="none" strike="noStrike">
                          <a:solidFill>
                            <a:srgbClr val="000000"/>
                          </a:solidFill>
                          <a:latin typeface="Cambria"/>
                          <a:ea typeface="Cambria"/>
                          <a:cs typeface="Cambria"/>
                          <a:sym typeface="Cambria"/>
                        </a:rPr>
                        <a:t>99 No contesta</a:t>
                      </a:r>
                      <a:endParaRPr sz="1100">
                        <a:latin typeface="Cambria"/>
                        <a:ea typeface="Cambria"/>
                        <a:cs typeface="Cambria"/>
                        <a:sym typeface="Cambria"/>
                      </a:endParaRPr>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824" name="Google Shape;824;p78"/>
          <p:cNvSpPr txBox="1"/>
          <p:nvPr/>
        </p:nvSpPr>
        <p:spPr>
          <a:xfrm>
            <a:off x="4868000" y="1518714"/>
            <a:ext cx="38235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1:</a:t>
            </a:r>
            <a:r>
              <a:rPr b="1" lang="es" sz="1500">
                <a:solidFill>
                  <a:schemeClr val="dk2"/>
                </a:solidFill>
                <a:latin typeface="EB Garamond"/>
                <a:ea typeface="EB Garamond"/>
                <a:cs typeface="EB Garamond"/>
                <a:sym typeface="EB Garamond"/>
              </a:rPr>
              <a:t> </a:t>
            </a:r>
            <a:r>
              <a:rPr lang="es" sz="1500">
                <a:solidFill>
                  <a:schemeClr val="dk2"/>
                </a:solidFill>
                <a:latin typeface="EB Garamond"/>
                <a:ea typeface="EB Garamond"/>
                <a:cs typeface="EB Garamond"/>
                <a:sym typeface="EB Garamond"/>
              </a:rPr>
              <a:t>Identificar tipo de variable y nivel de medición.</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2:</a:t>
            </a:r>
            <a:r>
              <a:rPr b="1" lang="es" sz="1500">
                <a:solidFill>
                  <a:schemeClr val="dk2"/>
                </a:solidFill>
                <a:latin typeface="EB Garamond"/>
                <a:ea typeface="EB Garamond"/>
                <a:cs typeface="EB Garamond"/>
                <a:sym typeface="EB Garamond"/>
              </a:rPr>
              <a:t> </a:t>
            </a:r>
            <a:r>
              <a:rPr lang="es" sz="1500">
                <a:solidFill>
                  <a:schemeClr val="dk2"/>
                </a:solidFill>
                <a:latin typeface="EB Garamond"/>
                <a:ea typeface="EB Garamond"/>
                <a:cs typeface="EB Garamond"/>
                <a:sym typeface="EB Garamond"/>
              </a:rPr>
              <a:t>Identificar a qué niveles de medición puedo transformar mi variable.</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3:</a:t>
            </a:r>
            <a:r>
              <a:rPr lang="es" sz="1500">
                <a:solidFill>
                  <a:schemeClr val="dk2"/>
                </a:solidFill>
                <a:latin typeface="EB Garamond"/>
                <a:ea typeface="EB Garamond"/>
                <a:cs typeface="EB Garamond"/>
                <a:sym typeface="EB Garamond"/>
              </a:rPr>
              <a:t> Proponer una recodificación para cada posible nuevo nivel de medición</a:t>
            </a:r>
            <a:endParaRPr sz="1500">
              <a:solidFill>
                <a:schemeClr val="dk2"/>
              </a:solidFill>
              <a:latin typeface="EB Garamond"/>
              <a:ea typeface="EB Garamond"/>
              <a:cs typeface="EB Garamond"/>
              <a:sym typeface="EB Garamon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Ejercicios</a:t>
            </a:r>
            <a:endParaRPr>
              <a:latin typeface="EB Garamond"/>
              <a:ea typeface="EB Garamond"/>
              <a:cs typeface="EB Garamond"/>
              <a:sym typeface="EB Garamond"/>
            </a:endParaRPr>
          </a:p>
        </p:txBody>
      </p:sp>
      <p:sp>
        <p:nvSpPr>
          <p:cNvPr id="830" name="Google Shape;830;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831" name="Google Shape;831;p79"/>
          <p:cNvSpPr txBox="1"/>
          <p:nvPr/>
        </p:nvSpPr>
        <p:spPr>
          <a:xfrm>
            <a:off x="4868000" y="1518714"/>
            <a:ext cx="38235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1:</a:t>
            </a:r>
            <a:r>
              <a:rPr b="1" lang="es" sz="1500">
                <a:solidFill>
                  <a:schemeClr val="dk2"/>
                </a:solidFill>
                <a:latin typeface="EB Garamond"/>
                <a:ea typeface="EB Garamond"/>
                <a:cs typeface="EB Garamond"/>
                <a:sym typeface="EB Garamond"/>
              </a:rPr>
              <a:t> </a:t>
            </a:r>
            <a:r>
              <a:rPr lang="es" sz="1500">
                <a:solidFill>
                  <a:schemeClr val="dk2"/>
                </a:solidFill>
                <a:latin typeface="EB Garamond"/>
                <a:ea typeface="EB Garamond"/>
                <a:cs typeface="EB Garamond"/>
                <a:sym typeface="EB Garamond"/>
              </a:rPr>
              <a:t>Identificar tipo de variable y nivel de medición.</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2:</a:t>
            </a:r>
            <a:r>
              <a:rPr b="1" lang="es" sz="1500">
                <a:solidFill>
                  <a:schemeClr val="dk2"/>
                </a:solidFill>
                <a:latin typeface="EB Garamond"/>
                <a:ea typeface="EB Garamond"/>
                <a:cs typeface="EB Garamond"/>
                <a:sym typeface="EB Garamond"/>
              </a:rPr>
              <a:t> </a:t>
            </a:r>
            <a:r>
              <a:rPr lang="es" sz="1500">
                <a:solidFill>
                  <a:schemeClr val="dk2"/>
                </a:solidFill>
                <a:latin typeface="EB Garamond"/>
                <a:ea typeface="EB Garamond"/>
                <a:cs typeface="EB Garamond"/>
                <a:sym typeface="EB Garamond"/>
              </a:rPr>
              <a:t>Identificar a qué niveles de medición puedo transformar mi variable.</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3:</a:t>
            </a:r>
            <a:r>
              <a:rPr lang="es" sz="1500">
                <a:solidFill>
                  <a:schemeClr val="dk2"/>
                </a:solidFill>
                <a:latin typeface="EB Garamond"/>
                <a:ea typeface="EB Garamond"/>
                <a:cs typeface="EB Garamond"/>
                <a:sym typeface="EB Garamond"/>
              </a:rPr>
              <a:t> Proponer una recodificación para cada posible nuevo nivel de medición</a:t>
            </a:r>
            <a:endParaRPr sz="1500">
              <a:solidFill>
                <a:schemeClr val="dk2"/>
              </a:solidFill>
              <a:latin typeface="EB Garamond"/>
              <a:ea typeface="EB Garamond"/>
              <a:cs typeface="EB Garamond"/>
              <a:sym typeface="EB Garamond"/>
            </a:endParaRPr>
          </a:p>
        </p:txBody>
      </p:sp>
      <p:sp>
        <p:nvSpPr>
          <p:cNvPr id="832" name="Google Shape;832;p79"/>
          <p:cNvSpPr txBox="1"/>
          <p:nvPr/>
        </p:nvSpPr>
        <p:spPr>
          <a:xfrm>
            <a:off x="271506" y="1852550"/>
            <a:ext cx="39591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 sz="1800">
                <a:solidFill>
                  <a:schemeClr val="dk2"/>
                </a:solidFill>
                <a:latin typeface="EB Garamond"/>
                <a:ea typeface="EB Garamond"/>
                <a:cs typeface="EB Garamond"/>
                <a:sym typeface="EB Garamond"/>
              </a:rPr>
              <a:t>P97. Por favor tomarse la temperatura corporal y luego responda </a:t>
            </a:r>
            <a:r>
              <a:rPr i="1" lang="es" sz="1800">
                <a:solidFill>
                  <a:schemeClr val="dk2"/>
                </a:solidFill>
                <a:latin typeface="EB Garamond"/>
                <a:ea typeface="EB Garamond"/>
                <a:cs typeface="EB Garamond"/>
                <a:sym typeface="EB Garamond"/>
              </a:rPr>
              <a:t>¿Qué temperatura corporal tiene?</a:t>
            </a:r>
            <a:r>
              <a:rPr lang="es" sz="1800">
                <a:solidFill>
                  <a:schemeClr val="dk2"/>
                </a:solidFill>
                <a:latin typeface="EB Garamond"/>
                <a:ea typeface="EB Garamond"/>
                <a:cs typeface="EB Garamond"/>
                <a:sym typeface="EB Garamond"/>
              </a:rPr>
              <a:t> =______</a:t>
            </a:r>
            <a:endParaRPr>
              <a:solidFill>
                <a:schemeClr val="dk2"/>
              </a:solidFill>
              <a:latin typeface="EB Garamond"/>
              <a:ea typeface="EB Garamond"/>
              <a:cs typeface="EB Garamond"/>
              <a:sym typeface="EB Garamon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EB Garamond"/>
                <a:ea typeface="EB Garamond"/>
                <a:cs typeface="EB Garamond"/>
                <a:sym typeface="EB Garamond"/>
              </a:rPr>
              <a:t>Ejercicios</a:t>
            </a:r>
            <a:endParaRPr>
              <a:latin typeface="EB Garamond"/>
              <a:ea typeface="EB Garamond"/>
              <a:cs typeface="EB Garamond"/>
              <a:sym typeface="EB Garamond"/>
            </a:endParaRPr>
          </a:p>
        </p:txBody>
      </p:sp>
      <p:sp>
        <p:nvSpPr>
          <p:cNvPr id="838" name="Google Shape;838;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839" name="Google Shape;839;p80"/>
          <p:cNvSpPr txBox="1"/>
          <p:nvPr/>
        </p:nvSpPr>
        <p:spPr>
          <a:xfrm>
            <a:off x="4868000" y="1518714"/>
            <a:ext cx="38235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1:</a:t>
            </a:r>
            <a:r>
              <a:rPr b="1" lang="es" sz="1500">
                <a:solidFill>
                  <a:schemeClr val="dk2"/>
                </a:solidFill>
                <a:latin typeface="EB Garamond"/>
                <a:ea typeface="EB Garamond"/>
                <a:cs typeface="EB Garamond"/>
                <a:sym typeface="EB Garamond"/>
              </a:rPr>
              <a:t> </a:t>
            </a:r>
            <a:r>
              <a:rPr lang="es" sz="1500">
                <a:solidFill>
                  <a:schemeClr val="dk2"/>
                </a:solidFill>
                <a:latin typeface="EB Garamond"/>
                <a:ea typeface="EB Garamond"/>
                <a:cs typeface="EB Garamond"/>
                <a:sym typeface="EB Garamond"/>
              </a:rPr>
              <a:t>Identificar tipo de variable y nivel de medición.</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2:</a:t>
            </a:r>
            <a:r>
              <a:rPr b="1" lang="es" sz="1500">
                <a:solidFill>
                  <a:schemeClr val="dk2"/>
                </a:solidFill>
                <a:latin typeface="EB Garamond"/>
                <a:ea typeface="EB Garamond"/>
                <a:cs typeface="EB Garamond"/>
                <a:sym typeface="EB Garamond"/>
              </a:rPr>
              <a:t> </a:t>
            </a:r>
            <a:r>
              <a:rPr lang="es" sz="1500">
                <a:solidFill>
                  <a:schemeClr val="dk2"/>
                </a:solidFill>
                <a:latin typeface="EB Garamond"/>
                <a:ea typeface="EB Garamond"/>
                <a:cs typeface="EB Garamond"/>
                <a:sym typeface="EB Garamond"/>
              </a:rPr>
              <a:t>Identificar a qué niveles de medición puedo transformar mi variable.</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t/>
            </a:r>
            <a:endParaRPr sz="1500">
              <a:solidFill>
                <a:schemeClr val="dk2"/>
              </a:solidFill>
              <a:latin typeface="EB Garamond"/>
              <a:ea typeface="EB Garamond"/>
              <a:cs typeface="EB Garamond"/>
              <a:sym typeface="EB Garamond"/>
            </a:endParaRPr>
          </a:p>
          <a:p>
            <a:pPr indent="0" lvl="0" marL="0" marR="0" rtl="0" algn="l">
              <a:spcBef>
                <a:spcPts val="0"/>
              </a:spcBef>
              <a:spcAft>
                <a:spcPts val="0"/>
              </a:spcAft>
              <a:buNone/>
            </a:pPr>
            <a:r>
              <a:rPr b="1" lang="es" sz="1500">
                <a:solidFill>
                  <a:schemeClr val="dk2"/>
                </a:solidFill>
                <a:highlight>
                  <a:srgbClr val="FDBF41"/>
                </a:highlight>
                <a:latin typeface="EB Garamond"/>
                <a:ea typeface="EB Garamond"/>
                <a:cs typeface="EB Garamond"/>
                <a:sym typeface="EB Garamond"/>
              </a:rPr>
              <a:t>Paso 3:</a:t>
            </a:r>
            <a:r>
              <a:rPr lang="es" sz="1500">
                <a:solidFill>
                  <a:schemeClr val="dk2"/>
                </a:solidFill>
                <a:latin typeface="EB Garamond"/>
                <a:ea typeface="EB Garamond"/>
                <a:cs typeface="EB Garamond"/>
                <a:sym typeface="EB Garamond"/>
              </a:rPr>
              <a:t> Proponer una recodificación para cada posible nuevo nivel de medición</a:t>
            </a:r>
            <a:endParaRPr sz="1500">
              <a:solidFill>
                <a:schemeClr val="dk2"/>
              </a:solidFill>
              <a:latin typeface="EB Garamond"/>
              <a:ea typeface="EB Garamond"/>
              <a:cs typeface="EB Garamond"/>
              <a:sym typeface="EB Garamond"/>
            </a:endParaRPr>
          </a:p>
        </p:txBody>
      </p:sp>
      <p:graphicFrame>
        <p:nvGraphicFramePr>
          <p:cNvPr id="840" name="Google Shape;840;p80"/>
          <p:cNvGraphicFramePr/>
          <p:nvPr/>
        </p:nvGraphicFramePr>
        <p:xfrm>
          <a:off x="616651" y="1311719"/>
          <a:ext cx="3000000" cy="3000000"/>
        </p:xfrm>
        <a:graphic>
          <a:graphicData uri="http://schemas.openxmlformats.org/drawingml/2006/table">
            <a:tbl>
              <a:tblPr>
                <a:noFill/>
                <a:tableStyleId>{D811C666-C65A-4277-B8E9-2374CC1DFB90}</a:tableStyleId>
              </a:tblPr>
              <a:tblGrid>
                <a:gridCol w="1883500"/>
                <a:gridCol w="889425"/>
                <a:gridCol w="889425"/>
              </a:tblGrid>
              <a:tr h="0">
                <a:tc gridSpan="3">
                  <a:txBody>
                    <a:bodyPr/>
                    <a:lstStyle/>
                    <a:p>
                      <a:pPr indent="0" lvl="0" marL="0" marR="0" rtl="0" algn="l">
                        <a:spcBef>
                          <a:spcPts val="0"/>
                        </a:spcBef>
                        <a:spcAft>
                          <a:spcPts val="0"/>
                        </a:spcAft>
                        <a:buNone/>
                      </a:pPr>
                      <a:r>
                        <a:t/>
                      </a:r>
                      <a:endParaRPr sz="1350"/>
                    </a:p>
                  </a:txBody>
                  <a:tcPr marT="45725" marB="45725" marR="91450" marL="91450">
                    <a:lnL cap="flat" cmpd="sng" w="9525">
                      <a:solidFill>
                        <a:srgbClr val="000000">
                          <a:alpha val="0"/>
                        </a:srgbClr>
                      </a:solidFill>
                      <a:prstDash val="solid"/>
                      <a:round/>
                      <a:headEnd len="sm" w="sm" type="none"/>
                      <a:tailEnd len="sm" w="sm" type="none"/>
                    </a:lnL>
                    <a:lnB cap="flat" cmpd="sng" w="9525">
                      <a:solidFill>
                        <a:srgbClr val="000000">
                          <a:alpha val="0"/>
                        </a:srgbClr>
                      </a:solidFill>
                      <a:prstDash val="solid"/>
                      <a:round/>
                      <a:headEnd len="sm" w="sm" type="none"/>
                      <a:tailEnd len="sm" w="sm" type="none"/>
                    </a:lnB>
                  </a:tcPr>
                </a:tc>
                <a:tc hMerge="1"/>
                <a:tc hMerge="1"/>
              </a:tr>
              <a:tr h="152400">
                <a:tc>
                  <a:txBody>
                    <a:bodyPr/>
                    <a:lstStyle/>
                    <a:p>
                      <a:pPr indent="0" lvl="0" marL="0" marR="0" rtl="0" algn="l">
                        <a:lnSpc>
                          <a:spcPct val="100000"/>
                        </a:lnSpc>
                        <a:spcBef>
                          <a:spcPts val="0"/>
                        </a:spcBef>
                        <a:spcAft>
                          <a:spcPts val="0"/>
                        </a:spcAft>
                        <a:buClr>
                          <a:srgbClr val="000000"/>
                        </a:buClr>
                        <a:buSzPts val="1200"/>
                        <a:buFont typeface="Cambria"/>
                        <a:buNone/>
                      </a:pPr>
                      <a:r>
                        <a:rPr b="1" i="0" lang="es" sz="1200" u="none" strike="noStrike">
                          <a:solidFill>
                            <a:srgbClr val="000000"/>
                          </a:solidFill>
                          <a:latin typeface="Cambria"/>
                          <a:ea typeface="Cambria"/>
                          <a:cs typeface="Cambria"/>
                          <a:sym typeface="Cambria"/>
                        </a:rPr>
                        <a:t>Tabla 5: ¿Qué tan asustado se siente Ud.?</a:t>
                      </a:r>
                      <a:endParaRPr sz="1200">
                        <a:latin typeface="Cambria"/>
                        <a:ea typeface="Cambria"/>
                        <a:cs typeface="Cambria"/>
                        <a:sym typeface="Cambria"/>
                      </a:endParaRPr>
                    </a:p>
                  </a:txBody>
                  <a:tcPr marT="45725" marB="45725" marR="91450" marL="91450">
                    <a:lnL cap="flat" cmpd="sng" w="25400">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38100" marR="38100" rtl="0" algn="ctr">
                        <a:spcBef>
                          <a:spcPts val="0"/>
                        </a:spcBef>
                        <a:spcAft>
                          <a:spcPts val="0"/>
                        </a:spcAft>
                        <a:buNone/>
                      </a:pPr>
                      <a:r>
                        <a:rPr b="0" i="0" lang="es" sz="1050" u="none" strike="noStrike">
                          <a:solidFill>
                            <a:srgbClr val="000000"/>
                          </a:solidFill>
                          <a:latin typeface="Cambria"/>
                          <a:ea typeface="Cambria"/>
                          <a:cs typeface="Cambria"/>
                          <a:sym typeface="Cambria"/>
                        </a:rPr>
                        <a:t>Frecuencia (n)</a:t>
                      </a:r>
                      <a:endParaRPr sz="1200">
                        <a:latin typeface="Cambria"/>
                        <a:ea typeface="Cambria"/>
                        <a:cs typeface="Cambria"/>
                        <a:sym typeface="Cambria"/>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ctr">
                        <a:spcBef>
                          <a:spcPts val="0"/>
                        </a:spcBef>
                        <a:spcAft>
                          <a:spcPts val="0"/>
                        </a:spcAft>
                        <a:buNone/>
                      </a:pPr>
                      <a:r>
                        <a:rPr b="0" i="0" lang="es" sz="1050" u="none" strike="noStrike">
                          <a:solidFill>
                            <a:srgbClr val="000000"/>
                          </a:solidFill>
                          <a:latin typeface="Cambria"/>
                          <a:ea typeface="Cambria"/>
                          <a:cs typeface="Cambria"/>
                          <a:sym typeface="Cambria"/>
                        </a:rPr>
                        <a:t>Porcentaje (%)</a:t>
                      </a:r>
                      <a:endParaRPr sz="1200">
                        <a:latin typeface="Cambria"/>
                        <a:ea typeface="Cambria"/>
                        <a:cs typeface="Cambria"/>
                        <a:sym typeface="Cambria"/>
                      </a:endParaRPr>
                    </a:p>
                  </a:txBody>
                  <a:tcPr marT="45725" marB="45725" marR="91450" marL="91450">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solidFill>
                      <a:srgbClr val="FFFFFF"/>
                    </a:solidFill>
                  </a:tcPr>
                </a:tc>
              </a:tr>
              <a:tr h="133350">
                <a:tc>
                  <a:txBody>
                    <a:bodyPr/>
                    <a:lstStyle/>
                    <a:p>
                      <a:pPr indent="0" lvl="0" marL="38100" marR="38100" rtl="0" algn="l">
                        <a:spcBef>
                          <a:spcPts val="0"/>
                        </a:spcBef>
                        <a:spcAft>
                          <a:spcPts val="0"/>
                        </a:spcAft>
                        <a:buNone/>
                      </a:pPr>
                      <a:r>
                        <a:rPr b="0" i="0" lang="es" sz="1050" u="none" strike="noStrike">
                          <a:solidFill>
                            <a:srgbClr val="000000"/>
                          </a:solidFill>
                          <a:latin typeface="Cambria"/>
                          <a:ea typeface="Cambria"/>
                          <a:cs typeface="Cambria"/>
                          <a:sym typeface="Cambria"/>
                        </a:rPr>
                        <a:t>Muy asustado</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254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207</a:t>
                      </a:r>
                      <a:endParaRPr sz="1200">
                        <a:latin typeface="Cambria"/>
                        <a:ea typeface="Cambria"/>
                        <a:cs typeface="Cambria"/>
                        <a:sym typeface="Cambria"/>
                      </a:endParaRPr>
                    </a:p>
                  </a:txBody>
                  <a:tcPr marT="45725" marB="45725" marR="91450" marL="91450" anchor="ctr">
                    <a:lnL cap="flat" cmpd="sng" w="254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13.2</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25400">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33350">
                <a:tc>
                  <a:txBody>
                    <a:bodyPr/>
                    <a:lstStyle/>
                    <a:p>
                      <a:pPr indent="0" lvl="0" marL="38100" marR="38100" rtl="0" algn="l">
                        <a:spcBef>
                          <a:spcPts val="0"/>
                        </a:spcBef>
                        <a:spcAft>
                          <a:spcPts val="0"/>
                        </a:spcAft>
                        <a:buNone/>
                      </a:pPr>
                      <a:r>
                        <a:rPr b="0" i="0" lang="es" sz="1050" u="none" strike="noStrike">
                          <a:solidFill>
                            <a:srgbClr val="000000"/>
                          </a:solidFill>
                          <a:latin typeface="Cambria"/>
                          <a:ea typeface="Cambria"/>
                          <a:cs typeface="Cambria"/>
                          <a:sym typeface="Cambria"/>
                        </a:rPr>
                        <a:t>Bastante asustado</a:t>
                      </a:r>
                      <a:endParaRPr sz="1200">
                        <a:latin typeface="Cambria"/>
                        <a:ea typeface="Cambria"/>
                        <a:cs typeface="Cambria"/>
                        <a:sym typeface="Cambria"/>
                      </a:endParaRPr>
                    </a:p>
                  </a:txBody>
                  <a:tcPr marT="45725" marB="45725" marR="91450" marL="91450" anchor="ctr">
                    <a:lnL cap="flat" cmpd="sng" w="9525">
                      <a:solidFill>
                        <a:srgbClr val="000000">
                          <a:alpha val="0"/>
                        </a:srgbClr>
                      </a:solidFill>
                      <a:prstDash val="solid"/>
                      <a:round/>
                      <a:headEnd len="sm" w="sm" type="none"/>
                      <a:tailEnd len="sm" w="sm" type="none"/>
                    </a:lnL>
                    <a:lnR cap="flat" cmpd="sng" w="254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232</a:t>
                      </a:r>
                      <a:endParaRPr sz="1200">
                        <a:latin typeface="Cambria"/>
                        <a:ea typeface="Cambria"/>
                        <a:cs typeface="Cambria"/>
                        <a:sym typeface="Cambria"/>
                      </a:endParaRPr>
                    </a:p>
                  </a:txBody>
                  <a:tcPr marT="45725" marB="45725" marR="91450" marL="91450" anchor="ctr">
                    <a:lnL cap="flat" cmpd="sng" w="254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14.9</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33350">
                <a:tc>
                  <a:txBody>
                    <a:bodyPr/>
                    <a:lstStyle/>
                    <a:p>
                      <a:pPr indent="0" lvl="0" marL="38100" marR="38100" rtl="0" algn="l">
                        <a:spcBef>
                          <a:spcPts val="0"/>
                        </a:spcBef>
                        <a:spcAft>
                          <a:spcPts val="0"/>
                        </a:spcAft>
                        <a:buNone/>
                      </a:pPr>
                      <a:r>
                        <a:rPr b="0" i="0" lang="es" sz="1050" u="none" strike="noStrike">
                          <a:solidFill>
                            <a:srgbClr val="000000"/>
                          </a:solidFill>
                          <a:latin typeface="Cambria"/>
                          <a:ea typeface="Cambria"/>
                          <a:cs typeface="Cambria"/>
                          <a:sym typeface="Cambria"/>
                        </a:rPr>
                        <a:t>Moderadamente asustado</a:t>
                      </a:r>
                      <a:endParaRPr sz="1200">
                        <a:latin typeface="Cambria"/>
                        <a:ea typeface="Cambria"/>
                        <a:cs typeface="Cambria"/>
                        <a:sym typeface="Cambria"/>
                      </a:endParaRPr>
                    </a:p>
                  </a:txBody>
                  <a:tcPr marT="45725" marB="45725" marR="91450" marL="91450" anchor="ctr">
                    <a:lnL cap="flat" cmpd="sng" w="9525">
                      <a:solidFill>
                        <a:srgbClr val="000000">
                          <a:alpha val="0"/>
                        </a:srgbClr>
                      </a:solidFill>
                      <a:prstDash val="solid"/>
                      <a:round/>
                      <a:headEnd len="sm" w="sm" type="none"/>
                      <a:tailEnd len="sm" w="sm" type="none"/>
                    </a:lnL>
                    <a:lnR cap="flat" cmpd="sng" w="254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391</a:t>
                      </a:r>
                      <a:endParaRPr sz="1200">
                        <a:latin typeface="Cambria"/>
                        <a:ea typeface="Cambria"/>
                        <a:cs typeface="Cambria"/>
                        <a:sym typeface="Cambria"/>
                      </a:endParaRPr>
                    </a:p>
                  </a:txBody>
                  <a:tcPr marT="45725" marB="45725" marR="91450" marL="91450" anchor="ctr">
                    <a:lnL cap="flat" cmpd="sng" w="254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25.1</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33350">
                <a:tc>
                  <a:txBody>
                    <a:bodyPr/>
                    <a:lstStyle/>
                    <a:p>
                      <a:pPr indent="0" lvl="0" marL="38100" marR="38100" rtl="0" algn="l">
                        <a:spcBef>
                          <a:spcPts val="0"/>
                        </a:spcBef>
                        <a:spcAft>
                          <a:spcPts val="0"/>
                        </a:spcAft>
                        <a:buNone/>
                      </a:pPr>
                      <a:r>
                        <a:rPr b="0" i="0" lang="es" sz="1050" u="none" strike="noStrike">
                          <a:solidFill>
                            <a:srgbClr val="000000"/>
                          </a:solidFill>
                          <a:latin typeface="Cambria"/>
                          <a:ea typeface="Cambria"/>
                          <a:cs typeface="Cambria"/>
                          <a:sym typeface="Cambria"/>
                        </a:rPr>
                        <a:t>Un poco asustado</a:t>
                      </a:r>
                      <a:endParaRPr sz="1200">
                        <a:latin typeface="Cambria"/>
                        <a:ea typeface="Cambria"/>
                        <a:cs typeface="Cambria"/>
                        <a:sym typeface="Cambria"/>
                      </a:endParaRPr>
                    </a:p>
                  </a:txBody>
                  <a:tcPr marT="45725" marB="45725" marR="91450" marL="91450" anchor="ctr">
                    <a:lnL cap="flat" cmpd="sng" w="9525">
                      <a:solidFill>
                        <a:srgbClr val="000000">
                          <a:alpha val="0"/>
                        </a:srgbClr>
                      </a:solidFill>
                      <a:prstDash val="solid"/>
                      <a:round/>
                      <a:headEnd len="sm" w="sm" type="none"/>
                      <a:tailEnd len="sm" w="sm" type="none"/>
                    </a:lnL>
                    <a:lnR cap="flat" cmpd="sng" w="254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364</a:t>
                      </a:r>
                      <a:endParaRPr sz="1200">
                        <a:latin typeface="Cambria"/>
                        <a:ea typeface="Cambria"/>
                        <a:cs typeface="Cambria"/>
                        <a:sym typeface="Cambria"/>
                      </a:endParaRPr>
                    </a:p>
                  </a:txBody>
                  <a:tcPr marT="45725" marB="45725" marR="91450" marL="91450" anchor="ctr">
                    <a:lnL cap="flat" cmpd="sng" w="254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23.4</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33350">
                <a:tc>
                  <a:txBody>
                    <a:bodyPr/>
                    <a:lstStyle/>
                    <a:p>
                      <a:pPr indent="0" lvl="0" marL="38100" marR="38100" rtl="0" algn="l">
                        <a:spcBef>
                          <a:spcPts val="0"/>
                        </a:spcBef>
                        <a:spcAft>
                          <a:spcPts val="0"/>
                        </a:spcAft>
                        <a:buNone/>
                      </a:pPr>
                      <a:r>
                        <a:rPr b="0" i="0" lang="es" sz="1050" u="none" strike="noStrike">
                          <a:solidFill>
                            <a:srgbClr val="000000"/>
                          </a:solidFill>
                          <a:latin typeface="Cambria"/>
                          <a:ea typeface="Cambria"/>
                          <a:cs typeface="Cambria"/>
                          <a:sym typeface="Cambria"/>
                        </a:rPr>
                        <a:t>Nada asustado</a:t>
                      </a:r>
                      <a:endParaRPr sz="1200">
                        <a:latin typeface="Cambria"/>
                        <a:ea typeface="Cambria"/>
                        <a:cs typeface="Cambria"/>
                        <a:sym typeface="Cambria"/>
                      </a:endParaRPr>
                    </a:p>
                  </a:txBody>
                  <a:tcPr marT="45725" marB="45725" marR="91450" marL="91450" anchor="ctr">
                    <a:lnL cap="flat" cmpd="sng" w="9525">
                      <a:solidFill>
                        <a:srgbClr val="000000">
                          <a:alpha val="0"/>
                        </a:srgbClr>
                      </a:solidFill>
                      <a:prstDash val="solid"/>
                      <a:round/>
                      <a:headEnd len="sm" w="sm" type="none"/>
                      <a:tailEnd len="sm" w="sm" type="none"/>
                    </a:lnL>
                    <a:lnR cap="flat" cmpd="sng" w="254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347</a:t>
                      </a:r>
                      <a:endParaRPr sz="1200">
                        <a:latin typeface="Cambria"/>
                        <a:ea typeface="Cambria"/>
                        <a:cs typeface="Cambria"/>
                        <a:sym typeface="Cambria"/>
                      </a:endParaRPr>
                    </a:p>
                  </a:txBody>
                  <a:tcPr marT="45725" marB="45725" marR="91450" marL="91450" anchor="ctr">
                    <a:lnL cap="flat" cmpd="sng" w="254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22.3</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33350">
                <a:tc>
                  <a:txBody>
                    <a:bodyPr/>
                    <a:lstStyle/>
                    <a:p>
                      <a:pPr indent="0" lvl="0" marL="38100" marR="38100" rtl="0" algn="l">
                        <a:spcBef>
                          <a:spcPts val="0"/>
                        </a:spcBef>
                        <a:spcAft>
                          <a:spcPts val="0"/>
                        </a:spcAft>
                        <a:buNone/>
                      </a:pPr>
                      <a:r>
                        <a:rPr b="0" i="0" lang="es" sz="1050" u="none" strike="noStrike">
                          <a:solidFill>
                            <a:srgbClr val="000000"/>
                          </a:solidFill>
                          <a:latin typeface="Cambria"/>
                          <a:ea typeface="Cambria"/>
                          <a:cs typeface="Cambria"/>
                          <a:sym typeface="Cambria"/>
                        </a:rPr>
                        <a:t>No sabe</a:t>
                      </a:r>
                      <a:endParaRPr sz="1200">
                        <a:latin typeface="Cambria"/>
                        <a:ea typeface="Cambria"/>
                        <a:cs typeface="Cambria"/>
                        <a:sym typeface="Cambria"/>
                      </a:endParaRPr>
                    </a:p>
                  </a:txBody>
                  <a:tcPr marT="45725" marB="45725" marR="91450" marL="91450" anchor="ctr">
                    <a:lnL cap="flat" cmpd="sng" w="9525">
                      <a:solidFill>
                        <a:srgbClr val="000000">
                          <a:alpha val="0"/>
                        </a:srgbClr>
                      </a:solidFill>
                      <a:prstDash val="solid"/>
                      <a:round/>
                      <a:headEnd len="sm" w="sm" type="none"/>
                      <a:tailEnd len="sm" w="sm" type="none"/>
                    </a:lnL>
                    <a:lnR cap="flat" cmpd="sng" w="254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14</a:t>
                      </a:r>
                      <a:endParaRPr sz="1200">
                        <a:latin typeface="Cambria"/>
                        <a:ea typeface="Cambria"/>
                        <a:cs typeface="Cambria"/>
                        <a:sym typeface="Cambria"/>
                      </a:endParaRPr>
                    </a:p>
                  </a:txBody>
                  <a:tcPr marT="45725" marB="45725" marR="91450" marL="91450" anchor="ctr">
                    <a:lnL cap="flat" cmpd="sng" w="254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.9</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33350">
                <a:tc>
                  <a:txBody>
                    <a:bodyPr/>
                    <a:lstStyle/>
                    <a:p>
                      <a:pPr indent="0" lvl="0" marL="38100" marR="38100" rtl="0" algn="l">
                        <a:spcBef>
                          <a:spcPts val="0"/>
                        </a:spcBef>
                        <a:spcAft>
                          <a:spcPts val="0"/>
                        </a:spcAft>
                        <a:buNone/>
                      </a:pPr>
                      <a:r>
                        <a:rPr b="0" i="0" lang="es" sz="1050" u="none" strike="noStrike">
                          <a:solidFill>
                            <a:srgbClr val="000000"/>
                          </a:solidFill>
                          <a:latin typeface="Cambria"/>
                          <a:ea typeface="Cambria"/>
                          <a:cs typeface="Cambria"/>
                          <a:sym typeface="Cambria"/>
                        </a:rPr>
                        <a:t>No contesta</a:t>
                      </a:r>
                      <a:endParaRPr sz="1200">
                        <a:latin typeface="Cambria"/>
                        <a:ea typeface="Cambria"/>
                        <a:cs typeface="Cambria"/>
                        <a:sym typeface="Cambria"/>
                      </a:endParaRPr>
                    </a:p>
                  </a:txBody>
                  <a:tcPr marT="45725" marB="45725" marR="91450" marL="91450" anchor="ctr">
                    <a:lnL cap="flat" cmpd="sng" w="9525">
                      <a:solidFill>
                        <a:srgbClr val="000000">
                          <a:alpha val="0"/>
                        </a:srgbClr>
                      </a:solidFill>
                      <a:prstDash val="solid"/>
                      <a:round/>
                      <a:headEnd len="sm" w="sm" type="none"/>
                      <a:tailEnd len="sm" w="sm" type="none"/>
                    </a:lnL>
                    <a:lnR cap="flat" cmpd="sng" w="254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3</a:t>
                      </a:r>
                      <a:endParaRPr sz="1200">
                        <a:latin typeface="Cambria"/>
                        <a:ea typeface="Cambria"/>
                        <a:cs typeface="Cambria"/>
                        <a:sym typeface="Cambria"/>
                      </a:endParaRPr>
                    </a:p>
                  </a:txBody>
                  <a:tcPr marT="45725" marB="45725" marR="91450" marL="91450" anchor="ctr">
                    <a:lnL cap="flat" cmpd="sng" w="254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.2</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133350">
                <a:tc>
                  <a:txBody>
                    <a:bodyPr/>
                    <a:lstStyle/>
                    <a:p>
                      <a:pPr indent="0" lvl="0" marL="38100" marR="38100" rtl="0" algn="l">
                        <a:spcBef>
                          <a:spcPts val="0"/>
                        </a:spcBef>
                        <a:spcAft>
                          <a:spcPts val="0"/>
                        </a:spcAft>
                        <a:buNone/>
                      </a:pPr>
                      <a:r>
                        <a:rPr b="0" i="0" lang="es" sz="1050" u="none" strike="noStrike">
                          <a:solidFill>
                            <a:srgbClr val="000000"/>
                          </a:solidFill>
                          <a:latin typeface="Cambria"/>
                          <a:ea typeface="Cambria"/>
                          <a:cs typeface="Cambria"/>
                          <a:sym typeface="Cambria"/>
                        </a:rPr>
                        <a:t>Total</a:t>
                      </a:r>
                      <a:endParaRPr sz="1200">
                        <a:latin typeface="Cambria"/>
                        <a:ea typeface="Cambria"/>
                        <a:cs typeface="Cambria"/>
                        <a:sym typeface="Cambria"/>
                      </a:endParaRPr>
                    </a:p>
                  </a:txBody>
                  <a:tcPr marT="45725" marB="45725" marR="91450" marL="91450" anchor="ctr">
                    <a:lnL cap="flat" cmpd="sng" w="9525">
                      <a:solidFill>
                        <a:srgbClr val="000000">
                          <a:alpha val="0"/>
                        </a:srgbClr>
                      </a:solidFill>
                      <a:prstDash val="solid"/>
                      <a:round/>
                      <a:headEnd len="sm" w="sm" type="none"/>
                      <a:tailEnd len="sm" w="sm" type="none"/>
                    </a:lnL>
                    <a:lnR cap="flat" cmpd="sng" w="254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1559</a:t>
                      </a:r>
                      <a:endParaRPr sz="1200">
                        <a:latin typeface="Cambria"/>
                        <a:ea typeface="Cambria"/>
                        <a:cs typeface="Cambria"/>
                        <a:sym typeface="Cambria"/>
                      </a:endParaRPr>
                    </a:p>
                  </a:txBody>
                  <a:tcPr marT="45725" marB="45725" marR="91450" marL="91450" anchor="ctr">
                    <a:lnL cap="flat" cmpd="sng" w="254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solidFill>
                      <a:srgbClr val="FFFFFF"/>
                    </a:solidFill>
                  </a:tcPr>
                </a:tc>
                <a:tc>
                  <a:txBody>
                    <a:bodyPr/>
                    <a:lstStyle/>
                    <a:p>
                      <a:pPr indent="0" lvl="0" marL="38100" marR="38100" rtl="0" algn="r">
                        <a:spcBef>
                          <a:spcPts val="0"/>
                        </a:spcBef>
                        <a:spcAft>
                          <a:spcPts val="0"/>
                        </a:spcAft>
                        <a:buNone/>
                      </a:pPr>
                      <a:r>
                        <a:rPr b="0" i="0" lang="es" sz="1050" u="none" strike="noStrike">
                          <a:solidFill>
                            <a:srgbClr val="000000"/>
                          </a:solidFill>
                          <a:latin typeface="Cambria"/>
                          <a:ea typeface="Cambria"/>
                          <a:cs typeface="Cambria"/>
                          <a:sym typeface="Cambria"/>
                        </a:rPr>
                        <a:t>100.0</a:t>
                      </a:r>
                      <a:endParaRPr sz="1200">
                        <a:latin typeface="Cambria"/>
                        <a:ea typeface="Cambria"/>
                        <a:cs typeface="Cambria"/>
                        <a:sym typeface="Cambria"/>
                      </a:endParaRPr>
                    </a:p>
                  </a:txBody>
                  <a:tcPr marT="45725" marB="45725" marR="91450" marL="91450" anchor="ctr">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5400">
                      <a:solidFill>
                        <a:srgbClr val="000000">
                          <a:alpha val="0"/>
                        </a:srgbClr>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8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latin typeface="EB Garamond"/>
                <a:ea typeface="EB Garamond"/>
                <a:cs typeface="EB Garamond"/>
                <a:sym typeface="EB Garamond"/>
              </a:rPr>
              <a:t>Métodos Cuantitativos</a:t>
            </a:r>
            <a:endParaRPr>
              <a:latin typeface="EB Garamond"/>
              <a:ea typeface="EB Garamond"/>
              <a:cs typeface="EB Garamond"/>
              <a:sym typeface="EB Garamond"/>
            </a:endParaRPr>
          </a:p>
        </p:txBody>
      </p:sp>
      <p:sp>
        <p:nvSpPr>
          <p:cNvPr id="846" name="Google Shape;846;p8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s" sz="2600">
                <a:latin typeface="EB Garamond"/>
                <a:ea typeface="EB Garamond"/>
                <a:cs typeface="EB Garamond"/>
                <a:sym typeface="EB Garamond"/>
              </a:rPr>
              <a:t>Clase 03: Unidad I. Introducción a la investigación social cuantitativa</a:t>
            </a:r>
            <a:endParaRPr sz="2600">
              <a:latin typeface="EB Garamond"/>
              <a:ea typeface="EB Garamond"/>
              <a:cs typeface="EB Garamond"/>
              <a:sym typeface="EB Garamond"/>
            </a:endParaRPr>
          </a:p>
        </p:txBody>
      </p:sp>
      <p:sp>
        <p:nvSpPr>
          <p:cNvPr id="847" name="Google Shape;847;p81"/>
          <p:cNvSpPr txBox="1"/>
          <p:nvPr>
            <p:ph idx="1" type="subTitle"/>
          </p:nvPr>
        </p:nvSpPr>
        <p:spPr>
          <a:xfrm>
            <a:off x="311700" y="384875"/>
            <a:ext cx="8520600" cy="792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lang="es" sz="1400">
                <a:latin typeface="EB Garamond"/>
                <a:ea typeface="EB Garamond"/>
                <a:cs typeface="EB Garamond"/>
                <a:sym typeface="EB Garamond"/>
              </a:rPr>
              <a:t>Universidad Diego Portales</a:t>
            </a:r>
            <a:endParaRPr sz="1400">
              <a:latin typeface="EB Garamond"/>
              <a:ea typeface="EB Garamond"/>
              <a:cs typeface="EB Garamond"/>
              <a:sym typeface="EB Garamond"/>
            </a:endParaRPr>
          </a:p>
          <a:p>
            <a:pPr indent="0" lvl="0" marL="0" rtl="0" algn="l">
              <a:lnSpc>
                <a:spcPct val="80000"/>
              </a:lnSpc>
              <a:spcBef>
                <a:spcPts val="0"/>
              </a:spcBef>
              <a:spcAft>
                <a:spcPts val="0"/>
              </a:spcAft>
              <a:buNone/>
            </a:pPr>
            <a:r>
              <a:rPr lang="es" sz="1400">
                <a:latin typeface="EB Garamond"/>
                <a:ea typeface="EB Garamond"/>
                <a:cs typeface="EB Garamond"/>
                <a:sym typeface="EB Garamond"/>
              </a:rPr>
              <a:t>Facultad de Ciencias Sociales e Historia</a:t>
            </a:r>
            <a:endParaRPr sz="1400">
              <a:latin typeface="EB Garamond"/>
              <a:ea typeface="EB Garamond"/>
              <a:cs typeface="EB Garamond"/>
              <a:sym typeface="EB Garamond"/>
            </a:endParaRPr>
          </a:p>
          <a:p>
            <a:pPr indent="0" lvl="0" marL="0" rtl="0" algn="l">
              <a:lnSpc>
                <a:spcPct val="80000"/>
              </a:lnSpc>
              <a:spcBef>
                <a:spcPts val="0"/>
              </a:spcBef>
              <a:spcAft>
                <a:spcPts val="0"/>
              </a:spcAft>
              <a:buClr>
                <a:schemeClr val="dk1"/>
              </a:buClr>
              <a:buSzPts val="1100"/>
              <a:buFont typeface="Arial"/>
              <a:buNone/>
            </a:pPr>
            <a:r>
              <a:rPr lang="es" sz="1400">
                <a:latin typeface="EB Garamond"/>
                <a:ea typeface="EB Garamond"/>
                <a:cs typeface="EB Garamond"/>
                <a:sym typeface="EB Garamond"/>
              </a:rPr>
              <a:t>Antropología</a:t>
            </a:r>
            <a:endParaRPr sz="1400">
              <a:latin typeface="EB Garamond"/>
              <a:ea typeface="EB Garamond"/>
              <a:cs typeface="EB Garamond"/>
              <a:sym typeface="EB Garamond"/>
            </a:endParaRPr>
          </a:p>
        </p:txBody>
      </p:sp>
      <p:sp>
        <p:nvSpPr>
          <p:cNvPr id="848" name="Google Shape;848;p81"/>
          <p:cNvSpPr txBox="1"/>
          <p:nvPr>
            <p:ph idx="1" type="subTitle"/>
          </p:nvPr>
        </p:nvSpPr>
        <p:spPr>
          <a:xfrm>
            <a:off x="311700" y="4033150"/>
            <a:ext cx="8520600" cy="792600"/>
          </a:xfrm>
          <a:prstGeom prst="rect">
            <a:avLst/>
          </a:prstGeom>
        </p:spPr>
        <p:txBody>
          <a:bodyPr anchorCtr="0" anchor="t" bIns="91425" lIns="91425" spcFirstLastPara="1" rIns="91425" wrap="square" tIns="91425">
            <a:normAutofit/>
          </a:bodyPr>
          <a:lstStyle/>
          <a:p>
            <a:pPr indent="0" lvl="0" marL="0" rtl="0" algn="r">
              <a:lnSpc>
                <a:spcPct val="80000"/>
              </a:lnSpc>
              <a:spcBef>
                <a:spcPts val="0"/>
              </a:spcBef>
              <a:spcAft>
                <a:spcPts val="0"/>
              </a:spcAft>
              <a:buSzPts val="1018"/>
              <a:buNone/>
            </a:pPr>
            <a:r>
              <a:rPr lang="es" sz="1405">
                <a:latin typeface="EB Garamond"/>
                <a:ea typeface="EB Garamond"/>
                <a:cs typeface="EB Garamond"/>
                <a:sym typeface="EB Garamond"/>
              </a:rPr>
              <a:t>Profesora: Daniela Olivares Collío</a:t>
            </a:r>
            <a:endParaRPr sz="1405">
              <a:latin typeface="EB Garamond"/>
              <a:ea typeface="EB Garamond"/>
              <a:cs typeface="EB Garamond"/>
              <a:sym typeface="EB Garamond"/>
            </a:endParaRPr>
          </a:p>
          <a:p>
            <a:pPr indent="0" lvl="0" marL="0" rtl="0" algn="r">
              <a:lnSpc>
                <a:spcPct val="80000"/>
              </a:lnSpc>
              <a:spcBef>
                <a:spcPts val="0"/>
              </a:spcBef>
              <a:spcAft>
                <a:spcPts val="0"/>
              </a:spcAft>
              <a:buSzPts val="1018"/>
              <a:buNone/>
            </a:pPr>
            <a:r>
              <a:rPr lang="es" sz="1405">
                <a:latin typeface="EB Garamond"/>
                <a:ea typeface="EB Garamond"/>
                <a:cs typeface="EB Garamond"/>
                <a:sym typeface="EB Garamond"/>
              </a:rPr>
              <a:t>Ayudante: Katherine Aravena Herrera</a:t>
            </a:r>
            <a:endParaRPr sz="1405">
              <a:latin typeface="EB Garamond"/>
              <a:ea typeface="EB Garamond"/>
              <a:cs typeface="EB Garamond"/>
              <a:sym typeface="EB Garamond"/>
            </a:endParaRPr>
          </a:p>
          <a:p>
            <a:pPr indent="0" lvl="0" marL="0" rtl="0" algn="r">
              <a:lnSpc>
                <a:spcPct val="80000"/>
              </a:lnSpc>
              <a:spcBef>
                <a:spcPts val="0"/>
              </a:spcBef>
              <a:spcAft>
                <a:spcPts val="0"/>
              </a:spcAft>
              <a:buSzPts val="1018"/>
              <a:buNone/>
            </a:pPr>
            <a:r>
              <a:rPr lang="es" sz="1405">
                <a:latin typeface="EB Garamond"/>
                <a:ea typeface="EB Garamond"/>
                <a:cs typeface="EB Garamond"/>
                <a:sym typeface="EB Garamond"/>
              </a:rPr>
              <a:t>2do semestre 2026</a:t>
            </a:r>
            <a:endParaRPr sz="1405">
              <a:latin typeface="EB Garamond"/>
              <a:ea typeface="EB Garamond"/>
              <a:cs typeface="EB Garamond"/>
              <a:sym typeface="EB Garamond"/>
            </a:endParaRPr>
          </a:p>
        </p:txBody>
      </p:sp>
      <p:pic>
        <p:nvPicPr>
          <p:cNvPr id="849" name="Google Shape;849;p81" title="UDP_LogoRGB_2lineas_Color_SinFondo.png"/>
          <p:cNvPicPr preferRelativeResize="0"/>
          <p:nvPr/>
        </p:nvPicPr>
        <p:blipFill>
          <a:blip r:embed="rId3">
            <a:alphaModFix/>
          </a:blip>
          <a:stretch>
            <a:fillRect/>
          </a:stretch>
        </p:blipFill>
        <p:spPr>
          <a:xfrm>
            <a:off x="6169400" y="132725"/>
            <a:ext cx="2662900" cy="648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