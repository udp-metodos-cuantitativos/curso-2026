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EB Garamond SemiBold"/>
      <p:regular r:id="rId38"/>
      <p:bold r:id="rId39"/>
      <p:italic r:id="rId40"/>
      <p:boldItalic r:id="rId41"/>
    </p:embeddedFont>
    <p:embeddedFont>
      <p:font typeface="EB Garamon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BGaramondSemiBold-italic.fntdata"/><Relationship Id="rId20" Type="http://schemas.openxmlformats.org/officeDocument/2006/relationships/slide" Target="slides/slide14.xml"/><Relationship Id="rId42" Type="http://schemas.openxmlformats.org/officeDocument/2006/relationships/font" Target="fonts/EBGaramond-regular.fntdata"/><Relationship Id="rId41" Type="http://schemas.openxmlformats.org/officeDocument/2006/relationships/font" Target="fonts/EBGaramondSemiBold-boldItalic.fntdata"/><Relationship Id="rId22" Type="http://schemas.openxmlformats.org/officeDocument/2006/relationships/slide" Target="slides/slide16.xml"/><Relationship Id="rId44" Type="http://schemas.openxmlformats.org/officeDocument/2006/relationships/font" Target="fonts/EBGaramond-italic.fntdata"/><Relationship Id="rId21" Type="http://schemas.openxmlformats.org/officeDocument/2006/relationships/slide" Target="slides/slide15.xml"/><Relationship Id="rId43" Type="http://schemas.openxmlformats.org/officeDocument/2006/relationships/font" Target="fonts/EBGaramond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EBGaramon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EBGaramondSemiBold-bold.fntdata"/><Relationship Id="rId16" Type="http://schemas.openxmlformats.org/officeDocument/2006/relationships/slide" Target="slides/slide10.xml"/><Relationship Id="rId38" Type="http://schemas.openxmlformats.org/officeDocument/2006/relationships/font" Target="fonts/EBGaramondSemiBold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1afc80c7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1afc80c7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1afc80c74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1afc80c7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be0ec9c984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be0ec9c98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b07e87e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b07e87e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b152048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b152048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b1520489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b1520489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b07e87efd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b07e87ef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35b15145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d35b15145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d35b15145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d35b15145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d35b151453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d35b15145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b458eb2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b458eb2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d35b15145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d35b15145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d35b151453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d35b151453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35b15145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d35b15145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d35b15145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d35b15145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35b15145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d35b15145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d35b15145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d35b15145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35b151453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d35b151453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d35b15145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d35b15145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d35b151453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d35b151453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d35b151453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d35b151453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d35b151453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d35b151453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d35b151453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d35b151453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d35b151453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d35b15145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d35b151453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d35b15145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d35b151453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d35b151453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d35b151453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d35b151453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d35b151453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d35b151453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d35b151453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d35b151453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d35b151453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d35b151453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849495e5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849495e5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EB Garamond SemiBold"/>
              <a:buNone/>
              <a:defRPr b="0" sz="5200">
                <a:latin typeface="EB Garamond SemiBold"/>
                <a:ea typeface="EB Garamond SemiBold"/>
                <a:cs typeface="EB Garamond SemiBold"/>
                <a:sym typeface="EB Garamo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EB Garamond"/>
              <a:buNone/>
              <a:defRPr b="1" sz="2500">
                <a:latin typeface="EB Garamond"/>
                <a:ea typeface="EB Garamond"/>
                <a:cs typeface="EB Garamond"/>
                <a:sym typeface="EB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B Garamond SemiBold"/>
              <a:buNone/>
              <a:defRPr sz="2800">
                <a:solidFill>
                  <a:schemeClr val="dk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Char char="●"/>
              <a:defRPr sz="20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○"/>
              <a:defRPr sz="18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B Garamond SemiBold"/>
              <a:buNone/>
              <a:defRPr sz="2800">
                <a:solidFill>
                  <a:schemeClr val="dk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EB Garamond"/>
              <a:buChar char="●"/>
              <a:defRPr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○"/>
              <a:def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■"/>
              <a:defRPr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●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○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●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○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daniela.olivares2@mail.udp.c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Métodos Cuantitativos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/>
              <a:t>Clase 06: Unidad III. Estadística Descriptiva y Análisis descriptivo univariado</a:t>
            </a:r>
            <a:endParaRPr sz="26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Ayudante: </a:t>
            </a:r>
            <a:r>
              <a:rPr lang="es" sz="1405"/>
              <a:t>Katherine Aravena H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2do semestre 202</a:t>
            </a:r>
            <a:r>
              <a:rPr lang="es" sz="1405"/>
              <a:t>6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03" name="Google Shape;103;p25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>
          <a:xfrm>
            <a:off x="311700" y="1090500"/>
            <a:ext cx="8520600" cy="25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u="sng">
                <a:solidFill>
                  <a:schemeClr val="hlink"/>
                </a:solidFill>
                <a:hlinkClick r:id="rId3"/>
              </a:rPr>
              <a:t>daniela.olivares2@mail.udp.cl</a:t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Objetivos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5" name="Google Shape;11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 SemiBold"/>
                <a:ea typeface="EB Garamond SemiBold"/>
                <a:cs typeface="EB Garamond SemiBold"/>
                <a:sym typeface="EB Garamond SemiBold"/>
              </a:rPr>
              <a:t>Unidad III. Estadística Descriptiva y Análisis descriptivo univariado</a:t>
            </a:r>
            <a:endParaRPr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III.3. Frecuencias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6" name="Google Shape;116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Clase 06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11">
                <a:highlight>
                  <a:srgbClr val="AAD5D4"/>
                </a:highlight>
              </a:rPr>
              <a:t>¿En cuál parte del curso vamos?</a:t>
            </a:r>
            <a:endParaRPr sz="2811">
              <a:highlight>
                <a:srgbClr val="AAD5D4"/>
              </a:highlight>
            </a:endParaRPr>
          </a:p>
        </p:txBody>
      </p:sp>
      <p:sp>
        <p:nvSpPr>
          <p:cNvPr id="123" name="Google Shape;12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124" name="Google Shape;124;p28"/>
          <p:cNvGrpSpPr/>
          <p:nvPr/>
        </p:nvGrpSpPr>
        <p:grpSpPr>
          <a:xfrm>
            <a:off x="4877071" y="1189775"/>
            <a:ext cx="4061383" cy="3483050"/>
            <a:chOff x="5632317" y="1189775"/>
            <a:chExt cx="3305700" cy="3483050"/>
          </a:xfrm>
        </p:grpSpPr>
        <p:sp>
          <p:nvSpPr>
            <p:cNvPr id="125" name="Google Shape;125;p28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Unidad III</a:t>
              </a:r>
              <a:endParaRPr b="1" sz="20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26" name="Google Shape;126;p28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EB Garamond"/>
                  <a:ea typeface="EB Garamond"/>
                  <a:cs typeface="EB Garamond"/>
                  <a:sym typeface="EB Garamond"/>
                </a:rPr>
                <a:t>Estadística Descriptiva y Análisis descriptivo univariado:</a:t>
              </a:r>
              <a:endParaRPr b="1"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III.1. Noción de distribución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III.2. Tipos de análisis estadístico univariado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III.3. Frecuencias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127" name="Google Shape;127;p28"/>
          <p:cNvGrpSpPr/>
          <p:nvPr/>
        </p:nvGrpSpPr>
        <p:grpSpPr>
          <a:xfrm>
            <a:off x="0" y="1190002"/>
            <a:ext cx="2669397" cy="3688923"/>
            <a:chOff x="0" y="1189989"/>
            <a:chExt cx="3546900" cy="3688923"/>
          </a:xfrm>
        </p:grpSpPr>
        <p:sp>
          <p:nvSpPr>
            <p:cNvPr id="128" name="Google Shape;128;p28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000">
                  <a:solidFill>
                    <a:srgbClr val="CACACA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Unidad I</a:t>
              </a:r>
              <a:endParaRPr sz="2000">
                <a:solidFill>
                  <a:srgbClr val="CACACA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29" name="Google Shape;129;p28"/>
            <p:cNvSpPr txBox="1"/>
            <p:nvPr/>
          </p:nvSpPr>
          <p:spPr>
            <a:xfrm>
              <a:off x="392772" y="2057113"/>
              <a:ext cx="2647800" cy="282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Introducción a la Investigación Social Cuantitativa:</a:t>
              </a:r>
              <a:endParaRPr b="1"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I.1. Fundamentos de la Investigación Cuantitativa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I.2. Características de la Investigación Cuantitativa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I.3. Construcción de un problema de Investigación Cuantitativa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I.4. Conceptualización de variables e indicadores y operacionalización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130" name="Google Shape;130;p28"/>
          <p:cNvGrpSpPr/>
          <p:nvPr/>
        </p:nvGrpSpPr>
        <p:grpSpPr>
          <a:xfrm>
            <a:off x="2288240" y="1189775"/>
            <a:ext cx="2936123" cy="3483050"/>
            <a:chOff x="2944204" y="1189775"/>
            <a:chExt cx="3305700" cy="3483050"/>
          </a:xfrm>
        </p:grpSpPr>
        <p:sp>
          <p:nvSpPr>
            <p:cNvPr id="131" name="Google Shape;131;p28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000">
                  <a:solidFill>
                    <a:srgbClr val="CACACA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Unidad II</a:t>
              </a:r>
              <a:endParaRPr sz="2000">
                <a:solidFill>
                  <a:srgbClr val="CACACA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32" name="Google Shape;132;p28"/>
            <p:cNvSpPr txBox="1"/>
            <p:nvPr/>
          </p:nvSpPr>
          <p:spPr>
            <a:xfrm>
              <a:off x="3373342" y="2057125"/>
              <a:ext cx="24855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La estadística en el contexto de la investigación social:</a:t>
              </a:r>
              <a:endParaRPr b="1"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II.1. Elaboración de una matriz de datos y su libro de códigos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II.2. Nociones de Universo, Población y Muestra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II.3. Técnicas de recolección y procesamiento de datos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666666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133" name="Google Shape;133;p28"/>
          <p:cNvSpPr/>
          <p:nvPr/>
        </p:nvSpPr>
        <p:spPr>
          <a:xfrm rot="5400000">
            <a:off x="6703325" y="620775"/>
            <a:ext cx="571500" cy="2802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AAD5D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11">
                <a:solidFill>
                  <a:schemeClr val="dk1"/>
                </a:solidFill>
                <a:highlight>
                  <a:srgbClr val="AAD5D4"/>
                </a:highlight>
              </a:rPr>
              <a:t>¿En cuál parte de una investigación estamos?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9" name="Google Shape;13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0" name="Google Shape;140;p29"/>
          <p:cNvSpPr/>
          <p:nvPr/>
        </p:nvSpPr>
        <p:spPr>
          <a:xfrm>
            <a:off x="5945500" y="2396000"/>
            <a:ext cx="2276400" cy="1228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141" name="Google Shape;141;p29"/>
          <p:cNvGrpSpPr/>
          <p:nvPr/>
        </p:nvGrpSpPr>
        <p:grpSpPr>
          <a:xfrm>
            <a:off x="706750" y="1263275"/>
            <a:ext cx="7400897" cy="3494248"/>
            <a:chOff x="3065" y="284906"/>
            <a:chExt cx="6089770" cy="3494248"/>
          </a:xfrm>
        </p:grpSpPr>
        <p:sp>
          <p:nvSpPr>
            <p:cNvPr id="142" name="Google Shape;142;p29"/>
            <p:cNvSpPr/>
            <p:nvPr/>
          </p:nvSpPr>
          <p:spPr>
            <a:xfrm rot="5400000">
              <a:off x="-278266" y="1080198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3" name="Google Shape;143;p29"/>
            <p:cNvSpPr/>
            <p:nvPr/>
          </p:nvSpPr>
          <p:spPr>
            <a:xfrm>
              <a:off x="3065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DDEAF6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4" name="Google Shape;144;p29"/>
            <p:cNvSpPr txBox="1"/>
            <p:nvPr/>
          </p:nvSpPr>
          <p:spPr>
            <a:xfrm>
              <a:off x="32305" y="314146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EB Garamond"/>
                  <a:ea typeface="EB Garamond"/>
                  <a:cs typeface="EB Garamond"/>
                  <a:sym typeface="EB Garamond"/>
                </a:rPr>
                <a:t>Teoría</a:t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5" name="Google Shape;145;p29"/>
            <p:cNvSpPr/>
            <p:nvPr/>
          </p:nvSpPr>
          <p:spPr>
            <a:xfrm rot="5400000">
              <a:off x="-278266" y="2328122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6" name="Google Shape;146;p29"/>
            <p:cNvSpPr/>
            <p:nvPr/>
          </p:nvSpPr>
          <p:spPr>
            <a:xfrm>
              <a:off x="3065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BBD6EE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7" name="Google Shape;147;p29"/>
            <p:cNvSpPr txBox="1"/>
            <p:nvPr/>
          </p:nvSpPr>
          <p:spPr>
            <a:xfrm>
              <a:off x="32305" y="1562070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EB Garamond"/>
                  <a:ea typeface="EB Garamond"/>
                  <a:cs typeface="EB Garamond"/>
                  <a:sym typeface="EB Garamond"/>
                </a:rPr>
                <a:t>Problema</a:t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8" name="Google Shape;148;p29"/>
            <p:cNvSpPr/>
            <p:nvPr/>
          </p:nvSpPr>
          <p:spPr>
            <a:xfrm>
              <a:off x="345671" y="2952057"/>
              <a:ext cx="22032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9" name="Google Shape;149;p29"/>
            <p:cNvSpPr/>
            <p:nvPr/>
          </p:nvSpPr>
          <p:spPr>
            <a:xfrm>
              <a:off x="3065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9FC5E8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EB Garamond"/>
                  <a:ea typeface="EB Garamond"/>
                  <a:cs typeface="EB Garamond"/>
                  <a:sym typeface="EB Garamond"/>
                </a:rPr>
                <a:t>Pregunta, objetivos e hipótesis</a:t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0" name="Google Shape;150;p29"/>
            <p:cNvSpPr/>
            <p:nvPr/>
          </p:nvSpPr>
          <p:spPr>
            <a:xfrm rot="-5400000">
              <a:off x="1934668" y="2328119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1" name="Google Shape;151;p29"/>
            <p:cNvSpPr/>
            <p:nvPr/>
          </p:nvSpPr>
          <p:spPr>
            <a:xfrm rot="-5400000">
              <a:off x="1934668" y="1080195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2" name="Google Shape;152;p29"/>
            <p:cNvSpPr/>
            <p:nvPr/>
          </p:nvSpPr>
          <p:spPr>
            <a:xfrm>
              <a:off x="2216050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2E75B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Operacionalización y encuesta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3" name="Google Shape;153;p29"/>
            <p:cNvSpPr/>
            <p:nvPr/>
          </p:nvSpPr>
          <p:spPr>
            <a:xfrm>
              <a:off x="2558656" y="456209"/>
              <a:ext cx="22032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4" name="Google Shape;154;p29"/>
            <p:cNvSpPr/>
            <p:nvPr/>
          </p:nvSpPr>
          <p:spPr>
            <a:xfrm>
              <a:off x="2216050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0B5394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Levantamiento de datos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5" name="Google Shape;155;p29"/>
            <p:cNvSpPr/>
            <p:nvPr/>
          </p:nvSpPr>
          <p:spPr>
            <a:xfrm rot="5400000">
              <a:off x="4147703" y="1080198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6" name="Google Shape;156;p29"/>
            <p:cNvSpPr/>
            <p:nvPr/>
          </p:nvSpPr>
          <p:spPr>
            <a:xfrm>
              <a:off x="4429035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0B5394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Matriz de datos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7" name="Google Shape;157;p29"/>
            <p:cNvSpPr/>
            <p:nvPr/>
          </p:nvSpPr>
          <p:spPr>
            <a:xfrm rot="5400000">
              <a:off x="4147703" y="2328122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8" name="Google Shape;158;p29"/>
            <p:cNvSpPr/>
            <p:nvPr/>
          </p:nvSpPr>
          <p:spPr>
            <a:xfrm>
              <a:off x="4429035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073763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Análisis de datos</a:t>
              </a:r>
              <a:endParaRPr b="1"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9" name="Google Shape;159;p29"/>
            <p:cNvSpPr/>
            <p:nvPr/>
          </p:nvSpPr>
          <p:spPr>
            <a:xfrm>
              <a:off x="4429035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262626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Conclusiones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60" name="Google Shape;160;p29"/>
            <p:cNvSpPr/>
            <p:nvPr/>
          </p:nvSpPr>
          <p:spPr>
            <a:xfrm>
              <a:off x="2216050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6FA8DC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Metodología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11">
                <a:solidFill>
                  <a:schemeClr val="dk1"/>
                </a:solidFill>
                <a:highlight>
                  <a:srgbClr val="AAD5D4"/>
                </a:highlight>
              </a:rPr>
              <a:t>¿En cuál parte de una investigación estamos?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6" name="Google Shape;16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67" name="Google Shape;16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163" y="1142200"/>
            <a:ext cx="7211675" cy="37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0"/>
          <p:cNvSpPr/>
          <p:nvPr/>
        </p:nvSpPr>
        <p:spPr>
          <a:xfrm rot="5400142">
            <a:off x="2044187" y="2592992"/>
            <a:ext cx="1304910" cy="1884276"/>
          </a:xfrm>
          <a:prstGeom prst="flowChartTerminator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Diagrama&#10;&#10;Descripción generada automáticamente" id="174" name="Google Shape;17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0100" y="364875"/>
            <a:ext cx="6443799" cy="429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24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III.3. Frecuencias</a:t>
            </a:r>
            <a:endParaRPr b="1" sz="3240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0" name="Google Shape;18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86" name="Google Shape;1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49550"/>
            <a:ext cx="4470382" cy="178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4775" y="1749538"/>
            <a:ext cx="2828525" cy="178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/>
        </p:nvSpPr>
        <p:spPr>
          <a:xfrm>
            <a:off x="1218951" y="934550"/>
            <a:ext cx="2475000" cy="484800"/>
          </a:xfrm>
          <a:prstGeom prst="rect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B6374"/>
                </a:solidFill>
                <a:latin typeface="EB Garamond"/>
                <a:ea typeface="EB Garamond"/>
                <a:cs typeface="EB Garamond"/>
                <a:sym typeface="EB Garamond"/>
              </a:rPr>
              <a:t>Tabla de </a:t>
            </a:r>
            <a:r>
              <a:rPr b="1" lang="es" sz="1800">
                <a:solidFill>
                  <a:srgbClr val="0B6374"/>
                </a:solidFill>
                <a:latin typeface="EB Garamond"/>
                <a:ea typeface="EB Garamond"/>
                <a:cs typeface="EB Garamond"/>
                <a:sym typeface="EB Garamond"/>
              </a:rPr>
              <a:t>Frecuencias</a:t>
            </a:r>
            <a:endParaRPr b="1" sz="1800">
              <a:solidFill>
                <a:srgbClr val="0B6374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9" name="Google Shape;189;p33"/>
          <p:cNvSpPr txBox="1"/>
          <p:nvPr/>
        </p:nvSpPr>
        <p:spPr>
          <a:xfrm>
            <a:off x="6148733" y="934550"/>
            <a:ext cx="1500600" cy="484800"/>
          </a:xfrm>
          <a:prstGeom prst="rect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B6374"/>
                </a:solidFill>
                <a:latin typeface="EB Garamond"/>
                <a:ea typeface="EB Garamond"/>
                <a:cs typeface="EB Garamond"/>
                <a:sym typeface="EB Garamond"/>
              </a:rPr>
              <a:t>Histograma</a:t>
            </a:r>
            <a:endParaRPr b="1" sz="1800">
              <a:solidFill>
                <a:srgbClr val="0B6374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820">
                <a:latin typeface="EB Garamond"/>
                <a:ea typeface="EB Garamond"/>
                <a:cs typeface="EB Garamond"/>
                <a:sym typeface="EB Garamond"/>
              </a:rPr>
              <a:t>Distribución de frecuencias</a:t>
            </a:r>
            <a:endParaRPr b="1" sz="282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por distribución nos referimos al conjunto de todos los valores posibles de una variable y las frecuencias (o probabilidades) con las que se producen, l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a </a:t>
            </a:r>
            <a:r>
              <a:rPr b="1" lang="es">
                <a:solidFill>
                  <a:schemeClr val="dk1"/>
                </a:solidFill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frecuencia es el número de veces que es observada en la muestra cada puntuación</a:t>
            </a:r>
            <a:r>
              <a:rPr lang="es">
                <a:solidFill>
                  <a:schemeClr val="dk1"/>
                </a:solidFill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(valor o atributo) de una variable.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 bien, a todos los tipos de variables le podemos calcular su distribución de frecuencias, </a:t>
            </a:r>
            <a:r>
              <a:rPr b="1" lang="es"/>
              <a:t>como medida descriptiva de datos la utilizaremos principalmente para variables categóricas</a:t>
            </a:r>
            <a:r>
              <a:rPr lang="es"/>
              <a:t>, esto es, nominales y ordinales.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6" name="Google Shape;19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820">
                <a:latin typeface="EB Garamond"/>
                <a:ea typeface="EB Garamond"/>
                <a:cs typeface="EB Garamond"/>
                <a:sym typeface="EB Garamond"/>
              </a:rPr>
              <a:t>Distribución de frecuencias</a:t>
            </a:r>
            <a:endParaRPr b="1" sz="282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2" name="Google Shape;20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 </a:t>
            </a:r>
            <a:r>
              <a:rPr b="1" lang="es">
                <a:solidFill>
                  <a:schemeClr val="dk1"/>
                </a:solidFill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frecuencia es el número de veces que es observada en la muestra cada puntuación</a:t>
            </a:r>
            <a:r>
              <a:rPr lang="es">
                <a:solidFill>
                  <a:schemeClr val="dk1"/>
                </a:solidFill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(valor o atributo) de una variable.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 frecuencia absoluta </a:t>
            </a:r>
            <a:r>
              <a:rPr b="1" lang="es">
                <a:solidFill>
                  <a:schemeClr val="dk1"/>
                </a:solidFill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no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es demasiado informativa por sí misma.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Por ello, es necesario </a:t>
            </a:r>
            <a:r>
              <a:rPr b="1" lang="es">
                <a:solidFill>
                  <a:schemeClr val="dk1"/>
                </a:solidFill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estandarizar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la distribución de frecuencias, con respecto al número total de casos o de puntuaciones. Así, las frecuencias relativas se presentan en porcentajes, proporciones y tasas.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3" name="Google Shape;20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820">
                <a:latin typeface="EB Garamond"/>
                <a:ea typeface="EB Garamond"/>
                <a:cs typeface="EB Garamond"/>
                <a:sym typeface="EB Garamond"/>
              </a:rPr>
              <a:t>Distribución de frecuencias</a:t>
            </a:r>
            <a:endParaRPr b="1" sz="282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frecuencia es el número de veces que es observada en la muestra cada puntuación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(valor o atributo) de una variable.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2"/>
              </a:solidFill>
              <a:highlight>
                <a:srgbClr val="A64D79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0" name="Google Shape;21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820">
                <a:latin typeface="EB Garamond"/>
                <a:ea typeface="EB Garamond"/>
                <a:cs typeface="EB Garamond"/>
                <a:sym typeface="EB Garamond"/>
              </a:rPr>
              <a:t>Distribución de frecuencias</a:t>
            </a:r>
            <a:endParaRPr b="1" sz="282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6" name="Google Shape;216;p37"/>
          <p:cNvSpPr txBox="1"/>
          <p:nvPr>
            <p:ph idx="1" type="body"/>
          </p:nvPr>
        </p:nvSpPr>
        <p:spPr>
          <a:xfrm>
            <a:off x="311700" y="1152475"/>
            <a:ext cx="8520600" cy="7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frecuencia es el número de veces que es observada en la muestra cada puntuación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(valor o atributo) de una variable.</a:t>
            </a:r>
            <a:endParaRPr>
              <a:solidFill>
                <a:schemeClr val="lt2"/>
              </a:solidFill>
              <a:highlight>
                <a:srgbClr val="A64D79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7" name="Google Shape;21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8" name="Google Shape;21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961025"/>
            <a:ext cx="4400025" cy="160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7"/>
          <p:cNvSpPr txBox="1"/>
          <p:nvPr/>
        </p:nvSpPr>
        <p:spPr>
          <a:xfrm>
            <a:off x="688600" y="1946375"/>
            <a:ext cx="23328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262626"/>
                </a:solidFill>
                <a:latin typeface="EB Garamond"/>
                <a:ea typeface="EB Garamond"/>
                <a:cs typeface="EB Garamond"/>
                <a:sym typeface="EB Garamond"/>
              </a:rPr>
              <a:t>Ejemplo:</a:t>
            </a:r>
            <a:endParaRPr sz="1600">
              <a:solidFill>
                <a:srgbClr val="26262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EB Garamond"/>
              <a:buChar char="●"/>
            </a:pPr>
            <a:r>
              <a:rPr lang="es" sz="1600">
                <a:solidFill>
                  <a:srgbClr val="262626"/>
                </a:solidFill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n = 3073 nna</a:t>
            </a:r>
            <a:endParaRPr sz="1600">
              <a:solidFill>
                <a:srgbClr val="262626"/>
              </a:solidFill>
              <a:highlight>
                <a:srgbClr val="AAD5D4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EB Garamond"/>
              <a:buChar char="●"/>
            </a:pPr>
            <a:r>
              <a:rPr lang="es" sz="1600">
                <a:solidFill>
                  <a:srgbClr val="262626"/>
                </a:solidFill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variable:</a:t>
            </a:r>
            <a:endParaRPr sz="1600">
              <a:solidFill>
                <a:srgbClr val="262626"/>
              </a:solidFill>
              <a:highlight>
                <a:srgbClr val="AAD5D4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0" name="Google Shape;220;p37"/>
          <p:cNvSpPr txBox="1"/>
          <p:nvPr/>
        </p:nvSpPr>
        <p:spPr>
          <a:xfrm>
            <a:off x="5262950" y="1946375"/>
            <a:ext cx="34362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EB Garamond"/>
              <a:buChar char="●"/>
            </a:pPr>
            <a:r>
              <a:rPr lang="es" sz="1600"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¿</a:t>
            </a:r>
            <a:r>
              <a:rPr lang="es" sz="1600"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frecuencia?</a:t>
            </a:r>
            <a:endParaRPr sz="1600">
              <a:highlight>
                <a:srgbClr val="AAD5D4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EB Garamond"/>
              <a:buChar char="○"/>
            </a:pP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¿Qué contestaron los 3.073 NNA en esta variable?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EB Garamond"/>
              <a:buChar char="○"/>
            </a:pP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¿Cuáles atributos contestaron y cuántos dijeron cada uno?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Distribución de frecuencias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6" name="Google Shape;226;p38"/>
          <p:cNvSpPr txBox="1"/>
          <p:nvPr>
            <p:ph idx="1" type="body"/>
          </p:nvPr>
        </p:nvSpPr>
        <p:spPr>
          <a:xfrm>
            <a:off x="311700" y="1152475"/>
            <a:ext cx="8520600" cy="7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frecuencia es el número de veces que es observada en la muestra cada puntuación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(valor o atributo) de una variable.</a:t>
            </a:r>
            <a:endParaRPr>
              <a:solidFill>
                <a:schemeClr val="lt2"/>
              </a:solidFill>
              <a:highlight>
                <a:srgbClr val="A64D79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7" name="Google Shape;22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28" name="Google Shape;22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961025"/>
            <a:ext cx="4400025" cy="160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/>
          <p:cNvSpPr txBox="1"/>
          <p:nvPr/>
        </p:nvSpPr>
        <p:spPr>
          <a:xfrm>
            <a:off x="688600" y="1946375"/>
            <a:ext cx="23328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Ejemplo: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s" sz="1600">
                <a:solidFill>
                  <a:schemeClr val="dk1"/>
                </a:solidFill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n = 3073 nna</a:t>
            </a:r>
            <a:endParaRPr sz="1600">
              <a:solidFill>
                <a:schemeClr val="dk1"/>
              </a:solidFill>
              <a:highlight>
                <a:srgbClr val="AAD5D4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●"/>
            </a:pPr>
            <a:r>
              <a:rPr lang="es" sz="1600">
                <a:solidFill>
                  <a:schemeClr val="dk1"/>
                </a:solidFill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variable:</a:t>
            </a:r>
            <a:endParaRPr sz="1600">
              <a:solidFill>
                <a:schemeClr val="dk1"/>
              </a:solidFill>
              <a:highlight>
                <a:srgbClr val="AAD5D4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0" name="Google Shape;230;p38"/>
          <p:cNvSpPr txBox="1"/>
          <p:nvPr/>
        </p:nvSpPr>
        <p:spPr>
          <a:xfrm>
            <a:off x="5262950" y="1946375"/>
            <a:ext cx="34362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EB Garamond"/>
              <a:buChar char="●"/>
            </a:pPr>
            <a:r>
              <a:rPr lang="es" sz="1600">
                <a:solidFill>
                  <a:srgbClr val="262626"/>
                </a:solidFill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frecuencia</a:t>
            </a:r>
            <a:endParaRPr>
              <a:solidFill>
                <a:srgbClr val="262626"/>
              </a:solidFill>
              <a:highlight>
                <a:srgbClr val="AAD5D4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9027" y="2761449"/>
            <a:ext cx="2935047" cy="180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Distribución de frecuencias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1152475"/>
            <a:ext cx="8520600" cy="7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2. La frecuencia absoluta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no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es demasiado informativa por sí misma.</a:t>
            </a:r>
            <a:endParaRPr>
              <a:solidFill>
                <a:schemeClr val="lt2"/>
              </a:solidFill>
              <a:highlight>
                <a:srgbClr val="A64D79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8" name="Google Shape;23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Distribución de frecuencias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311700" y="1152475"/>
            <a:ext cx="8520600" cy="7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2. La frecuencia absoluta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no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es demasiado informativa por sí misma.</a:t>
            </a:r>
            <a:endParaRPr>
              <a:solidFill>
                <a:schemeClr val="lt2"/>
              </a:solidFill>
              <a:highlight>
                <a:srgbClr val="A64D79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5" name="Google Shape;24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46" name="Google Shape;2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352" y="1974474"/>
            <a:ext cx="2935047" cy="180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0"/>
          <p:cNvSpPr txBox="1"/>
          <p:nvPr/>
        </p:nvSpPr>
        <p:spPr>
          <a:xfrm>
            <a:off x="4560300" y="2248525"/>
            <a:ext cx="39123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EB Garamond"/>
                <a:ea typeface="EB Garamond"/>
                <a:cs typeface="EB Garamond"/>
                <a:sym typeface="EB Garamond"/>
              </a:rPr>
              <a:t>¿1760 casos que contestan es alto, bajo?</a:t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EB Garamond"/>
                <a:ea typeface="EB Garamond"/>
                <a:cs typeface="EB Garamond"/>
                <a:sym typeface="EB Garamond"/>
              </a:rPr>
              <a:t>¿Cuál fue el atributo más frecuente?</a:t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Distribución de frecuencias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311700" y="1152475"/>
            <a:ext cx="8520600" cy="7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3. Por ello, es necesario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estandarizar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la distribución de frecuencias, con respecto al número total de casos o de puntuaciones. Así, las frecuencias relativas se presentan en porcentajes, proporciones y tasas.</a:t>
            </a:r>
            <a:endParaRPr>
              <a:solidFill>
                <a:schemeClr val="lt2"/>
              </a:solidFill>
              <a:highlight>
                <a:srgbClr val="A64D79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4" name="Google Shape;25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Distribución de frecuencias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0" name="Google Shape;260;p42"/>
          <p:cNvSpPr txBox="1"/>
          <p:nvPr>
            <p:ph idx="1" type="body"/>
          </p:nvPr>
        </p:nvSpPr>
        <p:spPr>
          <a:xfrm>
            <a:off x="311700" y="1152475"/>
            <a:ext cx="8520600" cy="7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3. Por ello, es necesario </a:t>
            </a:r>
            <a:r>
              <a:rPr b="1" lang="es"/>
              <a:t>e</a:t>
            </a:r>
            <a:r>
              <a:rPr b="1" lang="es"/>
              <a:t>standarizar</a:t>
            </a:r>
            <a:r>
              <a:rPr b="1" i="1" lang="es"/>
              <a:t> 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 distribución de frecuencias, con respecto al número total de casos o de puntuaciones. Así, las frecuencias relativas se presentan en porcentajes, proporciones y tasas.</a:t>
            </a:r>
            <a:endParaRPr>
              <a:solidFill>
                <a:schemeClr val="lt2"/>
              </a:solidFill>
              <a:highlight>
                <a:srgbClr val="A64D79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1" name="Google Shape;26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62" name="Google Shape;26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163" y="2306375"/>
            <a:ext cx="6547674" cy="22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Distribución de frecuencias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8" name="Google Shape;268;p43"/>
          <p:cNvSpPr txBox="1"/>
          <p:nvPr>
            <p:ph idx="1" type="body"/>
          </p:nvPr>
        </p:nvSpPr>
        <p:spPr>
          <a:xfrm>
            <a:off x="311700" y="1152475"/>
            <a:ext cx="8520600" cy="7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3. Por ello, es necesario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estandarizar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la distribución de frecuencias, con respecto al número total de casos o de puntuaciones. Así, las frecuencias relativas se presentan en porcentajes, proporciones y tasas.</a:t>
            </a:r>
            <a:endParaRPr>
              <a:solidFill>
                <a:schemeClr val="lt2"/>
              </a:solidFill>
              <a:highlight>
                <a:srgbClr val="A64D79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9" name="Google Shape;26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70" name="Google Shape;27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163" y="2287225"/>
            <a:ext cx="6547674" cy="225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3"/>
          <p:cNvSpPr txBox="1"/>
          <p:nvPr/>
        </p:nvSpPr>
        <p:spPr>
          <a:xfrm>
            <a:off x="311700" y="4609625"/>
            <a:ext cx="85206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latin typeface="EB Garamond"/>
                <a:ea typeface="EB Garamond"/>
                <a:cs typeface="EB Garamond"/>
                <a:sym typeface="EB Garamond"/>
              </a:rPr>
              <a:t>Del total de la muestra, el 38,5% está muy de acuerdo con que su barrio está muy contaminado.</a:t>
            </a:r>
            <a:endParaRPr i="1" sz="18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¿Para qué sirve revisar las frecuencias?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7" name="Google Shape;27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Permite observar el valor más frecuente (moda).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Permite observar el grado en que la variable es “discriminante” en la muestra (tiene una alta o una baja variación).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Permite observar si existen valores con una tasa muy baja de respuesta.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Permite chequear errores, valores fuera de rango, valores ausentes, valores missing.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8" name="Google Shape;27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¿Para qué sirve revisar las frecuencias?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4" name="Google Shape;284;p45"/>
          <p:cNvSpPr txBox="1"/>
          <p:nvPr>
            <p:ph idx="1" type="body"/>
          </p:nvPr>
        </p:nvSpPr>
        <p:spPr>
          <a:xfrm>
            <a:off x="311700" y="1152475"/>
            <a:ext cx="8520600" cy="4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Permite observar el valor más frecuente (moda).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5" name="Google Shape;285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¿Para qué sirve revisar las frecuencias?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1" name="Google Shape;291;p46"/>
          <p:cNvSpPr txBox="1"/>
          <p:nvPr>
            <p:ph idx="1" type="body"/>
          </p:nvPr>
        </p:nvSpPr>
        <p:spPr>
          <a:xfrm>
            <a:off x="311700" y="1152475"/>
            <a:ext cx="8520600" cy="4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Permite observar el valor más frecuente (moda).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2" name="Google Shape;29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93" name="Google Shape;29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275" y="1796575"/>
            <a:ext cx="7105706" cy="64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5050" y="2604700"/>
            <a:ext cx="1671600" cy="22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6"/>
          <p:cNvPicPr preferRelativeResize="0"/>
          <p:nvPr/>
        </p:nvPicPr>
        <p:blipFill rotWithShape="1">
          <a:blip r:embed="rId5">
            <a:alphaModFix/>
          </a:blip>
          <a:srcRect b="0" l="0" r="1701" t="0"/>
          <a:stretch/>
        </p:blipFill>
        <p:spPr>
          <a:xfrm>
            <a:off x="3860600" y="2589325"/>
            <a:ext cx="3426025" cy="23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¿Para qué sirve revisar las frecuencias?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1" name="Google Shape;301;p47"/>
          <p:cNvSpPr txBox="1"/>
          <p:nvPr>
            <p:ph idx="1" type="body"/>
          </p:nvPr>
        </p:nvSpPr>
        <p:spPr>
          <a:xfrm>
            <a:off x="311700" y="1152475"/>
            <a:ext cx="8520600" cy="7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2. Permite observar el grado en que la variable es “discriminante” en la muestra (tiene una alta o una baja variación).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2" name="Google Shape;30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820">
                <a:latin typeface="EB Garamond"/>
                <a:ea typeface="EB Garamond"/>
                <a:cs typeface="EB Garamond"/>
                <a:sym typeface="EB Garamond"/>
              </a:rPr>
              <a:t>¿Para qué sirve revisar las frecuencias?</a:t>
            </a:r>
            <a:endParaRPr b="1" sz="282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8" name="Google Shape;308;p48"/>
          <p:cNvSpPr txBox="1"/>
          <p:nvPr>
            <p:ph idx="1" type="body"/>
          </p:nvPr>
        </p:nvSpPr>
        <p:spPr>
          <a:xfrm>
            <a:off x="311700" y="1152475"/>
            <a:ext cx="8520600" cy="7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2. Permite observar el grado en que la variable es “discriminante” en la muestra (tiene una alta o una baja variación).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9" name="Google Shape;30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10" name="Google Shape;31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56775"/>
            <a:ext cx="4838799" cy="284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8"/>
          <p:cNvSpPr txBox="1"/>
          <p:nvPr/>
        </p:nvSpPr>
        <p:spPr>
          <a:xfrm>
            <a:off x="6071025" y="2297700"/>
            <a:ext cx="2431200" cy="15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EB Garamond"/>
                <a:ea typeface="EB Garamond"/>
                <a:cs typeface="EB Garamond"/>
                <a:sym typeface="EB Garamond"/>
              </a:rPr>
              <a:t>2 categorías </a:t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EB Garamond"/>
                <a:ea typeface="EB Garamond"/>
                <a:cs typeface="EB Garamond"/>
                <a:sym typeface="EB Garamond"/>
              </a:rPr>
              <a:t>Familia y Escuela: distribuciones</a:t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EB Garamond"/>
                <a:ea typeface="EB Garamond"/>
                <a:cs typeface="EB Garamond"/>
                <a:sym typeface="EB Garamond"/>
              </a:rPr>
              <a:t>totalmente diferentes</a:t>
            </a:r>
            <a:endParaRPr sz="18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¿Para qué sirve revisar las frecuencias?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7" name="Google Shape;317;p49"/>
          <p:cNvSpPr txBox="1"/>
          <p:nvPr>
            <p:ph idx="1" type="body"/>
          </p:nvPr>
        </p:nvSpPr>
        <p:spPr>
          <a:xfrm>
            <a:off x="311700" y="1152475"/>
            <a:ext cx="451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3. Permite observar si existen valores con una tasa muy baja de respuesta.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4. Permite chequear errores, valores fuera de rango, valores ausentes, valores missing.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8" name="Google Shape;31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19" name="Google Shape;31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9850" y="1152475"/>
            <a:ext cx="3500049" cy="363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0"/>
          <p:cNvSpPr txBox="1"/>
          <p:nvPr>
            <p:ph type="title"/>
          </p:nvPr>
        </p:nvSpPr>
        <p:spPr>
          <a:xfrm>
            <a:off x="311700" y="1721525"/>
            <a:ext cx="8520600" cy="169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240">
                <a:latin typeface="EB Garamond"/>
                <a:ea typeface="EB Garamond"/>
                <a:cs typeface="EB Garamond"/>
                <a:sym typeface="EB Garamond"/>
              </a:rPr>
              <a:t>Es un análisis preliminar, por sí solas las frecuentas no dicen mucho con respecto a las preguntas de investigación, pero </a:t>
            </a:r>
            <a:r>
              <a:rPr b="1" lang="es" sz="2240">
                <a:solidFill>
                  <a:srgbClr val="262626"/>
                </a:solidFill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sí sobre la calidad de las variables</a:t>
            </a:r>
            <a:r>
              <a:rPr lang="es" sz="2240">
                <a:latin typeface="EB Garamond"/>
                <a:ea typeface="EB Garamond"/>
                <a:cs typeface="EB Garamond"/>
                <a:sym typeface="EB Garamond"/>
              </a:rPr>
              <a:t> de la matriz de datos y nos permiten conocer cómo éstas se distribuyen en la muestra.</a:t>
            </a:r>
            <a:endParaRPr sz="224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25" name="Google Shape;32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Tabla de frecuencias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31" name="Google Shape;331;p51"/>
          <p:cNvSpPr txBox="1"/>
          <p:nvPr>
            <p:ph idx="1" type="body"/>
          </p:nvPr>
        </p:nvSpPr>
        <p:spPr>
          <a:xfrm>
            <a:off x="311700" y="1152475"/>
            <a:ext cx="403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lt2"/>
                </a:solidFill>
                <a:highlight>
                  <a:schemeClr val="accent5"/>
                </a:highlight>
                <a:latin typeface="EB Garamond"/>
                <a:ea typeface="EB Garamond"/>
                <a:cs typeface="EB Garamond"/>
                <a:sym typeface="EB Garamond"/>
              </a:rPr>
              <a:t>Frecuencia absoluta</a:t>
            </a:r>
            <a:r>
              <a:rPr lang="es" sz="1500">
                <a:latin typeface="EB Garamond"/>
                <a:ea typeface="EB Garamond"/>
                <a:cs typeface="EB Garamond"/>
                <a:sym typeface="EB Garamond"/>
              </a:rPr>
              <a:t>: conteo de los datos para cada categoría de respuesta.</a:t>
            </a:r>
            <a:endParaRPr sz="15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lt2"/>
                </a:solidFill>
                <a:highlight>
                  <a:srgbClr val="A64D79"/>
                </a:highlight>
                <a:latin typeface="EB Garamond"/>
                <a:ea typeface="EB Garamond"/>
                <a:cs typeface="EB Garamond"/>
                <a:sym typeface="EB Garamond"/>
              </a:rPr>
              <a:t>Porcentaje</a:t>
            </a:r>
            <a:r>
              <a:rPr lang="es" sz="1500">
                <a:latin typeface="EB Garamond"/>
                <a:ea typeface="EB Garamond"/>
                <a:cs typeface="EB Garamond"/>
                <a:sym typeface="EB Garamond"/>
              </a:rPr>
              <a:t>: frecuencia relativa en relación al total de los casos (considera valores perdidos o missing). </a:t>
            </a:r>
            <a:endParaRPr sz="15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lt2"/>
                </a:solidFill>
                <a:highlight>
                  <a:srgbClr val="0B6374"/>
                </a:highlight>
                <a:latin typeface="EB Garamond"/>
                <a:ea typeface="EB Garamond"/>
                <a:cs typeface="EB Garamond"/>
                <a:sym typeface="EB Garamond"/>
              </a:rPr>
              <a:t>Porcentaje válido</a:t>
            </a:r>
            <a:r>
              <a:rPr lang="es" sz="1500">
                <a:latin typeface="EB Garamond"/>
                <a:ea typeface="EB Garamond"/>
                <a:cs typeface="EB Garamond"/>
                <a:sym typeface="EB Garamond"/>
              </a:rPr>
              <a:t>: frecuencia relativa en relación al total de los casos válidos (sin perdidos) para esa variable. Este es el que se interpreta.</a:t>
            </a:r>
            <a:endParaRPr sz="15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lt2"/>
                </a:solidFill>
                <a:highlight>
                  <a:schemeClr val="accent3"/>
                </a:highlight>
                <a:latin typeface="EB Garamond"/>
                <a:ea typeface="EB Garamond"/>
                <a:cs typeface="EB Garamond"/>
                <a:sym typeface="EB Garamond"/>
              </a:rPr>
              <a:t>Porcentaje acumulado</a:t>
            </a:r>
            <a:r>
              <a:rPr lang="es" sz="1500">
                <a:latin typeface="EB Garamond"/>
                <a:ea typeface="EB Garamond"/>
                <a:cs typeface="EB Garamond"/>
                <a:sym typeface="EB Garamond"/>
              </a:rPr>
              <a:t>: frecuencia relativa acumulada respecto a la categoría anterior. Útil con variables ordinales o de pocos atributos.</a:t>
            </a:r>
            <a:endParaRPr sz="15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32" name="Google Shape;33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33" name="Google Shape;33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4050" y="1785950"/>
            <a:ext cx="4218251" cy="173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Histograma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39" name="Google Shape;339;p5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highlight>
                <a:schemeClr val="accent5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EB Garamond"/>
              <a:buChar char="●"/>
            </a:pPr>
            <a:r>
              <a:rPr lang="es">
                <a:solidFill>
                  <a:schemeClr val="lt2"/>
                </a:solidFill>
                <a:highlight>
                  <a:schemeClr val="accent5"/>
                </a:highlight>
                <a:latin typeface="EB Garamond"/>
                <a:ea typeface="EB Garamond"/>
                <a:cs typeface="EB Garamond"/>
                <a:sym typeface="EB Garamond"/>
              </a:rPr>
              <a:t>Eje horizontal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: puntuaciones de una variable cuantitativa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EB Garamond"/>
              <a:buChar char="●"/>
            </a:pPr>
            <a:r>
              <a:rPr lang="es">
                <a:solidFill>
                  <a:schemeClr val="lt2"/>
                </a:solidFill>
                <a:highlight>
                  <a:srgbClr val="A64D79"/>
                </a:highlight>
                <a:latin typeface="EB Garamond"/>
                <a:ea typeface="EB Garamond"/>
                <a:cs typeface="EB Garamond"/>
                <a:sym typeface="EB Garamond"/>
              </a:rPr>
              <a:t>Eje vertical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: frecuencia de cada puntuación.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40" name="Google Shape;340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41" name="Google Shape;34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025" y="1254450"/>
            <a:ext cx="3932050" cy="270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Histograma: ejemplos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47" name="Google Shape;347;p5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highlight>
                <a:schemeClr val="accent5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EB Garamond"/>
              <a:buChar char="●"/>
            </a:pPr>
            <a:r>
              <a:rPr lang="es">
                <a:solidFill>
                  <a:schemeClr val="lt2"/>
                </a:solidFill>
                <a:highlight>
                  <a:schemeClr val="accent5"/>
                </a:highlight>
                <a:latin typeface="EB Garamond"/>
                <a:ea typeface="EB Garamond"/>
                <a:cs typeface="EB Garamond"/>
                <a:sym typeface="EB Garamond"/>
              </a:rPr>
              <a:t>Eje horizontal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: puntuaciones de una variable cuantitativa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EB Garamond"/>
              <a:buChar char="●"/>
            </a:pPr>
            <a:r>
              <a:rPr lang="es">
                <a:solidFill>
                  <a:schemeClr val="lt2"/>
                </a:solidFill>
                <a:highlight>
                  <a:srgbClr val="A64D79"/>
                </a:highlight>
                <a:latin typeface="EB Garamond"/>
                <a:ea typeface="EB Garamond"/>
                <a:cs typeface="EB Garamond"/>
                <a:sym typeface="EB Garamond"/>
              </a:rPr>
              <a:t>Eje vertical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: frecuencia de cada puntuación.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48" name="Google Shape;34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49" name="Google Shape;34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025" y="1254450"/>
            <a:ext cx="3932050" cy="270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¿Para qué sirve el Histograma?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55" name="Google Shape;355;p54"/>
          <p:cNvSpPr txBox="1"/>
          <p:nvPr>
            <p:ph idx="1" type="body"/>
          </p:nvPr>
        </p:nvSpPr>
        <p:spPr>
          <a:xfrm>
            <a:off x="311700" y="1152475"/>
            <a:ext cx="486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Con este gráfico observamos rápidamente: valores fuera de rango, extremos, ausentes.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Nos da un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criterio visual para pensar en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recodificación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de la variable.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Podemos apreciar la 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forma de la distribución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56" name="Google Shape;356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57" name="Google Shape;35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1075" y="1377963"/>
            <a:ext cx="3441375" cy="2686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Métodos Cuantitativos</a:t>
            </a:r>
            <a:endParaRPr/>
          </a:p>
        </p:txBody>
      </p:sp>
      <p:sp>
        <p:nvSpPr>
          <p:cNvPr id="363" name="Google Shape;363;p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/>
              <a:t>Clase 06: Unidad III. Estadística Descriptiva y Análisis descriptivo univariado</a:t>
            </a:r>
            <a:endParaRPr sz="2600"/>
          </a:p>
        </p:txBody>
      </p:sp>
      <p:sp>
        <p:nvSpPr>
          <p:cNvPr id="364" name="Google Shape;364;p55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65" name="Google Shape;365;p55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Ayudante: </a:t>
            </a:r>
            <a:r>
              <a:rPr lang="es" sz="1405"/>
              <a:t>Katherine Aravena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2do semestre 202</a:t>
            </a:r>
            <a:r>
              <a:rPr lang="es" sz="1405"/>
              <a:t>6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66" name="Google Shape;366;p55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las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