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EB Garamond SemiBold"/>
      <p:regular r:id="rId60"/>
      <p:bold r:id="rId61"/>
      <p:italic r:id="rId62"/>
      <p:boldItalic r:id="rId63"/>
    </p:embeddedFont>
    <p:embeddedFont>
      <p:font typeface="EB Garamond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E871EB-BF2E-482C-B1C3-F980018269D7}">
  <a:tblStyle styleId="{1AE871EB-BF2E-482C-B1C3-F980018269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EBGaramondSemiBold-italic.fntdata"/><Relationship Id="rId61" Type="http://schemas.openxmlformats.org/officeDocument/2006/relationships/font" Target="fonts/EBGaramondSemiBold-bold.fntdata"/><Relationship Id="rId20" Type="http://schemas.openxmlformats.org/officeDocument/2006/relationships/slide" Target="slides/slide14.xml"/><Relationship Id="rId64" Type="http://schemas.openxmlformats.org/officeDocument/2006/relationships/font" Target="fonts/EBGaramond-regular.fntdata"/><Relationship Id="rId63" Type="http://schemas.openxmlformats.org/officeDocument/2006/relationships/font" Target="fonts/EBGaramondSemiBold-boldItalic.fntdata"/><Relationship Id="rId22" Type="http://schemas.openxmlformats.org/officeDocument/2006/relationships/slide" Target="slides/slide16.xml"/><Relationship Id="rId66" Type="http://schemas.openxmlformats.org/officeDocument/2006/relationships/font" Target="fonts/EBGaramond-italic.fntdata"/><Relationship Id="rId21" Type="http://schemas.openxmlformats.org/officeDocument/2006/relationships/slide" Target="slides/slide15.xml"/><Relationship Id="rId65" Type="http://schemas.openxmlformats.org/officeDocument/2006/relationships/font" Target="fonts/EBGaramon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EBGaramond-boldItalic.fntdata"/><Relationship Id="rId60" Type="http://schemas.openxmlformats.org/officeDocument/2006/relationships/font" Target="fonts/EBGaramondSemiBold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ad2387c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ad2387c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b7fef03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b7fef03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b5017cc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b5017cc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b5017cca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b5017cca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5017cca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5017cca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5017cca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b5017cca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5017cca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b5017cca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b5017cca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b5017cca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5017cca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b5017cca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b5017cca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b5017cca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b5017cca9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b5017cca9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b5017cca9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b5017cca9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5017cca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b5017cca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b5017cca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b5017cca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b5017cca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b5017cca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b5017cca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b5017cca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b5017cca9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b5017cca9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b5017cca9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b5017cca9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b5017cca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b5017cca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b5017cca9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b5017cca9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b5017cca9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9b5017cca9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b5017cca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b5017cca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b5017cca9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9b5017cca9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35b15145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d35b15145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b5017cca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b5017cca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b5017cca9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b5017cca9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b5017cca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b5017cca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b5017cca9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b5017cca9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b5017cca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b5017cca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b5017cca9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b5017cca9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b5017cca9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b5017cca9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b5017cca9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b5017cca9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b5017cca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9b5017cca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9b5017cca9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9b5017cca9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b5017cca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b5017cca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28707db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28707db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28707db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e28707db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28707dba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28707db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28707dba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e28707dba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28707dba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28707dba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28707dba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28707dba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28707dba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e28707dba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28707dba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e28707dba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28707dba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e28707dba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28707dba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e28707dba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28707dba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28707dba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28707dba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28707dba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b9773bd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9b9773bd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9b5017cca9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9b5017cca9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9b5017cca9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9b5017cca9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d35b15145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d35b15145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B Garamond SemiBold"/>
              <a:buNone/>
              <a:defRPr sz="2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Char char="●"/>
              <a:defRPr sz="20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■"/>
              <a:defRPr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gif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gif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Métodos Cuantitativos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Clase 07: Unidad III. </a:t>
            </a:r>
            <a:r>
              <a:rPr lang="es" sz="26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Estadística Descriptiva y Análisis descriptivo univariado</a:t>
            </a:r>
            <a:endParaRPr sz="26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Ayudante: </a:t>
            </a:r>
            <a:r>
              <a:rPr lang="es" sz="1405">
                <a:solidFill>
                  <a:schemeClr val="dk1"/>
                </a:solidFill>
              </a:rPr>
              <a:t>Katherine Aravena Herrera</a:t>
            </a:r>
            <a:endParaRPr sz="1405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2do semestre 202</a:t>
            </a:r>
            <a:r>
              <a:rPr lang="es" sz="1405">
                <a:solidFill>
                  <a:schemeClr val="dk1"/>
                </a:solidFill>
              </a:rPr>
              <a:t>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u="sng">
                <a:solidFill>
                  <a:schemeClr val="hlink"/>
                </a:solidFill>
                <a:hlinkClick r:id="rId3"/>
              </a:rPr>
              <a:t>daniela.olivares2@mail.udp.cl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Unidad III. Estadística Descriptiva y Análisis descriptivo univariado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III.4. Medidas de Tendencia Central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III.5. Medidas de Dispersión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07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11">
                <a:highlight>
                  <a:srgbClr val="AAD5D4"/>
                </a:highlight>
              </a:rPr>
              <a:t>¿En cuál parte del curso vamos?</a:t>
            </a:r>
            <a:endParaRPr sz="2811">
              <a:highlight>
                <a:srgbClr val="AAD5D4"/>
              </a:highlight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79" name="Google Shape;79;p16"/>
          <p:cNvGrpSpPr/>
          <p:nvPr/>
        </p:nvGrpSpPr>
        <p:grpSpPr>
          <a:xfrm>
            <a:off x="4877071" y="1189775"/>
            <a:ext cx="4061383" cy="3483050"/>
            <a:chOff x="5632317" y="1189775"/>
            <a:chExt cx="3305700" cy="3483050"/>
          </a:xfrm>
        </p:grpSpPr>
        <p:sp>
          <p:nvSpPr>
            <p:cNvPr id="80" name="Google Shape;80;p1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III</a:t>
              </a:r>
              <a:endParaRPr b="1" sz="20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EB Garamond"/>
                  <a:ea typeface="EB Garamond"/>
                  <a:cs typeface="EB Garamond"/>
                  <a:sym typeface="EB Garamond"/>
                </a:rPr>
                <a:t>Estadística Descriptiva y Análisis descriptivo univariado:</a:t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III.1. Noción de distribución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III.2. Tipos de análisis estadístico univariado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III.3. Frecuencias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III.4. Medidas de Tendencia Central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III.5. Medidas de Dispersión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82" name="Google Shape;82;p16"/>
          <p:cNvGrpSpPr/>
          <p:nvPr/>
        </p:nvGrpSpPr>
        <p:grpSpPr>
          <a:xfrm>
            <a:off x="0" y="1190002"/>
            <a:ext cx="2669397" cy="3688923"/>
            <a:chOff x="0" y="1189989"/>
            <a:chExt cx="3546900" cy="3688923"/>
          </a:xfrm>
        </p:grpSpPr>
        <p:sp>
          <p:nvSpPr>
            <p:cNvPr id="83" name="Google Shape;83;p16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392772" y="2057113"/>
              <a:ext cx="2647800" cy="28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Introducción a la Investigación Social Cuantitativa: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I.1. Fundamentos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I.2. Características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I.3. Construcción de un problema de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I.4. Conceptualización de variables e indicadores y operacionalización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2288240" y="1189775"/>
            <a:ext cx="2936123" cy="3483050"/>
            <a:chOff x="2944204" y="1189775"/>
            <a:chExt cx="3305700" cy="3483050"/>
          </a:xfrm>
        </p:grpSpPr>
        <p:sp>
          <p:nvSpPr>
            <p:cNvPr id="86" name="Google Shape;86;p16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3373342" y="2057125"/>
              <a:ext cx="2485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La estadística en el contexto de la investigación social: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II.1. Elaboración de una matriz de datos y su libro de códigos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II.2. Nociones de Universo, Población y Muestra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II.3. Técnicas de recolección y procesamiento de datos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666666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88" name="Google Shape;88;p16"/>
          <p:cNvSpPr/>
          <p:nvPr/>
        </p:nvSpPr>
        <p:spPr>
          <a:xfrm rot="5400000">
            <a:off x="6703325" y="620775"/>
            <a:ext cx="571500" cy="280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AAD5D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5945500" y="2396000"/>
            <a:ext cx="2276400" cy="1228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96" name="Google Shape;96;p17"/>
          <p:cNvGrpSpPr/>
          <p:nvPr/>
        </p:nvGrpSpPr>
        <p:grpSpPr>
          <a:xfrm>
            <a:off x="706750" y="1263275"/>
            <a:ext cx="7400897" cy="3494248"/>
            <a:chOff x="3065" y="284906"/>
            <a:chExt cx="6089770" cy="3494248"/>
          </a:xfrm>
        </p:grpSpPr>
        <p:sp>
          <p:nvSpPr>
            <p:cNvPr id="97" name="Google Shape;97;p17"/>
            <p:cNvSpPr/>
            <p:nvPr/>
          </p:nvSpPr>
          <p:spPr>
            <a:xfrm rot="5400000">
              <a:off x="-278266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306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DDEAF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3230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Teoría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 rot="5400000">
              <a:off x="-278266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306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3230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Problema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345671" y="2952057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306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9FC5E8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Pregunta, objetivos e hipótesis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 rot="-5400000">
              <a:off x="1934668" y="2328119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 rot="-5400000">
              <a:off x="1934668" y="1080195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2216050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E75B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Operacionalización y encuesta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558656" y="456209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216050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Levantamiento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 rot="5400000">
              <a:off x="4147703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442903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Matriz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 rot="5400000">
              <a:off x="4147703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42903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73763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Análisis de datos</a:t>
              </a:r>
              <a:endParaRPr b="1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442903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6262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Conclusiones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2216050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6FA8DC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Metodología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63" y="1142200"/>
            <a:ext cx="7211675" cy="37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 rot="5400142">
            <a:off x="2044187" y="2592992"/>
            <a:ext cx="1304910" cy="1884276"/>
          </a:xfrm>
          <a:prstGeom prst="flowChartTerminator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100" y="364875"/>
            <a:ext cx="6443799" cy="429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324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III.4. Medidas de Tendencia Central</a:t>
            </a:r>
            <a:endParaRPr sz="324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555600"/>
            <a:ext cx="4599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Medidas de Tendencia Central</a:t>
            </a:r>
            <a:endParaRPr sz="2800"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311700" y="1389600"/>
            <a:ext cx="38097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Son las medidas descriptivas que con un valor buscan resumir los datos mostrando el “centro” de la distribución.</a:t>
            </a:r>
            <a:endParaRPr sz="20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/>
              <a:t>La usaremos principalmente para </a:t>
            </a:r>
            <a:r>
              <a:rPr b="1" lang="es" sz="2000"/>
              <a:t>variables numéricas</a:t>
            </a:r>
            <a:r>
              <a:rPr lang="es" sz="2000"/>
              <a:t> (de intervalo y razón), y en algunos casos para </a:t>
            </a:r>
            <a:r>
              <a:rPr b="1" lang="es" sz="2000"/>
              <a:t>variables ordinales, </a:t>
            </a:r>
            <a:r>
              <a:rPr b="1" lang="es" sz="2000">
                <a:solidFill>
                  <a:srgbClr val="980000"/>
                </a:solidFill>
              </a:rPr>
              <a:t>ojo</a:t>
            </a:r>
            <a:r>
              <a:rPr lang="es" sz="2000"/>
              <a:t> no siempre.</a:t>
            </a:r>
            <a:endParaRPr sz="2000"/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204" y="0"/>
            <a:ext cx="35202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52475"/>
            <a:ext cx="8520600" cy="15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la </a:t>
            </a:r>
            <a:r>
              <a:rPr lang="es">
                <a:highlight>
                  <a:srgbClr val="AAD5D4"/>
                </a:highlight>
              </a:rPr>
              <a:t>suma de todas las puntuaciones de la variable </a:t>
            </a:r>
            <a:r>
              <a:rPr i="1" lang="es">
                <a:highlight>
                  <a:srgbClr val="AAD5D4"/>
                </a:highlight>
              </a:rPr>
              <a:t>X</a:t>
            </a:r>
            <a:r>
              <a:rPr lang="es">
                <a:highlight>
                  <a:srgbClr val="AAD5D4"/>
                </a:highlight>
              </a:rPr>
              <a:t>, dividida por el número de puntuaciones</a:t>
            </a:r>
            <a:r>
              <a:rPr lang="es"/>
              <a:t> observadas.</a:t>
            </a:r>
            <a:endParaRPr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Se conoce como Media Aritmética o Promedio y se representa con una </a:t>
            </a:r>
            <a:endParaRPr/>
          </a:p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51" name="Google Shape;151;p22" title="{&quot;red&quot;:0,&quot;green&quot;:0,&quot;blue&quot;:0,&quot;origURL&quot;:&quot;https://www.codecogs.com/eqnedit.php?latex=%5Cbar%7Bx%7D%20%3D%20%5Cfrac%7Bx_1%20%2B%20x_2%20%2B%20%5Ccdots%20%2B%20x_n%7D%7Bn%7D%20%3D%20%5Cfrac%7B%5Csum_%7Bi%3D1%7D%5E%7Bn%7D%20x_i%7D%7Bn%7D#0&quot;,&quot;size&quot;:20,&quot;width&quot;:504.66141732283467,&quot;height&quot;:70.464566929133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298" y="2929725"/>
            <a:ext cx="5591025" cy="8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 title="{&quot;red&quot;:0,&quot;green&quot;:0,&quot;blue&quot;:0,&quot;origURL&quot;:&quot;https://www.codecogs.com/eqnedit.php?latex=%5Cbar%7Bx%7D#0&quot;,&quot;size&quot;:20,&quot;width&quot;:670.9133858267717,&quot;height&quot;:120.8976377952755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2575" y="1886200"/>
            <a:ext cx="252950" cy="30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/>
              <a:t>No</a:t>
            </a:r>
            <a:r>
              <a:rPr lang="es"/>
              <a:t> se deben considerar los </a:t>
            </a:r>
            <a:r>
              <a:rPr b="1" lang="es"/>
              <a:t>valores perdidos o no válidos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 media es muy </a:t>
            </a:r>
            <a:r>
              <a:rPr b="1" lang="es"/>
              <a:t>sensible a los valores extremos</a:t>
            </a:r>
            <a:r>
              <a:rPr lang="es"/>
              <a:t> y a los valores fuera de rango, sobre todo en muestra pequeñas.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Puede servir revisar mis observaciones por medio de un histograma.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Los promedios pueden “esconder” información: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“Hay dos panes. Usted se come dos. Yo ninguno. Consumo promedio: un pan por persona” – Nicanor Parra.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El promedio es más representativo si las observaciones presentan una distribución normal.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Se usa para </a:t>
            </a:r>
            <a:r>
              <a:rPr b="1" lang="es"/>
              <a:t>variables numéricas</a:t>
            </a:r>
            <a:r>
              <a:rPr lang="es"/>
              <a:t> (intervalo y razón) y en algunas variables ordinales cuando cumplen con: tener al menos 5 categorías y ser normales.</a:t>
            </a:r>
            <a:endParaRPr/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Ejemplo:</a:t>
            </a:r>
            <a:endParaRPr/>
          </a:p>
        </p:txBody>
      </p:sp>
      <p:sp>
        <p:nvSpPr>
          <p:cNvPr id="166" name="Google Shape;16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25" y="1929175"/>
            <a:ext cx="8456974" cy="14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4981200" y="2349425"/>
            <a:ext cx="3211200" cy="7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00"/>
              <a:t>7.0 + 6.5 + 6.1 + 3.8 + 2.0 + 5.1 + 2.1 + 4.7 + 5.5 + 4.9 + 6.6 + 5.1</a:t>
            </a:r>
            <a:endParaRPr sz="1700"/>
          </a:p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175" name="Google Shape;175;p25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pic>
        <p:nvPicPr>
          <p:cNvPr id="176" name="Google Shape;176;p25" title="{&quot;red&quot;:0,&quot;green&quot;:0,&quot;blue&quot;:0,&quot;origURL&quot;:&quot;https://www.codecogs.com/eqnedit.php?latex=%5Cbar%7Bx%7D%20%3D%20%5Cfrac%7Bx_1%20%2B%20x_2%20%2B%20%5Ccdots%20%2B%20x_n%7D%7Bn%7D%20%3D%20%5Cfrac%7B%5Csum_%7Bi%3D1%7D%5E%7Bn%7D%20x_i%7D%7Bn%7D#0&quot;,&quot;size&quot;:20,&quot;width&quot;:504.66141732283467,&quot;height&quot;:70.464566929133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843" y="1240275"/>
            <a:ext cx="383470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5" title="{&quot;red&quot;:0,&quot;green&quot;:0,&quot;blue&quot;:0,&quot;origURL&quot;:&quot;https://www.codecogs.com/eqnedit.php?latex=%5Cbar%7Bx%7D%20%3D%20#0&quot;,&quot;size&quot;:20,&quot;width&quot;:51.99212598425197,&quot;height&quot;:30.99212598425196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875" y="2873275"/>
            <a:ext cx="432435" cy="1695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5"/>
          <p:cNvCxnSpPr/>
          <p:nvPr/>
        </p:nvCxnSpPr>
        <p:spPr>
          <a:xfrm>
            <a:off x="5008050" y="3074825"/>
            <a:ext cx="32088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5"/>
          <p:cNvSpPr txBox="1"/>
          <p:nvPr/>
        </p:nvSpPr>
        <p:spPr>
          <a:xfrm>
            <a:off x="6233450" y="3139325"/>
            <a:ext cx="5487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EB Garamond"/>
                <a:ea typeface="EB Garamond"/>
                <a:cs typeface="EB Garamond"/>
                <a:sym typeface="EB Garamond"/>
              </a:rPr>
              <a:t>12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0" name="Google Shape;180;p25" title="{&quot;red&quot;:0,&quot;green&quot;:0,&quot;blue&quot;:0,&quot;origURL&quot;:&quot;https://www.codecogs.com/eqnedit.php?latex=%5Cbar%7Bx%7D%20%3D%20#0&quot;,&quot;size&quot;:20,&quot;width&quot;:51.99212598425197,&quot;height&quot;:30.99212598425196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863" y="3911600"/>
            <a:ext cx="432435" cy="16954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 txBox="1"/>
          <p:nvPr/>
        </p:nvSpPr>
        <p:spPr>
          <a:xfrm>
            <a:off x="4981200" y="3776175"/>
            <a:ext cx="807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EB Garamond"/>
                <a:ea typeface="EB Garamond"/>
                <a:cs typeface="EB Garamond"/>
                <a:sym typeface="EB Garamond"/>
              </a:rPr>
              <a:t>4.95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</a:t>
            </a:r>
            <a:endParaRPr/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88" name="Google Shape;188;p26" title="{&quot;red&quot;:0,&quot;green&quot;:0,&quot;blue&quot;:0,&quot;origURL&quot;:&quot;https://www.codecogs.com/eqnedit.php?latex=%5Cbar%7Bx%7D%20%3D%20%5Cfrac%7Bx_1%20%2B%20x_2%20%2B%20%5Ccdots%20%2B%20x_n%7D%7Bn%7D%20%3D%20%5Cfrac%7B%5Csum_%7Bi%3D1%7D%5E%7Bn%7D%20x_i%7D%7Bn%7D#0&quot;,&quot;size&quot;:20,&quot;width&quot;:504.66141732283467,&quot;height&quot;:70.464566929133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968" y="1530525"/>
            <a:ext cx="383470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 title="{&quot;red&quot;:0,&quot;green&quot;:0,&quot;blue&quot;:0,&quot;origURL&quot;:&quot;https://www.codecogs.com/eqnedit.php?latex=%5Cbar%7Bx%7D%20%3D%20#0&quot;,&quot;size&quot;:20,&quot;width&quot;:51.99212598425197,&quot;height&quot;:30.99212598425196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250" y="2841025"/>
            <a:ext cx="432435" cy="16954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4023300" y="1146775"/>
            <a:ext cx="14361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Ejercicio:</a:t>
            </a:r>
            <a:endParaRPr sz="1800">
              <a:highlight>
                <a:srgbClr val="FDBF41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1" name="Google Shape;191;p26" title="{&quot;red&quot;:0,&quot;green&quot;:0,&quot;blue&quot;:0,&quot;origURL&quot;:&quot;https://www.codecogs.com/eqnedit.php?latex=%5Cbar%7Bx%7D%20%3D%20#0&quot;,&quot;size&quot;:20,&quot;width&quot;:51.99212598425197,&quot;height&quot;:30.99212598425196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238" y="3935800"/>
            <a:ext cx="432435" cy="16954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6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Mediana</a:t>
            </a:r>
            <a:endParaRPr/>
          </a:p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Divide por la mitad el número total de puntuaciones de un variable X en una muestra.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>
                <a:highlight>
                  <a:srgbClr val="AAD5D4"/>
                </a:highlight>
              </a:rPr>
              <a:t>Sobre la mediana se encuentra la mitad de los casos y bajo la mediana se encuentra la otra mitad</a:t>
            </a:r>
            <a:r>
              <a:rPr b="1" lang="es"/>
              <a:t>.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Corresponde al percentil 50 de los casos, el cálculo de la mediana solo exige ordinalidad en las puntuaciones.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Se puede aplicar tanto a variables ordinales como de intervalo o de razón.</a:t>
            </a:r>
            <a:endParaRPr/>
          </a:p>
        </p:txBody>
      </p:sp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Mediana</a:t>
            </a:r>
            <a:endParaRPr/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Ordenar las puntuaciones de menor a mayor.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Dividir el tamaño de la muestra (n) en dos: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Si </a:t>
            </a:r>
            <a:r>
              <a:rPr b="1" lang="es"/>
              <a:t>n es impar</a:t>
            </a:r>
            <a:r>
              <a:rPr lang="es"/>
              <a:t>, el valor de la mediana será un puntuación real de X en la muestra.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Si </a:t>
            </a:r>
            <a:r>
              <a:rPr b="1" lang="es"/>
              <a:t>n es par</a:t>
            </a:r>
            <a:r>
              <a:rPr lang="es"/>
              <a:t>, el valor de la mediana será la media entre las dos puntuaciones ubicadas en la mitad.</a:t>
            </a:r>
            <a:endParaRPr/>
          </a:p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07" name="Google Shape;207;p28" title="{&quot;red&quot;:0,&quot;green&quot;:0,&quot;blue&quot;:0,&quot;origURL&quot;:&quot;http://www.texrendr.com/?eqn=%0A%5Ctilde%7Bx%7D%20%3D%0A%5Cbegin%7Bcases%7D%0Ax_%7B%5Cleft(%5Cfrac%7Bn%2B1%7D%7B2%7D%5Cright)%7D%2C%20%26%20%5Ctext%7Bsi%20%7D%20n%20%5Ctext%7B%20es%20impar%7D%20%5C%5C%0A%5Cdfrac%7Bx_%7B%5Cleft(%5Cfrac%7Bn%7D%7B2%7D%5Cright)%7D%20%2B%20x_%7B%5Cleft(%5Cfrac%7Bn%7D%7B2%7D%2B1%5Cright)%7D%7D%7B2%7D%2C%20%26%20%5Ctext%7Bsi%20%7D%20n%20%5Ctext%7B%20es%20par%7D%0A%5Cend%7Bcases%7D%0A#0&quot;,&quot;size&quot;:20,&quot;width&quot;:542.7637795275591,&quot;height&quot;:109.1811023622047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950" y="3271800"/>
            <a:ext cx="4108099" cy="10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Mediana</a:t>
            </a:r>
            <a:endParaRPr/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Al contrario de la media, la mediana es insensible a los valores extremos de las puntuaciones en una distribución.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sensible a cualquier cambio en el tamaño de la muestra: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Aumentar n en 1 desplaza la mediana en 1 lugar de ubicación, lo que puede significar otro valor.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En el caso </a:t>
            </a:r>
            <a:r>
              <a:rPr b="1" lang="es"/>
              <a:t>variables ordinales</a:t>
            </a:r>
            <a:r>
              <a:rPr lang="es"/>
              <a:t> en la tabla de frecuencias, observamos el porcentaje acumulado, y aquel valor que incluye el 50% decimos que es el valor de la mediana.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 mediana es la MTC más útil cuando la variable tiene un distribución sesgada.</a:t>
            </a:r>
            <a:endParaRPr/>
          </a:p>
        </p:txBody>
      </p:sp>
      <p:sp>
        <p:nvSpPr>
          <p:cNvPr id="214" name="Google Shape;2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Mediana</a:t>
            </a:r>
            <a:endParaRPr/>
          </a:p>
        </p:txBody>
      </p:sp>
      <p:sp>
        <p:nvSpPr>
          <p:cNvPr id="220" name="Google Shape;22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Ejemplo:</a:t>
            </a:r>
            <a:endParaRPr/>
          </a:p>
        </p:txBody>
      </p:sp>
      <p:sp>
        <p:nvSpPr>
          <p:cNvPr id="221" name="Google Shape;22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600" y="1152475"/>
            <a:ext cx="6591675" cy="37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Mediana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3516600" y="1212650"/>
            <a:ext cx="5315700" cy="7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700"/>
              <a:t>Primero: Ordenar puntuaciones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s" sz="1700">
                <a:solidFill>
                  <a:schemeClr val="dk1"/>
                </a:solidFill>
              </a:rPr>
              <a:t>2.0, 2.1, </a:t>
            </a:r>
            <a:r>
              <a:rPr lang="es" sz="1700"/>
              <a:t>3.8, 4.7, </a:t>
            </a:r>
            <a:r>
              <a:rPr lang="es" sz="1700">
                <a:solidFill>
                  <a:schemeClr val="dk1"/>
                </a:solidFill>
              </a:rPr>
              <a:t>4.9, 5.1,  5.1, </a:t>
            </a:r>
            <a:r>
              <a:rPr lang="es" sz="1700"/>
              <a:t>5.5, </a:t>
            </a:r>
            <a:r>
              <a:rPr lang="es" sz="1700">
                <a:solidFill>
                  <a:schemeClr val="dk1"/>
                </a:solidFill>
              </a:rPr>
              <a:t>6.1, 6.5, </a:t>
            </a:r>
            <a:r>
              <a:rPr lang="es" sz="1700"/>
              <a:t>6.6, </a:t>
            </a:r>
            <a:r>
              <a:rPr lang="es" sz="1700">
                <a:solidFill>
                  <a:schemeClr val="dk1"/>
                </a:solidFill>
              </a:rPr>
              <a:t>7.0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230" name="Google Shape;230;p31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231" name="Google Shape;231;p31"/>
          <p:cNvSpPr txBox="1"/>
          <p:nvPr>
            <p:ph idx="1" type="body"/>
          </p:nvPr>
        </p:nvSpPr>
        <p:spPr>
          <a:xfrm>
            <a:off x="3516600" y="3211100"/>
            <a:ext cx="5315700" cy="7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700"/>
              <a:t>Segundo: ya que el n es par usamos la segunda fórmula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s" sz="1700">
                <a:solidFill>
                  <a:schemeClr val="dk1"/>
                </a:solidFill>
              </a:rPr>
              <a:t>2.0, 2.1, </a:t>
            </a:r>
            <a:r>
              <a:rPr lang="es" sz="1700"/>
              <a:t>3.8, 4.7, </a:t>
            </a:r>
            <a:r>
              <a:rPr lang="es" sz="1700">
                <a:solidFill>
                  <a:schemeClr val="dk1"/>
                </a:solidFill>
              </a:rPr>
              <a:t>4.9, 5.1,  5.1, </a:t>
            </a:r>
            <a:r>
              <a:rPr lang="es" sz="1700"/>
              <a:t>5.5, </a:t>
            </a:r>
            <a:r>
              <a:rPr lang="es" sz="1700">
                <a:solidFill>
                  <a:schemeClr val="dk1"/>
                </a:solidFill>
              </a:rPr>
              <a:t>6.1, 6.5, </a:t>
            </a:r>
            <a:r>
              <a:rPr lang="es" sz="1700"/>
              <a:t>6.6, </a:t>
            </a:r>
            <a:r>
              <a:rPr lang="es" sz="1700">
                <a:solidFill>
                  <a:schemeClr val="dk1"/>
                </a:solidFill>
              </a:rPr>
              <a:t>7.0 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32" name="Google Shape;232;p31" title="{&quot;red&quot;:0,&quot;green&quot;:0,&quot;blue&quot;:0,&quot;origURL&quot;:&quot;http://www.texrendr.com/?eqn=%0A%5Ctilde%7Bx%7D%20%3D%0A%5Cbegin%7Bcases%7D%0Ax_%7B%5Cleft(%5Cfrac%7Bn%2B1%7D%7B2%7D%5Cright)%7D%2C%20%26%20%5Ctext%7Bsi%20%7D%20n%20%5Ctext%7B%20es%20impar%7D%20%5C%5C%0A%5Cdfrac%7Bx_%7B%5Cleft(%5Cfrac%7Bn%7D%7B2%7D%5Cright)%7D%20%2B%20x_%7B%5Cleft(%5Cfrac%7Bn%7D%7B2%7D%2B1%5Cright)%7D%7D%7B2%7D%2C%20%26%20%5Ctext%7Bsi%20%7D%20n%20%5Ctext%7B%20es%20par%7D%0A%5Cend%7Bcases%7D%0A#0&quot;,&quot;size&quot;:20,&quot;width&quot;:542.7637795275591,&quot;height&quot;:109.1811023622047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3050" y="2157275"/>
            <a:ext cx="3472901" cy="8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/>
          <p:nvPr/>
        </p:nvSpPr>
        <p:spPr>
          <a:xfrm>
            <a:off x="5324325" y="3661975"/>
            <a:ext cx="733800" cy="3936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4385925" y="4335250"/>
            <a:ext cx="1672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EB Garamond"/>
                <a:ea typeface="EB Garamond"/>
                <a:cs typeface="EB Garamond"/>
                <a:sym typeface="EB Garamond"/>
              </a:rPr>
              <a:t>5.1 +5.1 / 2 = 5.1</a:t>
            </a:r>
            <a:endParaRPr sz="17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35" name="Google Shape;235;p31" title="{&quot;red&quot;:0,&quot;green&quot;:0,&quot;blue&quot;:0,&quot;origURL&quot;:&quot;https://www.codecogs.com/eqnedit.php?latex=%5Ctilde%7Bx%7D%20%3D#0&quot;,&quot;size&quot;:20,&quot;width&quot;:50.503937007874015,&quot;height&quot;:25.01574803149606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550" y="4473550"/>
            <a:ext cx="43243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Mediana</a:t>
            </a:r>
            <a:endParaRPr/>
          </a:p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3516600" y="1212650"/>
            <a:ext cx="5315700" cy="7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700"/>
              <a:t>Primero: Ordenar puntuaciones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2" name="Google Shape;24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3516600" y="3211100"/>
            <a:ext cx="5315700" cy="7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700"/>
              <a:t>Segundo: elegir fórmula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44" name="Google Shape;244;p32" title="{&quot;red&quot;:0,&quot;green&quot;:0,&quot;blue&quot;:0,&quot;origURL&quot;:&quot;http://www.texrendr.com/?eqn=%0A%5Ctilde%7Bx%7D%20%3D%0A%5Cbegin%7Bcases%7D%0Ax_%7B%5Cleft(%5Cfrac%7Bn%2B1%7D%7B2%7D%5Cright)%7D%2C%20%26%20%5Ctext%7Bsi%20%7D%20n%20%5Ctext%7B%20es%20impar%7D%20%5C%5C%0A%5Cdfrac%7Bx_%7B%5Cleft(%5Cfrac%7Bn%7D%7B2%7D%5Cright)%7D%20%2B%20x_%7B%5Cleft(%5Cfrac%7Bn%7D%7B2%7D%2B1%5Cright)%7D%7D%7B2%7D%2C%20%26%20%5Ctext%7Bsi%20%7D%20n%20%5Ctext%7B%20es%20par%7D%0A%5Cend%7Bcases%7D%0A#0&quot;,&quot;size&quot;:20,&quot;width&quot;:542.7637795275591,&quot;height&quot;:109.1811023622047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3050" y="2157275"/>
            <a:ext cx="3472901" cy="8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 title="{&quot;red&quot;:0,&quot;green&quot;:0,&quot;blue&quot;:0,&quot;origURL&quot;:&quot;https://www.codecogs.com/eqnedit.php?latex=%5Ctilde%7Bx%7D%20%3D#0&quot;,&quot;size&quot;:20,&quot;width&quot;:50.503937007874015,&quot;height&quot;:25.01574803149606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550" y="4473550"/>
            <a:ext cx="432435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32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247" name="Google Shape;247;p32"/>
          <p:cNvSpPr txBox="1"/>
          <p:nvPr/>
        </p:nvSpPr>
        <p:spPr>
          <a:xfrm>
            <a:off x="3613050" y="829200"/>
            <a:ext cx="14361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Ejercicio:</a:t>
            </a:r>
            <a:endParaRPr sz="1800">
              <a:highlight>
                <a:srgbClr val="FDBF41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Moda</a:t>
            </a:r>
            <a:endParaRPr/>
          </a:p>
        </p:txBody>
      </p:sp>
      <p:sp>
        <p:nvSpPr>
          <p:cNvPr id="253" name="Google Shape;25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la puntuación que ocurre con mayor frecuencia en la distribución de una variable X.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No existe cálculo matemático, por lo que es aplicable a la variable de todos los niveles de medición: nominales, ordinales, intervalo o razón.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insensible tanto al cambio en los valores de las puntuaciones como al tamaño de la muestra.</a:t>
            </a:r>
            <a:endParaRPr/>
          </a:p>
        </p:txBody>
      </p:sp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875" y="3498650"/>
            <a:ext cx="990813" cy="10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7576" y="3540248"/>
            <a:ext cx="920875" cy="944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674" y="3565603"/>
            <a:ext cx="756579" cy="8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9502" y="3532649"/>
            <a:ext cx="1565073" cy="8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 txBox="1"/>
          <p:nvPr/>
        </p:nvSpPr>
        <p:spPr>
          <a:xfrm>
            <a:off x="2105775" y="4614625"/>
            <a:ext cx="990900" cy="3468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Unimodal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4740313" y="4614625"/>
            <a:ext cx="855300" cy="3468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Bimodal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6865488" y="4568875"/>
            <a:ext cx="1193100" cy="3468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Multi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modal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Moda</a:t>
            </a:r>
            <a:endParaRPr/>
          </a:p>
        </p:txBody>
      </p:sp>
      <p:sp>
        <p:nvSpPr>
          <p:cNvPr id="267" name="Google Shape;26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268" name="Google Shape;268;p34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269" name="Google Shape;269;p34"/>
          <p:cNvSpPr/>
          <p:nvPr/>
        </p:nvSpPr>
        <p:spPr>
          <a:xfrm>
            <a:off x="2557250" y="2953875"/>
            <a:ext cx="395100" cy="2517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2537800" y="4632225"/>
            <a:ext cx="395100" cy="2517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71" name="Google Shape;271;p34" title="{&quot;red&quot;:0,&quot;green&quot;:0,&quot;blue&quot;:0,&quot;origURL&quot;:&quot;https://www.codecogs.com/eqnedit.php?latex=M_o%20%3D%205.1#0&quot;,&quot;size&quot;:17,&quot;width&quot;:252.8503937007874,&quot;height&quot;:59.031496062992126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375" y="2349425"/>
            <a:ext cx="914876" cy="20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Moda</a:t>
            </a:r>
            <a:endParaRPr/>
          </a:p>
        </p:txBody>
      </p:sp>
      <p:sp>
        <p:nvSpPr>
          <p:cNvPr id="277" name="Google Shape;27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278" name="Google Shape;278;p35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279" name="Google Shape;279;p35"/>
          <p:cNvSpPr txBox="1"/>
          <p:nvPr/>
        </p:nvSpPr>
        <p:spPr>
          <a:xfrm>
            <a:off x="4023300" y="1146775"/>
            <a:ext cx="14361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Ejercicio:</a:t>
            </a:r>
            <a:endParaRPr sz="1800">
              <a:highlight>
                <a:srgbClr val="FDBF41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80" name="Google Shape;280;p35" title="{&quot;red&quot;:0,&quot;green&quot;:0,&quot;blue&quot;:0,&quot;origURL&quot;:&quot;https://www.codecogs.com/eqnedit.php?latex=M_o%20%3D#0&quot;,&quot;size&quot;:20,&quot;width&quot;:339.56692913385825,&quot;height&quot;:38.7874015748031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650" y="2680100"/>
            <a:ext cx="647700" cy="24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Límites de las MTC</a:t>
            </a:r>
            <a:endParaRPr/>
          </a:p>
        </p:txBody>
      </p:sp>
      <p:sp>
        <p:nvSpPr>
          <p:cNvPr id="286" name="Google Shape;2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Informar las MTC por sí solas resulta insuficiente para tener una idea clara de la forma en que se distribuyen las puntuaciones de una variable X en la muestra.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El problema es que, teniendo las mismas o MTC similares, dos distribuciones pueden ser muy diferentes.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Las MTC permiten observar si mi variable tiene una distribución normal o con sesgo en su distribución.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En una distribución normal, las 3 deberían coincidir.</a:t>
            </a:r>
            <a:endParaRPr/>
          </a:p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MTC y niveles de medición</a:t>
            </a:r>
            <a:endParaRPr/>
          </a:p>
        </p:txBody>
      </p:sp>
      <p:sp>
        <p:nvSpPr>
          <p:cNvPr id="293" name="Google Shape;29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294" name="Google Shape;294;p3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Moda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Mediana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Media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Nominal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Ordinal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⍻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Intervalar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 Razón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</a:rPr>
              <a:t>III.5. Medidas de Dispersión</a:t>
            </a:r>
            <a:endParaRPr sz="3240">
              <a:solidFill>
                <a:schemeClr val="lt2"/>
              </a:solidFill>
            </a:endParaRPr>
          </a:p>
        </p:txBody>
      </p:sp>
      <p:sp>
        <p:nvSpPr>
          <p:cNvPr id="300" name="Google Shape;30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Medidas de Dispersión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Las medidas de dispersión tratan, a través del cálculo de diferentes fórmulas, de arrojar un valor numérico que ofrezca información sobre el grado de variabilidad de una variable.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¿Qué significa que una variable varíe mucho o poco?</a:t>
            </a:r>
            <a:endParaRPr/>
          </a:p>
        </p:txBody>
      </p:sp>
      <p:sp>
        <p:nvSpPr>
          <p:cNvPr id="307" name="Google Shape;30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Rango</a:t>
            </a:r>
            <a:endParaRPr/>
          </a:p>
        </p:txBody>
      </p:sp>
      <p:sp>
        <p:nvSpPr>
          <p:cNvPr id="313" name="Google Shape;31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la </a:t>
            </a:r>
            <a:r>
              <a:rPr b="1" lang="es"/>
              <a:t>distancia existente entre las puntuaciones observadas mínima y máxima</a:t>
            </a:r>
            <a:r>
              <a:rPr lang="es"/>
              <a:t> de una variable </a:t>
            </a:r>
            <a:r>
              <a:rPr i="1" lang="es"/>
              <a:t>X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Se calcula como la diferencia entre el mínimo y el máximo más el valor de la “unidad de redondeo” de </a:t>
            </a:r>
            <a:r>
              <a:rPr i="1" lang="es"/>
              <a:t>X </a:t>
            </a:r>
            <a:r>
              <a:rPr lang="es"/>
              <a:t>(considera los límites reales de las puntuaciones).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Presenta la limitación de ser muy sensible a valores extremos.</a:t>
            </a:r>
            <a:endParaRPr/>
          </a:p>
        </p:txBody>
      </p:sp>
      <p:sp>
        <p:nvSpPr>
          <p:cNvPr id="314" name="Google Shape;31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15" name="Google Shape;315;p40" title="{&quot;red&quot;:0,&quot;green&quot;:0,&quot;blue&quot;:0,&quot;origURL&quot;:&quot;https://www.codecogs.com/eqnedit.php?latex=R%20%3D%20x_%7B%5Cmax%7D%20-%20x_%7B%5Cmin%7D#0&quot;,&quot;size&quot;:20,&quot;width&quot;:96.56692913385827,&quot;height&quot;:36.212598425196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374" y="3596250"/>
            <a:ext cx="321124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Rango</a:t>
            </a:r>
            <a:endParaRPr/>
          </a:p>
        </p:txBody>
      </p:sp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5621075" y="2486300"/>
            <a:ext cx="3211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/>
              <a:t>R</a:t>
            </a:r>
            <a:r>
              <a:rPr lang="es" sz="1700"/>
              <a:t> = 7.0 - 2.0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700"/>
              <a:t>R</a:t>
            </a:r>
            <a:r>
              <a:rPr lang="es" sz="1700"/>
              <a:t> = 5.0</a:t>
            </a:r>
            <a:endParaRPr sz="1700"/>
          </a:p>
        </p:txBody>
      </p:sp>
      <p:sp>
        <p:nvSpPr>
          <p:cNvPr id="322" name="Google Shape;32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23" name="Google Shape;323;p41" title="{&quot;red&quot;:0,&quot;green&quot;:0,&quot;blue&quot;:0,&quot;origURL&quot;:&quot;https://www.codecogs.com/eqnedit.php?latex=R%20%3D%20x_%7B%5Cmax%7D%20-%20x_%7B%5Cmin%7D#0&quot;,&quot;size&quot;:20,&quot;width&quot;:96.56692913385827,&quot;height&quot;:36.212598425196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775" y="2078700"/>
            <a:ext cx="2208650" cy="270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4" name="Google Shape;324;p41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325" name="Google Shape;325;p41"/>
          <p:cNvSpPr txBox="1"/>
          <p:nvPr/>
        </p:nvSpPr>
        <p:spPr>
          <a:xfrm>
            <a:off x="4459850" y="3598850"/>
            <a:ext cx="43725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1800">
                <a:latin typeface="EB Garamond"/>
                <a:ea typeface="EB Garamond"/>
                <a:cs typeface="EB Garamond"/>
                <a:sym typeface="EB Garamond"/>
              </a:rPr>
              <a:t>El mínimo es la nota 2 y el máximo es la nota 7.</a:t>
            </a:r>
            <a:endParaRPr i="1"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latin typeface="EB Garamond"/>
                <a:ea typeface="EB Garamond"/>
                <a:cs typeface="EB Garamond"/>
                <a:sym typeface="EB Garamond"/>
              </a:rPr>
              <a:t>El rango de la variable notas es 5 puntos.</a:t>
            </a:r>
            <a:endParaRPr i="1"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Rango</a:t>
            </a:r>
            <a:endParaRPr/>
          </a:p>
        </p:txBody>
      </p:sp>
      <p:sp>
        <p:nvSpPr>
          <p:cNvPr id="331" name="Google Shape;331;p42"/>
          <p:cNvSpPr txBox="1"/>
          <p:nvPr>
            <p:ph idx="1" type="body"/>
          </p:nvPr>
        </p:nvSpPr>
        <p:spPr>
          <a:xfrm>
            <a:off x="5621075" y="2486300"/>
            <a:ext cx="3211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R</a:t>
            </a:r>
            <a:r>
              <a:rPr lang="es"/>
              <a:t>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/>
              <a:t>R</a:t>
            </a:r>
            <a:r>
              <a:rPr lang="es"/>
              <a:t> = </a:t>
            </a:r>
            <a:endParaRPr/>
          </a:p>
        </p:txBody>
      </p:sp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3" name="Google Shape;333;p42" title="{&quot;red&quot;:0,&quot;green&quot;:0,&quot;blue&quot;:0,&quot;origURL&quot;:&quot;https://www.codecogs.com/eqnedit.php?latex=R%20%3D%20x_%7B%5Cmax%7D%20-%20x_%7B%5Cmin%7D#0&quot;,&quot;size&quot;:20,&quot;width&quot;:96.56692913385827,&quot;height&quot;:36.212598425196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650" y="2084875"/>
            <a:ext cx="2354074" cy="288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42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335" name="Google Shape;335;p42"/>
          <p:cNvSpPr txBox="1"/>
          <p:nvPr/>
        </p:nvSpPr>
        <p:spPr>
          <a:xfrm>
            <a:off x="3831050" y="1208025"/>
            <a:ext cx="1644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Varianza</a:t>
            </a:r>
            <a:endParaRPr/>
          </a:p>
        </p:txBody>
      </p:sp>
      <p:sp>
        <p:nvSpPr>
          <p:cNvPr id="341" name="Google Shape;34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>
                <a:highlight>
                  <a:srgbClr val="AAD5D4"/>
                </a:highlight>
              </a:rPr>
              <a:t>Es la variación media de las puntuaciones en la muestra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Presenta problemas cuando queremos interpretarla, ya que las puntuaciones ha sido elevadas al cuadrado. Por eso, NO puede interpretarse en la unidad de medida original.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necesario volver a una medida que sea directamente interpretable: pasar de varianza a desviación estándar. El cálculo de la DE requiere del cálculo de la varianza.</a:t>
            </a:r>
            <a:endParaRPr/>
          </a:p>
        </p:txBody>
      </p:sp>
      <p:sp>
        <p:nvSpPr>
          <p:cNvPr id="342" name="Google Shape;34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43" name="Google Shape;343;p43" title="{&quot;red&quot;:0,&quot;green&quot;:0,&quot;blue&quot;:0,&quot;origURL&quot;:&quot;https://www.codecogs.com/eqnedit.php?latex=s%5E2%20%3D%20%5Cfrac%7B%5Csum_%7Bi%3D1%7D%5E%7Bn%7D%20(x_i%20-%20%5Cbar%7Bx%7D)%5E2%7D%7Bn%20-%201%7D#0&quot;,&quot;size&quot;:20,&quot;width&quot;:134.5275590551181,&quot;height&quot;:59.2440944881889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600" y="3816500"/>
            <a:ext cx="2845650" cy="7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Varianza</a:t>
            </a:r>
            <a:endParaRPr/>
          </a:p>
        </p:txBody>
      </p:sp>
      <p:sp>
        <p:nvSpPr>
          <p:cNvPr id="349" name="Google Shape;349;p44"/>
          <p:cNvSpPr txBox="1"/>
          <p:nvPr>
            <p:ph idx="1" type="body"/>
          </p:nvPr>
        </p:nvSpPr>
        <p:spPr>
          <a:xfrm>
            <a:off x="4572000" y="2257875"/>
            <a:ext cx="42111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(7.0 - 4,95)^2 + (6.5 - 4,95)^2 +  (6.1 - 4,95)^2 + (3.8 - 4,95)^2 + (2.0 - 4,95)^2 + (5.1 - 4,95)^2 + (2.1 - 4,95)^2 + (4.7 - 4,95)^2 + (5.5 - 4,95)^2 + (4.9 - 4,95)^2 + (6.6 - 4,95)^2 + (5.1-4,95)^2</a:t>
            </a:r>
            <a:endParaRPr/>
          </a:p>
        </p:txBody>
      </p:sp>
      <p:sp>
        <p:nvSpPr>
          <p:cNvPr id="350" name="Google Shape;35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51" name="Google Shape;351;p44" title="{&quot;red&quot;:0,&quot;green&quot;:0,&quot;blue&quot;:0,&quot;origURL&quot;:&quot;https://www.codecogs.com/eqnedit.php?latex=s%5E2%20%3D%20%5Cfrac%7B%5Csum_%7Bi%3D1%7D%5E%7Bn%7D%20(x_i%20-%20%5Cbar%7Bx%7D)%5E2%7D%7Bn%20-%201%7D#0&quot;,&quot;size&quot;:20,&quot;width&quot;:134.5275590551181,&quot;height&quot;:59.2440944881889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275" y="1136125"/>
            <a:ext cx="2845650" cy="752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2" name="Google Shape;352;p44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cxnSp>
        <p:nvCxnSpPr>
          <p:cNvPr id="353" name="Google Shape;353;p44"/>
          <p:cNvCxnSpPr/>
          <p:nvPr/>
        </p:nvCxnSpPr>
        <p:spPr>
          <a:xfrm flipH="1" rot="10800000">
            <a:off x="4557300" y="3574575"/>
            <a:ext cx="4240500" cy="3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44"/>
          <p:cNvSpPr txBox="1"/>
          <p:nvPr/>
        </p:nvSpPr>
        <p:spPr>
          <a:xfrm>
            <a:off x="6507550" y="3606975"/>
            <a:ext cx="798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EB Garamond"/>
                <a:ea typeface="EB Garamond"/>
                <a:cs typeface="EB Garamond"/>
                <a:sym typeface="EB Garamond"/>
              </a:rPr>
              <a:t>12 - 1</a:t>
            </a:r>
            <a:endParaRPr sz="17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55" name="Google Shape;355;p44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344825"/>
            <a:ext cx="751250" cy="35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988050"/>
            <a:ext cx="751250" cy="35883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4"/>
          <p:cNvSpPr txBox="1"/>
          <p:nvPr/>
        </p:nvSpPr>
        <p:spPr>
          <a:xfrm>
            <a:off x="4572000" y="3976350"/>
            <a:ext cx="798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EB Garamond"/>
                <a:ea typeface="EB Garamond"/>
                <a:cs typeface="EB Garamond"/>
                <a:sym typeface="EB Garamond"/>
              </a:rPr>
              <a:t>2.65</a:t>
            </a:r>
            <a:endParaRPr sz="17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Varianza</a:t>
            </a:r>
            <a:endParaRPr/>
          </a:p>
        </p:txBody>
      </p:sp>
      <p:sp>
        <p:nvSpPr>
          <p:cNvPr id="363" name="Google Shape;36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4" name="Google Shape;364;p45" title="{&quot;red&quot;:0,&quot;green&quot;:0,&quot;blue&quot;:0,&quot;origURL&quot;:&quot;https://www.codecogs.com/eqnedit.php?latex=s%5E2%20%3D%20%5Cfrac%7B%5Csum_%7Bi%3D1%7D%5E%7Bn%7D%20(x_i%20-%20%5Cbar%7Bx%7D)%5E2%7D%7Bn%20-%201%7D#0&quot;,&quot;size&quot;:20,&quot;width&quot;:134.5275590551181,&quot;height&quot;:59.2440944881889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025" y="1297375"/>
            <a:ext cx="2430456" cy="64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45"/>
          <p:cNvCxnSpPr/>
          <p:nvPr/>
        </p:nvCxnSpPr>
        <p:spPr>
          <a:xfrm flipH="1" rot="10800000">
            <a:off x="4557300" y="3574575"/>
            <a:ext cx="4240500" cy="3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6" name="Google Shape;366;p45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344825"/>
            <a:ext cx="751250" cy="35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5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988050"/>
            <a:ext cx="751250" cy="3588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8" name="Google Shape;368;p45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369" name="Google Shape;369;p45"/>
          <p:cNvSpPr txBox="1"/>
          <p:nvPr/>
        </p:nvSpPr>
        <p:spPr>
          <a:xfrm>
            <a:off x="3718450" y="922275"/>
            <a:ext cx="11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Ejercicio:</a:t>
            </a:r>
            <a:endParaRPr sz="2000">
              <a:highlight>
                <a:srgbClr val="FDBF41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375" name="Google Shape;375;p46"/>
          <p:cNvSpPr txBox="1"/>
          <p:nvPr>
            <p:ph idx="1" type="body"/>
          </p:nvPr>
        </p:nvSpPr>
        <p:spPr>
          <a:xfrm>
            <a:off x="311700" y="1152475"/>
            <a:ext cx="85206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>
                <a:highlight>
                  <a:srgbClr val="AAD5D4"/>
                </a:highlight>
              </a:rPr>
              <a:t>La DE describe cómo las puntuaciones de una variable X se distancian del promedio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la raíz cuadrada de la varianza, por lo que sí es interpretable en la unidad de medida original de la variable.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Por ser una medida derivada de la media, también es demasiado sensible a los valores extremos: es muy útil con las distribuciones normales, pero lo es menos con las distribuciones sesgadas.</a:t>
            </a:r>
            <a:endParaRPr/>
          </a:p>
        </p:txBody>
      </p:sp>
      <p:sp>
        <p:nvSpPr>
          <p:cNvPr id="376" name="Google Shape;37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7" name="Google Shape;377;p46"/>
          <p:cNvSpPr txBox="1"/>
          <p:nvPr/>
        </p:nvSpPr>
        <p:spPr>
          <a:xfrm>
            <a:off x="3073200" y="3671400"/>
            <a:ext cx="17979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8" name="Google Shape;378;p46"/>
          <p:cNvSpPr txBox="1"/>
          <p:nvPr/>
        </p:nvSpPr>
        <p:spPr>
          <a:xfrm>
            <a:off x="3371500" y="3711700"/>
            <a:ext cx="13785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79" name="Google Shape;379;p46" title="{&quot;red&quot;:0,&quot;green&quot;:0,&quot;blue&quot;:0,&quot;origURL&quot;:&quot;https://www.codecogs.com/eqnedit.php?latex=s%20%3D%20%5Csqrt%7B%5Cfrac%7B%5Csum_%7Bi%3D1%7D%5E%7Bn%7D%20(x_i%20-%20%5Cbar%7Bx%7D)%5E2%7D%7Bn%20-%201%7D%7D%20%3D%20%5Csqrt%7Bs%5E2%7D#0&quot;,&quot;size&quot;:20,&quot;width&quot;:108.54330708661418,&quot;height&quot;:58.3937007874015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135" y="3711700"/>
            <a:ext cx="3795517" cy="9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385" name="Google Shape;385;p47"/>
          <p:cNvSpPr txBox="1"/>
          <p:nvPr>
            <p:ph idx="1" type="body"/>
          </p:nvPr>
        </p:nvSpPr>
        <p:spPr>
          <a:xfrm>
            <a:off x="311700" y="1152475"/>
            <a:ext cx="8520600" cy="21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llama “estándar” porque </a:t>
            </a:r>
            <a:r>
              <a:rPr b="1" lang="es"/>
              <a:t>permite comparar las distribuciones</a:t>
            </a:r>
            <a:r>
              <a:rPr lang="es"/>
              <a:t> entre variables con distintas unidades de medida: se puede comparar a cuántas desviaciones estándar está una puntuación dada de la media (p.e.: en promedio, cada puntuación se desvía 4,67 años de la media).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>
                <a:highlight>
                  <a:srgbClr val="AAD5D4"/>
                </a:highlight>
              </a:rPr>
              <a:t>Cuanto más pequeña sea la desviación estándar mayor será la concentración de datos alrededor de la media.</a:t>
            </a:r>
            <a:endParaRPr i="1"/>
          </a:p>
        </p:txBody>
      </p:sp>
      <p:sp>
        <p:nvSpPr>
          <p:cNvPr id="386" name="Google Shape;3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7" name="Google Shape;387;p47"/>
          <p:cNvSpPr txBox="1"/>
          <p:nvPr/>
        </p:nvSpPr>
        <p:spPr>
          <a:xfrm>
            <a:off x="311700" y="3389225"/>
            <a:ext cx="33177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Si el promedio de nota de de un curso es de 4.0, y la desviación estándar es 0.1, significa que las y los estudiantes tienen notas similares y bordean la media 4.0.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88" name="Google Shape;388;p47"/>
          <p:cNvSpPr txBox="1"/>
          <p:nvPr/>
        </p:nvSpPr>
        <p:spPr>
          <a:xfrm>
            <a:off x="4295400" y="3332375"/>
            <a:ext cx="45369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Si el promedio de nota de de un curso es de 4.0, y la desviación estándar es 2.0, significa que las y los estudiantes tienen notas mas dispersas, van desde dos puntos hacia abajo de la media y dos puntos hacia arriba de la media. O sea desde 2.0 hasta 6.0 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394" name="Google Shape;39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395" name="Google Shape;395;p48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pic>
        <p:nvPicPr>
          <p:cNvPr id="396" name="Google Shape;396;p48" title="{&quot;red&quot;:0,&quot;green&quot;:0,&quot;blue&quot;:0,&quot;origURL&quot;:&quot;https://www.codecogs.com/eqnedit.php?latex=s%20%3D%20%5Csqrt%7B%5Cfrac%7B%5Csum_%7Bi%3D1%7D%5E%7Bn%7D%20(x_i%20-%20%5Cbar%7Bx%7D)%5E2%7D%7Bn%20-%201%7D%7D%20%3D%20%5Csqrt%7Bs%5E2%7D#0&quot;,&quot;size&quot;:20,&quot;width&quot;:108.54330708661418,&quot;height&quot;:58.3937007874015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50" y="1548150"/>
            <a:ext cx="3392602" cy="8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8" title="{&quot;red&quot;:0,&quot;green&quot;:0,&quot;blue&quot;:0,&quot;origURL&quot;:&quot;https://www.codecogs.com/eqnedit.php?latex=s%20%3D%20%5Csqrt%7B2.65%7D%20%5Capprox%201.63#0&quot;,&quot;size&quot;:20,&quot;width&quot;:338.6929133858268,&quot;height&quot;:38.7874015748031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2550" y="2929100"/>
            <a:ext cx="1828799" cy="250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403" name="Google Shape;40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404" name="Google Shape;404;p49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405" name="Google Shape;405;p49"/>
          <p:cNvSpPr txBox="1"/>
          <p:nvPr/>
        </p:nvSpPr>
        <p:spPr>
          <a:xfrm>
            <a:off x="3718450" y="922275"/>
            <a:ext cx="11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Ejercicio:</a:t>
            </a:r>
            <a:endParaRPr sz="2000">
              <a:highlight>
                <a:srgbClr val="FDBF41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06" name="Google Shape;406;p49" title="{&quot;red&quot;:0,&quot;green&quot;:0,&quot;blue&quot;:0,&quot;origURL&quot;:&quot;https://www.codecogs.com/eqnedit.php?latex=s%20%3D%20%5Csqrt%7B%5Cfrac%7B%5Csum_%7Bi%3D1%7D%5E%7Bn%7D%20(x_i%20-%20%5Cbar%7Bx%7D)%5E2%7D%7Bn%20-%201%7D%7D%20%3D%20%5Csqrt%7Bs%5E2%7D#0&quot;,&quot;size&quot;:20,&quot;width&quot;:108.54330708661418,&quot;height&quot;:58.3937007874015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34300"/>
            <a:ext cx="3251402" cy="815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9" title="{&quot;red&quot;:0,&quot;green&quot;:0,&quot;blue&quot;:0,&quot;origURL&quot;:&quot;https://www.codecogs.com/eqnedit.php?latex=s%20%3D#0&quot;,&quot;size&quot;:20,&quot;width&quot;:382.6771653543307,&quot;height&quot;:63.023622047244096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077850"/>
            <a:ext cx="400050" cy="12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</a:rPr>
              <a:t>III.5. Medidas de Dispersión</a:t>
            </a:r>
            <a:endParaRPr sz="3240">
              <a:solidFill>
                <a:schemeClr val="lt2"/>
              </a:solidFill>
            </a:endParaRPr>
          </a:p>
        </p:txBody>
      </p:sp>
      <p:sp>
        <p:nvSpPr>
          <p:cNvPr id="413" name="Google Shape;41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Medidas de Dispersión</a:t>
            </a:r>
            <a:endParaRPr/>
          </a:p>
        </p:txBody>
      </p:sp>
      <p:sp>
        <p:nvSpPr>
          <p:cNvPr id="419" name="Google Shape;41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Las medidas de dispersión tratan, a través del cálculo de diferentes fórmulas, de arrojar un valor numérico que ofrezca información sobre el grado de variabilidad de una variable.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¿Qué significa que una variable varíe mucho o poco?</a:t>
            </a:r>
            <a:endParaRPr/>
          </a:p>
        </p:txBody>
      </p:sp>
      <p:sp>
        <p:nvSpPr>
          <p:cNvPr id="420" name="Google Shape;42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Rango</a:t>
            </a:r>
            <a:endParaRPr/>
          </a:p>
        </p:txBody>
      </p:sp>
      <p:sp>
        <p:nvSpPr>
          <p:cNvPr id="426" name="Google Shape;426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la </a:t>
            </a:r>
            <a:r>
              <a:rPr b="1" lang="es"/>
              <a:t>distancia existente entre las puntuaciones observadas mínima y máxima</a:t>
            </a:r>
            <a:r>
              <a:rPr lang="es"/>
              <a:t> de una variable </a:t>
            </a:r>
            <a:r>
              <a:rPr i="1" lang="es"/>
              <a:t>X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Se calcula como la diferencia entre el mínimo y el máximo más el valor de la “unidad de redondeo” de </a:t>
            </a:r>
            <a:r>
              <a:rPr i="1" lang="es"/>
              <a:t>X </a:t>
            </a:r>
            <a:r>
              <a:rPr lang="es"/>
              <a:t>(considera los límites reales de las puntuaciones).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Presenta la limitación de ser muy sensible a valores extremos.</a:t>
            </a:r>
            <a:endParaRPr/>
          </a:p>
        </p:txBody>
      </p:sp>
      <p:sp>
        <p:nvSpPr>
          <p:cNvPr id="427" name="Google Shape;42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28" name="Google Shape;428;p52" title="{&quot;red&quot;:0,&quot;green&quot;:0,&quot;blue&quot;:0,&quot;origURL&quot;:&quot;https://www.codecogs.com/eqnedit.php?latex=R%20%3D%20x_%7B%5Cmax%7D%20-%20x_%7B%5Cmin%7D#0&quot;,&quot;size&quot;:20,&quot;width&quot;:96.56692913385827,&quot;height&quot;:36.212598425196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374" y="3596250"/>
            <a:ext cx="321124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Rango</a:t>
            </a:r>
            <a:endParaRPr/>
          </a:p>
        </p:txBody>
      </p:sp>
      <p:sp>
        <p:nvSpPr>
          <p:cNvPr id="434" name="Google Shape;434;p53"/>
          <p:cNvSpPr txBox="1"/>
          <p:nvPr>
            <p:ph idx="1" type="body"/>
          </p:nvPr>
        </p:nvSpPr>
        <p:spPr>
          <a:xfrm>
            <a:off x="5621075" y="2486300"/>
            <a:ext cx="3211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/>
              <a:t>R</a:t>
            </a:r>
            <a:r>
              <a:rPr lang="es" sz="1700"/>
              <a:t> = 7.0 - 2.0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700"/>
              <a:t>R</a:t>
            </a:r>
            <a:r>
              <a:rPr lang="es" sz="1700"/>
              <a:t> = 5.0</a:t>
            </a:r>
            <a:endParaRPr sz="1700"/>
          </a:p>
        </p:txBody>
      </p:sp>
      <p:sp>
        <p:nvSpPr>
          <p:cNvPr id="435" name="Google Shape;4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6" name="Google Shape;436;p53" title="{&quot;red&quot;:0,&quot;green&quot;:0,&quot;blue&quot;:0,&quot;origURL&quot;:&quot;https://www.codecogs.com/eqnedit.php?latex=R%20%3D%20x_%7B%5Cmax%7D%20-%20x_%7B%5Cmin%7D#0&quot;,&quot;size&quot;:20,&quot;width&quot;:96.56692913385827,&quot;height&quot;:36.212598425196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775" y="2078700"/>
            <a:ext cx="2208650" cy="270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7" name="Google Shape;437;p53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438" name="Google Shape;438;p53"/>
          <p:cNvSpPr txBox="1"/>
          <p:nvPr/>
        </p:nvSpPr>
        <p:spPr>
          <a:xfrm>
            <a:off x="4459850" y="3598850"/>
            <a:ext cx="43725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1800">
                <a:latin typeface="EB Garamond"/>
                <a:ea typeface="EB Garamond"/>
                <a:cs typeface="EB Garamond"/>
                <a:sym typeface="EB Garamond"/>
              </a:rPr>
              <a:t>El mínimo es la nota 2 y el máximo es la nota 7.</a:t>
            </a:r>
            <a:endParaRPr i="1"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latin typeface="EB Garamond"/>
                <a:ea typeface="EB Garamond"/>
                <a:cs typeface="EB Garamond"/>
                <a:sym typeface="EB Garamond"/>
              </a:rPr>
              <a:t>El rango de la variable notas es 5 puntos.</a:t>
            </a:r>
            <a:endParaRPr i="1"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Rango</a:t>
            </a:r>
            <a:endParaRPr/>
          </a:p>
        </p:txBody>
      </p:sp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5621075" y="2486300"/>
            <a:ext cx="3211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R</a:t>
            </a:r>
            <a:r>
              <a:rPr lang="es"/>
              <a:t>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/>
              <a:t>R</a:t>
            </a:r>
            <a:r>
              <a:rPr lang="es"/>
              <a:t> = </a:t>
            </a:r>
            <a:endParaRPr/>
          </a:p>
        </p:txBody>
      </p:sp>
      <p:sp>
        <p:nvSpPr>
          <p:cNvPr id="445" name="Google Shape;44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6" name="Google Shape;446;p54" title="{&quot;red&quot;:0,&quot;green&quot;:0,&quot;blue&quot;:0,&quot;origURL&quot;:&quot;https://www.codecogs.com/eqnedit.php?latex=R%20%3D%20x_%7B%5Cmax%7D%20-%20x_%7B%5Cmin%7D#0&quot;,&quot;size&quot;:20,&quot;width&quot;:96.56692913385827,&quot;height&quot;:36.212598425196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650" y="2084875"/>
            <a:ext cx="2354074" cy="288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7" name="Google Shape;447;p54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448" name="Google Shape;448;p54"/>
          <p:cNvSpPr txBox="1"/>
          <p:nvPr/>
        </p:nvSpPr>
        <p:spPr>
          <a:xfrm>
            <a:off x="3831050" y="1208025"/>
            <a:ext cx="1644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Varianza</a:t>
            </a:r>
            <a:endParaRPr/>
          </a:p>
        </p:txBody>
      </p:sp>
      <p:sp>
        <p:nvSpPr>
          <p:cNvPr id="454" name="Google Shape;45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>
                <a:highlight>
                  <a:srgbClr val="AAD5D4"/>
                </a:highlight>
              </a:rPr>
              <a:t>Es la variación media de las puntuaciones en la muestra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Presenta problemas cuando queremos interpretarla, ya que las puntuaciones ha sido elevadas al cuadrado. Por eso, NO puede interpretarse en la unidad de medida original.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necesario volver a una medida que sea directamente interpretable: pasar de varianza a desviación estándar. El cálculo de la DE requiere del cálculo de la varianza.</a:t>
            </a:r>
            <a:endParaRPr/>
          </a:p>
        </p:txBody>
      </p:sp>
      <p:sp>
        <p:nvSpPr>
          <p:cNvPr id="455" name="Google Shape;45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56" name="Google Shape;456;p55" title="{&quot;red&quot;:0,&quot;green&quot;:0,&quot;blue&quot;:0,&quot;origURL&quot;:&quot;https://www.codecogs.com/eqnedit.php?latex=s%5E2%20%3D%20%5Cfrac%7B%5Csum_%7Bi%3D1%7D%5E%7Bn%7D%20(x_i%20-%20%5Cbar%7Bx%7D)%5E2%7D%7Bn%20-%201%7D#0&quot;,&quot;size&quot;:20,&quot;width&quot;:134.5275590551181,&quot;height&quot;:59.2440944881889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600" y="3816500"/>
            <a:ext cx="2845650" cy="7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Varianza</a:t>
            </a:r>
            <a:endParaRPr/>
          </a:p>
        </p:txBody>
      </p:sp>
      <p:sp>
        <p:nvSpPr>
          <p:cNvPr id="462" name="Google Shape;462;p56"/>
          <p:cNvSpPr txBox="1"/>
          <p:nvPr>
            <p:ph idx="1" type="body"/>
          </p:nvPr>
        </p:nvSpPr>
        <p:spPr>
          <a:xfrm>
            <a:off x="4572000" y="2257875"/>
            <a:ext cx="42111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(7.0 - 4,95)^2 + (6.5 - 4,95)^2 +  (6.1 - 4,95)^2 + (3.8 - 4,95)^2 + (2.0 - 4,95)^2 + (5.1 - 4,95)^2 + (2.1 - 4,95)^2 + (4.7 - 4,95)^2 + (5.5 - 4,95)^2 + (4.9 - 4,95)^2 + (6.6 - 4,95)^2 + (5.1-4,95)^2</a:t>
            </a:r>
            <a:endParaRPr/>
          </a:p>
        </p:txBody>
      </p:sp>
      <p:sp>
        <p:nvSpPr>
          <p:cNvPr id="463" name="Google Shape;46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64" name="Google Shape;464;p56" title="{&quot;red&quot;:0,&quot;green&quot;:0,&quot;blue&quot;:0,&quot;origURL&quot;:&quot;https://www.codecogs.com/eqnedit.php?latex=s%5E2%20%3D%20%5Cfrac%7B%5Csum_%7Bi%3D1%7D%5E%7Bn%7D%20(x_i%20-%20%5Cbar%7Bx%7D)%5E2%7D%7Bn%20-%201%7D#0&quot;,&quot;size&quot;:20,&quot;width&quot;:134.5275590551181,&quot;height&quot;:59.2440944881889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275" y="1136125"/>
            <a:ext cx="2845650" cy="752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5" name="Google Shape;465;p56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cxnSp>
        <p:nvCxnSpPr>
          <p:cNvPr id="466" name="Google Shape;466;p56"/>
          <p:cNvCxnSpPr/>
          <p:nvPr/>
        </p:nvCxnSpPr>
        <p:spPr>
          <a:xfrm flipH="1" rot="10800000">
            <a:off x="4557300" y="3574575"/>
            <a:ext cx="4240500" cy="3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56"/>
          <p:cNvSpPr txBox="1"/>
          <p:nvPr/>
        </p:nvSpPr>
        <p:spPr>
          <a:xfrm>
            <a:off x="6507550" y="3606975"/>
            <a:ext cx="798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EB Garamond"/>
                <a:ea typeface="EB Garamond"/>
                <a:cs typeface="EB Garamond"/>
                <a:sym typeface="EB Garamond"/>
              </a:rPr>
              <a:t>12 - 1</a:t>
            </a:r>
            <a:endParaRPr sz="17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68" name="Google Shape;468;p56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344825"/>
            <a:ext cx="751250" cy="35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6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988050"/>
            <a:ext cx="751250" cy="358832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6"/>
          <p:cNvSpPr txBox="1"/>
          <p:nvPr/>
        </p:nvSpPr>
        <p:spPr>
          <a:xfrm>
            <a:off x="4572000" y="3976350"/>
            <a:ext cx="798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EB Garamond"/>
                <a:ea typeface="EB Garamond"/>
                <a:cs typeface="EB Garamond"/>
                <a:sym typeface="EB Garamond"/>
              </a:rPr>
              <a:t>2.65</a:t>
            </a:r>
            <a:endParaRPr sz="17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Varianza</a:t>
            </a:r>
            <a:endParaRPr/>
          </a:p>
        </p:txBody>
      </p:sp>
      <p:sp>
        <p:nvSpPr>
          <p:cNvPr id="476" name="Google Shape;47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77" name="Google Shape;477;p57" title="{&quot;red&quot;:0,&quot;green&quot;:0,&quot;blue&quot;:0,&quot;origURL&quot;:&quot;https://www.codecogs.com/eqnedit.php?latex=s%5E2%20%3D%20%5Cfrac%7B%5Csum_%7Bi%3D1%7D%5E%7Bn%7D%20(x_i%20-%20%5Cbar%7Bx%7D)%5E2%7D%7Bn%20-%201%7D#0&quot;,&quot;size&quot;:20,&quot;width&quot;:134.5275590551181,&quot;height&quot;:59.2440944881889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025" y="1297375"/>
            <a:ext cx="2430456" cy="64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8" name="Google Shape;478;p57"/>
          <p:cNvCxnSpPr/>
          <p:nvPr/>
        </p:nvCxnSpPr>
        <p:spPr>
          <a:xfrm flipH="1" rot="10800000">
            <a:off x="4557300" y="3574575"/>
            <a:ext cx="4240500" cy="3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9" name="Google Shape;479;p57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344825"/>
            <a:ext cx="751250" cy="35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7" title="{&quot;red&quot;:0,&quot;green&quot;:0,&quot;blue&quot;:0,&quot;origURL&quot;:&quot;https://www.codecogs.com/eqnedit.php?latex=s%5E2%20%3D%20#0&quot;,&quot;size&quot;:17,&quot;width&quot;:43.20472440944882,&quot;height&quot;:38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450" y="3988050"/>
            <a:ext cx="751250" cy="3588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1" name="Google Shape;481;p57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482" name="Google Shape;482;p57"/>
          <p:cNvSpPr txBox="1"/>
          <p:nvPr/>
        </p:nvSpPr>
        <p:spPr>
          <a:xfrm>
            <a:off x="3718450" y="922275"/>
            <a:ext cx="11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Ejercicio:</a:t>
            </a:r>
            <a:endParaRPr sz="2000">
              <a:highlight>
                <a:srgbClr val="FDBF41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488" name="Google Shape;488;p58"/>
          <p:cNvSpPr txBox="1"/>
          <p:nvPr>
            <p:ph idx="1" type="body"/>
          </p:nvPr>
        </p:nvSpPr>
        <p:spPr>
          <a:xfrm>
            <a:off x="311700" y="1152475"/>
            <a:ext cx="85206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>
                <a:highlight>
                  <a:srgbClr val="AAD5D4"/>
                </a:highlight>
              </a:rPr>
              <a:t>La DE describe cómo las puntuaciones de una variable X se distancian del promedio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 la raíz cuadrada de la varianza, por lo que sí es interpretable en la unidad de medida original de la variable.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Por ser una medida derivada de la media, también es demasiado sensible a los valores extremos: es muy útil con las distribuciones normales, pero lo es menos con las distribuciones sesgadas.</a:t>
            </a:r>
            <a:endParaRPr/>
          </a:p>
        </p:txBody>
      </p:sp>
      <p:sp>
        <p:nvSpPr>
          <p:cNvPr id="489" name="Google Shape;48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0" name="Google Shape;490;p58"/>
          <p:cNvSpPr txBox="1"/>
          <p:nvPr/>
        </p:nvSpPr>
        <p:spPr>
          <a:xfrm>
            <a:off x="3073200" y="3671400"/>
            <a:ext cx="17979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91" name="Google Shape;491;p58"/>
          <p:cNvSpPr txBox="1"/>
          <p:nvPr/>
        </p:nvSpPr>
        <p:spPr>
          <a:xfrm>
            <a:off x="3371500" y="3711700"/>
            <a:ext cx="13785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92" name="Google Shape;492;p58" title="{&quot;red&quot;:0,&quot;green&quot;:0,&quot;blue&quot;:0,&quot;origURL&quot;:&quot;https://www.codecogs.com/eqnedit.php?latex=s%20%3D%20%5Csqrt%7B%5Cfrac%7B%5Csum_%7Bi%3D1%7D%5E%7Bn%7D%20(x_i%20-%20%5Cbar%7Bx%7D)%5E2%7D%7Bn%20-%201%7D%7D%20%3D%20%5Csqrt%7Bs%5E2%7D#0&quot;,&quot;size&quot;:20,&quot;width&quot;:108.54330708661418,&quot;height&quot;:58.3937007874015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135" y="3711700"/>
            <a:ext cx="3795517" cy="9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498" name="Google Shape;498;p59"/>
          <p:cNvSpPr txBox="1"/>
          <p:nvPr>
            <p:ph idx="1" type="body"/>
          </p:nvPr>
        </p:nvSpPr>
        <p:spPr>
          <a:xfrm>
            <a:off x="311700" y="1152475"/>
            <a:ext cx="8520600" cy="21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llama “estándar” porque </a:t>
            </a:r>
            <a:r>
              <a:rPr b="1" lang="es"/>
              <a:t>permite comparar las distribuciones</a:t>
            </a:r>
            <a:r>
              <a:rPr lang="es"/>
              <a:t> entre variables con distintas unidades de medida: se puede comparar a cuántas desviaciones estándar está una puntuación dada de la media (p.e.: en promedio, cada puntuación se desvía 4,67 años de la media).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>
                <a:highlight>
                  <a:srgbClr val="AAD5D4"/>
                </a:highlight>
              </a:rPr>
              <a:t>Cuanto más pequeña sea la desviación estándar mayor será la concentración de datos alrededor de la media.</a:t>
            </a:r>
            <a:endParaRPr i="1"/>
          </a:p>
        </p:txBody>
      </p:sp>
      <p:sp>
        <p:nvSpPr>
          <p:cNvPr id="499" name="Google Shape;49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00" name="Google Shape;500;p59"/>
          <p:cNvSpPr txBox="1"/>
          <p:nvPr/>
        </p:nvSpPr>
        <p:spPr>
          <a:xfrm>
            <a:off x="311700" y="3389225"/>
            <a:ext cx="33177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Si el promedio de nota de de un curso es de 4.0, y la desviación estándar es 0.1, significa que las y los estudiantes tienen notas similares y bordean la media 4.0.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01" name="Google Shape;501;p59"/>
          <p:cNvSpPr txBox="1"/>
          <p:nvPr/>
        </p:nvSpPr>
        <p:spPr>
          <a:xfrm>
            <a:off x="4295400" y="3332375"/>
            <a:ext cx="45369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Si el promedio de nota de de un curso es de 4.0, y la desviación estándar es 2.0, significa que las y los estudiantes tienen notas mas dispersas, van desde dos puntos hacia abajo de la media y dos puntos hacia arriba de la media. O sea desde 2.0 hasta 6.0 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507" name="Google Shape;507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508" name="Google Shape;508;p60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nota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3.8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4.9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6.6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5.1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pic>
        <p:nvPicPr>
          <p:cNvPr id="509" name="Google Shape;509;p60" title="{&quot;red&quot;:0,&quot;green&quot;:0,&quot;blue&quot;:0,&quot;origURL&quot;:&quot;https://www.codecogs.com/eqnedit.php?latex=s%20%3D%20%5Csqrt%7B%5Cfrac%7B%5Csum_%7Bi%3D1%7D%5E%7Bn%7D%20(x_i%20-%20%5Cbar%7Bx%7D)%5E2%7D%7Bn%20-%201%7D%7D%20%3D%20%5Csqrt%7Bs%5E2%7D#0&quot;,&quot;size&quot;:20,&quot;width&quot;:108.54330708661418,&quot;height&quot;:58.3937007874015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50" y="1548150"/>
            <a:ext cx="3392602" cy="8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0" title="{&quot;red&quot;:0,&quot;green&quot;:0,&quot;blue&quot;:0,&quot;origURL&quot;:&quot;https://www.codecogs.com/eqnedit.php?latex=s%20%3D%20%5Csqrt%7B2.65%7D%20%5Capprox%201.63#0&quot;,&quot;size&quot;:20,&quot;width&quot;:338.6929133858268,&quot;height&quot;:38.7874015748031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2550" y="2929100"/>
            <a:ext cx="1828799" cy="250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Desviación estándar</a:t>
            </a:r>
            <a:endParaRPr/>
          </a:p>
        </p:txBody>
      </p:sp>
      <p:sp>
        <p:nvSpPr>
          <p:cNvPr id="516" name="Google Shape;51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517" name="Google Shape;517;p61"/>
          <p:cNvGraphicFramePr/>
          <p:nvPr/>
        </p:nvGraphicFramePr>
        <p:xfrm>
          <a:off x="650325" y="12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382850"/>
                <a:gridCol w="1504625"/>
                <a:gridCol w="681950"/>
              </a:tblGrid>
              <a:tr h="1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Jeannette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Eduardo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Harold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1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Evelyn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José Antonio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26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2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7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Johannes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Franco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Gabriel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24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10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Sebastián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11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Michelle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23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  <a:tr h="10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12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Ricardo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38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518" name="Google Shape;518;p61"/>
          <p:cNvSpPr txBox="1"/>
          <p:nvPr/>
        </p:nvSpPr>
        <p:spPr>
          <a:xfrm>
            <a:off x="3718450" y="922275"/>
            <a:ext cx="11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Ejercicio:</a:t>
            </a:r>
            <a:endParaRPr sz="2000">
              <a:highlight>
                <a:srgbClr val="FDBF41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19" name="Google Shape;519;p61" title="{&quot;red&quot;:0,&quot;green&quot;:0,&quot;blue&quot;:0,&quot;origURL&quot;:&quot;https://www.codecogs.com/eqnedit.php?latex=s%20%3D%20%5Csqrt%7B%5Cfrac%7B%5Csum_%7Bi%3D1%7D%5E%7Bn%7D%20(x_i%20-%20%5Cbar%7Bx%7D)%5E2%7D%7Bn%20-%201%7D%7D%20%3D%20%5Csqrt%7Bs%5E2%7D#0&quot;,&quot;size&quot;:20,&quot;width&quot;:108.54330708661418,&quot;height&quot;:58.3937007874015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34300"/>
            <a:ext cx="3251402" cy="815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1" title="{&quot;red&quot;:0,&quot;green&quot;:0,&quot;blue&quot;:0,&quot;origURL&quot;:&quot;https://www.codecogs.com/eqnedit.php?latex=s%20%3D#0&quot;,&quot;size&quot;:20,&quot;width&quot;:382.6771653543307,&quot;height&quot;:63.023622047244096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077850"/>
            <a:ext cx="400050" cy="12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Usos de las MD</a:t>
            </a:r>
            <a:endParaRPr/>
          </a:p>
        </p:txBody>
      </p:sp>
      <p:sp>
        <p:nvSpPr>
          <p:cNvPr id="526" name="Google Shape;526;p62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Las MD se interpretan comparando diferentes muestras.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Si se dispone de dos conjuntos de datos, será más homogéneo el que tenga menor desviación estándar, varianza o rango.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Por ejemplo, si les dijera que dividí el curso en cuatro grupos, cuyas notas tuvieron las siguientes propiedades…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/>
              <a:t>Grupo A: Media de notas: 4.8, desviación estándar: 0,3.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/>
              <a:t>Grupo B: Media de notas: 5,5, desviación estándar 2,5.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/>
              <a:t>Grupo C: Media de notas: 4,7, desviación estándar 4,2.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/>
              <a:t>Grupo D: Media de notas: 4,2, desviación estándar 0,5.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¿En cuál grupo le gustaría estar, en cuál no y por qué?</a:t>
            </a:r>
            <a:endParaRPr/>
          </a:p>
        </p:txBody>
      </p:sp>
      <p:sp>
        <p:nvSpPr>
          <p:cNvPr id="527" name="Google Shape;52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MD y niveles de medición</a:t>
            </a:r>
            <a:endParaRPr/>
          </a:p>
        </p:txBody>
      </p:sp>
      <p:sp>
        <p:nvSpPr>
          <p:cNvPr id="533" name="Google Shape;53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534" name="Google Shape;534;p63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{1AE871EB-BF2E-482C-B1C3-F980018269D7}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Rango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Varianza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Desviación estándar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Nominal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Ordinal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Intervalar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 Razón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</a:t>
            </a:r>
            <a:endParaRPr/>
          </a:p>
        </p:txBody>
      </p:sp>
      <p:sp>
        <p:nvSpPr>
          <p:cNvPr id="540" name="Google Shape;54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41" name="Google Shape;54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2629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Métodos Cuantitativos</a:t>
            </a:r>
            <a:endParaRPr/>
          </a:p>
        </p:txBody>
      </p:sp>
      <p:sp>
        <p:nvSpPr>
          <p:cNvPr id="547" name="Google Shape;547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07: Unidad III. Estadística Descriptiva y Análisis descriptivo univariado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48" name="Google Shape;548;p65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49" name="Google Shape;549;p65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solidFill>
                  <a:schemeClr val="dk1"/>
                </a:solidFill>
              </a:rPr>
              <a:t>Profesora: Daniela Olivares Collío</a:t>
            </a:r>
            <a:endParaRPr sz="1405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5"/>
          </a:p>
        </p:txBody>
      </p:sp>
      <p:pic>
        <p:nvPicPr>
          <p:cNvPr id="550" name="Google Shape;550;p65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s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