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EB Garamon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5985F3-8DD7-48AF-B3DD-B0399FADE051}">
  <a:tblStyle styleId="{BB5985F3-8DD7-48AF-B3DD-B0399FADE05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000000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000000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000000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BGaramond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EBGaramond-regular.fntdata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EBGaramond-italic.fntdata"/><Relationship Id="rId16" Type="http://schemas.openxmlformats.org/officeDocument/2006/relationships/slide" Target="slides/slide9.xml"/><Relationship Id="rId38" Type="http://schemas.openxmlformats.org/officeDocument/2006/relationships/font" Target="fonts/EBGaramond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da14fd9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bda14fd9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da14fd9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da14fd9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a5485ad8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a5485ad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a5485ad8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ca5485ad8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a5485ad8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ca5485ad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ca5485ad8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ca5485ad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a5485ad8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a5485ad8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a5485ad8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a5485ad8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a5485ad8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ca5485ad8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a5485ad8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ca5485ad8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ca5485ad8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ca5485ad8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a5485ad8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ca5485ad8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ca5485ad8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ca5485ad8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861042e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861042e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861042ef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861042ef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861042ef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861042ef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861042ef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861042ef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861042ef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861042ef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861042ef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8861042ef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861042ef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861042ef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861042ef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8861042ef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861042ef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861042ef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861042ef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861042ef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861042ef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861042ef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861042ef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861042ef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861042ef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8861042ef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861042e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8861042e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EB Garamond"/>
              <a:buNone/>
              <a:defRPr b="1" sz="2500"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B Garamond"/>
              <a:buNone/>
              <a:defRPr b="1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  <a:def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katherine.aravena@mail.udp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oes.cl/encuesta-panel/" TargetMode="External"/><Relationship Id="rId4" Type="http://schemas.openxmlformats.org/officeDocument/2006/relationships/hyperlink" Target="https://observatorio.ministeriodesarrollosocial.gob.cl/encuesta-casen-202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04: Unidad II. La estadística en el contexto de la investigación social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03" name="Google Shape;103;p25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daniela.olivares2@mail.udp.cl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katherine.aravena@mail.udp.cl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5" name="Google Shape;11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Unidad II. La estadística en el contexto de la investigación social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II.1. Elaboración de una matriz de datos y su libro de códigos.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II.2. Nociones de Universo, Población y Muestra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II.3. Técnicas de recolección y procesamiento de datos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6" name="Google Shape;116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04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4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II.1. Elaboración de una matriz de datos y su libro de códigos</a:t>
            </a:r>
            <a:endParaRPr sz="324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0" name="Google Shape;13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</a:t>
            </a:r>
            <a:r>
              <a:rPr lang="es"/>
              <a:t>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Contiene los resultados de</a:t>
            </a:r>
            <a:r>
              <a:rPr lang="es"/>
              <a:t> la aplicación del instrumento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★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Visualiza las respuestas a las preguntas que realizamos en nuestra encuesta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la tabla donde cada </a:t>
            </a:r>
            <a:r>
              <a:rPr lang="es">
                <a:highlight>
                  <a:srgbClr val="FDBF41"/>
                </a:highlight>
              </a:rPr>
              <a:t>fila representa un caso u observación</a:t>
            </a:r>
            <a:r>
              <a:rPr lang="es"/>
              <a:t> (ej.: una persona, un hogar, una entrevista, un país) y </a:t>
            </a:r>
            <a:r>
              <a:rPr lang="es">
                <a:highlight>
                  <a:srgbClr val="FDBF41"/>
                </a:highlight>
              </a:rPr>
              <a:t>cada columna una variable</a:t>
            </a:r>
            <a:r>
              <a:rPr lang="es"/>
              <a:t> (ej.: sexo, edad, ingresos).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6" name="Google Shape;13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37" name="Google Shape;137;p30"/>
          <p:cNvGrpSpPr/>
          <p:nvPr/>
        </p:nvGrpSpPr>
        <p:grpSpPr>
          <a:xfrm>
            <a:off x="1527065" y="1117607"/>
            <a:ext cx="6089770" cy="3494248"/>
            <a:chOff x="3065" y="284906"/>
            <a:chExt cx="6089770" cy="3494248"/>
          </a:xfrm>
        </p:grpSpPr>
        <p:sp>
          <p:nvSpPr>
            <p:cNvPr id="138" name="Google Shape;138;p30"/>
            <p:cNvSpPr/>
            <p:nvPr/>
          </p:nvSpPr>
          <p:spPr>
            <a:xfrm rot="5400000">
              <a:off x="-278266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39" name="Google Shape;139;p30"/>
            <p:cNvSpPr/>
            <p:nvPr/>
          </p:nvSpPr>
          <p:spPr>
            <a:xfrm>
              <a:off x="306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DDEAF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0" name="Google Shape;140;p30"/>
            <p:cNvSpPr txBox="1"/>
            <p:nvPr/>
          </p:nvSpPr>
          <p:spPr>
            <a:xfrm>
              <a:off x="32305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Problema</a:t>
              </a:r>
              <a:endParaRPr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1" name="Google Shape;141;p30"/>
            <p:cNvSpPr/>
            <p:nvPr/>
          </p:nvSpPr>
          <p:spPr>
            <a:xfrm rot="5400000">
              <a:off x="-278266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2" name="Google Shape;142;p30"/>
            <p:cNvSpPr/>
            <p:nvPr/>
          </p:nvSpPr>
          <p:spPr>
            <a:xfrm>
              <a:off x="306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3" name="Google Shape;143;p30"/>
            <p:cNvSpPr txBox="1"/>
            <p:nvPr/>
          </p:nvSpPr>
          <p:spPr>
            <a:xfrm>
              <a:off x="32305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Pregunta</a:t>
              </a:r>
              <a:endParaRPr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4" name="Google Shape;144;p30"/>
            <p:cNvSpPr/>
            <p:nvPr/>
          </p:nvSpPr>
          <p:spPr>
            <a:xfrm>
              <a:off x="345671" y="2952057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5" name="Google Shape;145;p30"/>
            <p:cNvSpPr/>
            <p:nvPr/>
          </p:nvSpPr>
          <p:spPr>
            <a:xfrm>
              <a:off x="306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9CC2E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6" name="Google Shape;146;p30"/>
            <p:cNvSpPr txBox="1"/>
            <p:nvPr/>
          </p:nvSpPr>
          <p:spPr>
            <a:xfrm>
              <a:off x="32305" y="2809994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Hipótesis</a:t>
              </a:r>
              <a:endParaRPr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7" name="Google Shape;147;p30"/>
            <p:cNvSpPr/>
            <p:nvPr/>
          </p:nvSpPr>
          <p:spPr>
            <a:xfrm rot="-5400000">
              <a:off x="1934668" y="2328119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8" name="Google Shape;148;p30"/>
            <p:cNvSpPr/>
            <p:nvPr/>
          </p:nvSpPr>
          <p:spPr>
            <a:xfrm>
              <a:off x="2216050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1E4E79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9" name="Google Shape;149;p30"/>
            <p:cNvSpPr txBox="1"/>
            <p:nvPr/>
          </p:nvSpPr>
          <p:spPr>
            <a:xfrm>
              <a:off x="2245290" y="2809994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Metodología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0" name="Google Shape;150;p30"/>
            <p:cNvSpPr/>
            <p:nvPr/>
          </p:nvSpPr>
          <p:spPr>
            <a:xfrm rot="-5400000">
              <a:off x="1934668" y="1080195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1" name="Google Shape;151;p30"/>
            <p:cNvSpPr/>
            <p:nvPr/>
          </p:nvSpPr>
          <p:spPr>
            <a:xfrm>
              <a:off x="2216050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E75B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2" name="Google Shape;152;p30"/>
            <p:cNvSpPr txBox="1"/>
            <p:nvPr/>
          </p:nvSpPr>
          <p:spPr>
            <a:xfrm>
              <a:off x="2245290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Encuesta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3" name="Google Shape;153;p30"/>
            <p:cNvSpPr/>
            <p:nvPr/>
          </p:nvSpPr>
          <p:spPr>
            <a:xfrm>
              <a:off x="2558656" y="456209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4" name="Google Shape;154;p30"/>
            <p:cNvSpPr/>
            <p:nvPr/>
          </p:nvSpPr>
          <p:spPr>
            <a:xfrm>
              <a:off x="2216050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5B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5" name="Google Shape;155;p30"/>
            <p:cNvSpPr txBox="1"/>
            <p:nvPr/>
          </p:nvSpPr>
          <p:spPr>
            <a:xfrm>
              <a:off x="2245290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Levantamiento de datos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6" name="Google Shape;156;p30"/>
            <p:cNvSpPr/>
            <p:nvPr/>
          </p:nvSpPr>
          <p:spPr>
            <a:xfrm rot="5400000">
              <a:off x="4147703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7" name="Google Shape;157;p30"/>
            <p:cNvSpPr/>
            <p:nvPr/>
          </p:nvSpPr>
          <p:spPr>
            <a:xfrm>
              <a:off x="442903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163A5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8" name="Google Shape;158;p30"/>
            <p:cNvSpPr txBox="1"/>
            <p:nvPr/>
          </p:nvSpPr>
          <p:spPr>
            <a:xfrm>
              <a:off x="4458275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dk2"/>
                  </a:solidFill>
                  <a:highlight>
                    <a:srgbClr val="FDBF41"/>
                  </a:highlight>
                  <a:latin typeface="EB Garamond"/>
                  <a:ea typeface="EB Garamond"/>
                  <a:cs typeface="EB Garamond"/>
                  <a:sym typeface="EB Garamond"/>
                </a:rPr>
                <a:t>Matriz de datos</a:t>
              </a:r>
              <a:endParaRPr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9" name="Google Shape;159;p30"/>
            <p:cNvSpPr/>
            <p:nvPr/>
          </p:nvSpPr>
          <p:spPr>
            <a:xfrm rot="5400000">
              <a:off x="4147703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60" name="Google Shape;160;p30"/>
            <p:cNvSpPr/>
            <p:nvPr/>
          </p:nvSpPr>
          <p:spPr>
            <a:xfrm>
              <a:off x="442903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22A3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61" name="Google Shape;161;p30"/>
            <p:cNvSpPr txBox="1"/>
            <p:nvPr/>
          </p:nvSpPr>
          <p:spPr>
            <a:xfrm>
              <a:off x="4458275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Análisis de datos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62" name="Google Shape;162;p30"/>
            <p:cNvSpPr/>
            <p:nvPr/>
          </p:nvSpPr>
          <p:spPr>
            <a:xfrm>
              <a:off x="442903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6262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63" name="Google Shape;163;p30"/>
            <p:cNvSpPr txBox="1"/>
            <p:nvPr/>
          </p:nvSpPr>
          <p:spPr>
            <a:xfrm>
              <a:off x="4458275" y="2809994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Conclusiones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9" name="Google Shape;16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5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71" name="Google Shape;171;p31"/>
          <p:cNvGraphicFramePr/>
          <p:nvPr/>
        </p:nvGraphicFramePr>
        <p:xfrm>
          <a:off x="311708" y="1725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{BB5985F3-8DD7-48AF-B3DD-B0399FADE051}</a:tableStyleId>
              </a:tblPr>
              <a:tblGrid>
                <a:gridCol w="643525"/>
                <a:gridCol w="1538875"/>
                <a:gridCol w="1438500"/>
                <a:gridCol w="1739600"/>
              </a:tblGrid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CASO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Nivel Educativo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Clemente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Sofía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Javier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Pedro Pablo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7" name="Google Shape;17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5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79" name="Google Shape;179;p32"/>
          <p:cNvGraphicFramePr/>
          <p:nvPr/>
        </p:nvGraphicFramePr>
        <p:xfrm>
          <a:off x="311708" y="1725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{BB5985F3-8DD7-48AF-B3DD-B0399FADE051}</a:tableStyleId>
              </a:tblPr>
              <a:tblGrid>
                <a:gridCol w="643525"/>
                <a:gridCol w="1538875"/>
                <a:gridCol w="1438500"/>
                <a:gridCol w="1739600"/>
              </a:tblGrid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CASO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Nivel Educativo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Clemente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Sofía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Javier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Pedro Pablo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80" name="Google Shape;180;p32"/>
          <p:cNvSpPr txBox="1"/>
          <p:nvPr/>
        </p:nvSpPr>
        <p:spPr>
          <a:xfrm>
            <a:off x="6189225" y="1201163"/>
            <a:ext cx="2755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Nivel Educativo: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Nunca asistió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Sala cuna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Jardín infantil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 kínder/Kínder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Educación especial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Primaria/Preparatoria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Educación Básica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Humanidades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Educación Media (CH)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Técnica, Comercial, Normalista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Educación TP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Técnico nivel superior incompleto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Técnico nivel superior 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Profesional incompleto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Profesional 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Postgrado incompleto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Postgrado completo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152475"/>
            <a:ext cx="5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88" name="Google Shape;188;p33"/>
          <p:cNvGraphicFramePr/>
          <p:nvPr/>
        </p:nvGraphicFramePr>
        <p:xfrm>
          <a:off x="311708" y="1725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{BB5985F3-8DD7-48AF-B3DD-B0399FADE051}</a:tableStyleId>
              </a:tblPr>
              <a:tblGrid>
                <a:gridCol w="643525"/>
                <a:gridCol w="1538875"/>
                <a:gridCol w="1438500"/>
                <a:gridCol w="1739600"/>
              </a:tblGrid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CASO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p1_n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p2_edad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p3_nedu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Clemente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Sofía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Javier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Pedro Pablo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89" name="Google Shape;189;p33"/>
          <p:cNvSpPr txBox="1"/>
          <p:nvPr/>
        </p:nvSpPr>
        <p:spPr>
          <a:xfrm>
            <a:off x="5961762" y="1725178"/>
            <a:ext cx="2510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Libro de códigos: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p1_n = “Nombre”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p2_edad = “Edad”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p3_nedu = “Nivel educativo alcanzado”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Sistematización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5" name="Google Shape;19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96" name="Google Shape;196;p34"/>
          <p:cNvGrpSpPr/>
          <p:nvPr/>
        </p:nvGrpSpPr>
        <p:grpSpPr>
          <a:xfrm>
            <a:off x="2295430" y="1271825"/>
            <a:ext cx="4553144" cy="3485206"/>
            <a:chOff x="698402" y="23283"/>
            <a:chExt cx="4699292" cy="4017528"/>
          </a:xfrm>
        </p:grpSpPr>
        <p:sp>
          <p:nvSpPr>
            <p:cNvPr id="197" name="Google Shape;197;p34"/>
            <p:cNvSpPr/>
            <p:nvPr/>
          </p:nvSpPr>
          <p:spPr>
            <a:xfrm rot="5400000">
              <a:off x="976707" y="1187328"/>
              <a:ext cx="1050000" cy="1195500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BFC1C6"/>
            </a:solidFill>
            <a:ln cap="flat" cmpd="sng" w="12700">
              <a:solidFill>
                <a:srgbClr val="3D4B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4"/>
            <p:cNvSpPr/>
            <p:nvPr/>
          </p:nvSpPr>
          <p:spPr>
            <a:xfrm>
              <a:off x="698402" y="23283"/>
              <a:ext cx="1767900" cy="1237500"/>
            </a:xfrm>
            <a:prstGeom prst="roundRect">
              <a:avLst>
                <a:gd fmla="val 16670" name="adj"/>
              </a:avLst>
            </a:prstGeom>
            <a:solidFill>
              <a:srgbClr val="44546A"/>
            </a:solidFill>
            <a:ln cap="flat" cmpd="sng" w="12700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4"/>
            <p:cNvSpPr txBox="1"/>
            <p:nvPr/>
          </p:nvSpPr>
          <p:spPr>
            <a:xfrm>
              <a:off x="758818" y="83699"/>
              <a:ext cx="1647000" cy="11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5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Encuesta</a:t>
              </a:r>
              <a:endParaRPr sz="10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0" name="Google Shape;200;p34"/>
            <p:cNvSpPr/>
            <p:nvPr/>
          </p:nvSpPr>
          <p:spPr>
            <a:xfrm rot="5400000">
              <a:off x="2442403" y="2577342"/>
              <a:ext cx="1050000" cy="1195500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BFC1C6"/>
            </a:solidFill>
            <a:ln cap="flat" cmpd="sng" w="12700">
              <a:solidFill>
                <a:srgbClr val="3D4B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4"/>
            <p:cNvSpPr/>
            <p:nvPr/>
          </p:nvSpPr>
          <p:spPr>
            <a:xfrm>
              <a:off x="2164098" y="1413297"/>
              <a:ext cx="1767900" cy="1237500"/>
            </a:xfrm>
            <a:prstGeom prst="roundRect">
              <a:avLst>
                <a:gd fmla="val 16670" name="adj"/>
              </a:avLst>
            </a:prstGeom>
            <a:solidFill>
              <a:srgbClr val="44546A"/>
            </a:solidFill>
            <a:ln cap="flat" cmpd="sng" w="12700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4"/>
            <p:cNvSpPr txBox="1"/>
            <p:nvPr/>
          </p:nvSpPr>
          <p:spPr>
            <a:xfrm>
              <a:off x="2224514" y="1473713"/>
              <a:ext cx="1647000" cy="11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5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BB.DD.</a:t>
              </a:r>
              <a:endParaRPr sz="10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3" name="Google Shape;203;p34"/>
            <p:cNvSpPr/>
            <p:nvPr/>
          </p:nvSpPr>
          <p:spPr>
            <a:xfrm>
              <a:off x="3629794" y="2803311"/>
              <a:ext cx="1767900" cy="1237500"/>
            </a:xfrm>
            <a:prstGeom prst="roundRect">
              <a:avLst>
                <a:gd fmla="val 16670" name="adj"/>
              </a:avLst>
            </a:prstGeom>
            <a:solidFill>
              <a:srgbClr val="44546A"/>
            </a:solidFill>
            <a:ln cap="flat" cmpd="sng" w="12700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4"/>
            <p:cNvSpPr txBox="1"/>
            <p:nvPr/>
          </p:nvSpPr>
          <p:spPr>
            <a:xfrm>
              <a:off x="3690210" y="2863727"/>
              <a:ext cx="1647000" cy="11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5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Libro de códigos</a:t>
              </a:r>
              <a:endParaRPr sz="10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Sistematización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Tabla&#10;&#10;Descripción generada automáticamente" id="211" name="Google Shape;211;p35"/>
          <p:cNvPicPr preferRelativeResize="0"/>
          <p:nvPr/>
        </p:nvPicPr>
        <p:blipFill rotWithShape="1">
          <a:blip r:embed="rId3">
            <a:alphaModFix/>
          </a:blip>
          <a:srcRect b="4095" l="0" r="0" t="0"/>
          <a:stretch/>
        </p:blipFill>
        <p:spPr>
          <a:xfrm>
            <a:off x="5076525" y="1017725"/>
            <a:ext cx="2907446" cy="399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Tabla, Excel&#10;&#10;Descripción generada automáticamente" id="212" name="Google Shape;212;p35"/>
          <p:cNvPicPr preferRelativeResize="0"/>
          <p:nvPr/>
        </p:nvPicPr>
        <p:blipFill rotWithShape="1">
          <a:blip r:embed="rId4">
            <a:alphaModFix/>
          </a:blip>
          <a:srcRect b="16339" l="0" r="0" t="0"/>
          <a:stretch/>
        </p:blipFill>
        <p:spPr>
          <a:xfrm>
            <a:off x="311701" y="3112174"/>
            <a:ext cx="4213449" cy="190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orreo electrónico&#10;&#10;Descripción generada automáticamente" id="213" name="Google Shape;213;p35"/>
          <p:cNvPicPr preferRelativeResize="0"/>
          <p:nvPr/>
        </p:nvPicPr>
        <p:blipFill rotWithShape="1">
          <a:blip r:embed="rId5">
            <a:alphaModFix/>
          </a:blip>
          <a:srcRect b="26587" l="0" r="0" t="9409"/>
          <a:stretch/>
        </p:blipFill>
        <p:spPr>
          <a:xfrm>
            <a:off x="311700" y="1017724"/>
            <a:ext cx="4213451" cy="19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5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221" name="Google Shape;221;p36"/>
          <p:cNvGraphicFramePr/>
          <p:nvPr/>
        </p:nvGraphicFramePr>
        <p:xfrm>
          <a:off x="311708" y="1725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{BB5985F3-8DD7-48AF-B3DD-B0399FADE051}</a:tableStyleId>
              </a:tblPr>
              <a:tblGrid>
                <a:gridCol w="643525"/>
                <a:gridCol w="1538875"/>
                <a:gridCol w="1438500"/>
                <a:gridCol w="1739600"/>
              </a:tblGrid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CASO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p1_n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p2_edad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p3_nedu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Clemente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Sofía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Javier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Pedro Pablo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22" name="Google Shape;222;p36"/>
          <p:cNvSpPr txBox="1"/>
          <p:nvPr/>
        </p:nvSpPr>
        <p:spPr>
          <a:xfrm>
            <a:off x="5961762" y="1725178"/>
            <a:ext cx="2510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Libro de códigos: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p1_n = “Nombre”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p2_edad = “Edad”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p3_nedu = “Nivel educativo alcanzado”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Conceptos clave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7244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Variable identificadora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 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En general, en la primera columna hay un ID de caso, con un número único, el “rut” del caso en la BB.DD. (base de datos), se nombre como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folio, id, id_caso u otro.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47244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Número de casos (N)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Se le dice “N” al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total de casos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de una matriz o la cantidad de respuestas en una variable.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47244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Preguntas cerradas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Variables que cuentan con un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número determinado de alternativas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o atributos de respuesta.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47244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Preguntas abiertas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Variables que cuentan con un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número indeterminado de opciones de respuestas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, muchas veces estas pasan por un proceso de codificación posterior.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47244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Valores perdidos (missing)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El valor perdido es un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caso que no tiene respuesta en una variable o pregunta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, a veces se pone el número “99”, “No sabe”, “No responde” y se recodifica como valores perdidos.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Estudio Longitudinal Social de Chile (ELSOC): </a:t>
            </a: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https://coes.cl/encuesta-panel/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Encuesta de Caracterización Socioeconómica Nacional (Casen): </a:t>
            </a: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https://observatorio.ministeriodesarrollosocial.gob.cl/encuesta-casen-2022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5" name="Google Shape;2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Ejemplo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6" name="Google Shape;23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Ejercicio 1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Elegir una encuesta con una temática de tu interés.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Buscar en internet y descargar: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lphaL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Cuestionario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lphaL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Base de datos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lphaL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Libro de códigos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lphaL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Manual de usuario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3" name="Google Shape;24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4D79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II.2. Nociones de Universo, Población y Muestra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9" name="Google Shape;24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Conceptos clave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Universo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Población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Muestra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Forma&#10;&#10;Descripción generada automáticamente con confianza baja" id="257" name="Google Shape;257;p41"/>
          <p:cNvPicPr preferRelativeResize="0"/>
          <p:nvPr/>
        </p:nvPicPr>
        <p:blipFill rotWithShape="1">
          <a:blip r:embed="rId3">
            <a:alphaModFix/>
          </a:blip>
          <a:srcRect b="18494" l="0" r="0" t="0"/>
          <a:stretch/>
        </p:blipFill>
        <p:spPr>
          <a:xfrm>
            <a:off x="6403522" y="1940978"/>
            <a:ext cx="2068925" cy="1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Conceptos clave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3" name="Google Shape;263;p42"/>
          <p:cNvSpPr txBox="1"/>
          <p:nvPr>
            <p:ph idx="1" type="body"/>
          </p:nvPr>
        </p:nvSpPr>
        <p:spPr>
          <a:xfrm>
            <a:off x="311700" y="1152475"/>
            <a:ext cx="504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Universo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Conjunto total de elementos sobre los que se quiere obtener información.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Población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Subconjunto del universo que es de interés específico para la investigación.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Muestra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Subconjunto de la población que será observado o medido.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4" name="Google Shape;26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265" name="Google Shape;2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9574" y="1819077"/>
            <a:ext cx="3492725" cy="216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1" name="Google Shape;271;p4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Población y muestra</a:t>
            </a:r>
            <a:endParaRPr b="1" sz="25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2" name="Google Shape;272;p43"/>
          <p:cNvSpPr txBox="1"/>
          <p:nvPr/>
        </p:nvSpPr>
        <p:spPr>
          <a:xfrm>
            <a:off x="5361900" y="1990050"/>
            <a:ext cx="2972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población</a:t>
            </a: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es el conjunto de todos los sujetos de interés en un estudio.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muestra</a:t>
            </a: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es un subconjunto de la población a través de los cuales el estudio recoge los datos.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273" name="Google Shape;273;p43"/>
          <p:cNvGrpSpPr/>
          <p:nvPr/>
        </p:nvGrpSpPr>
        <p:grpSpPr>
          <a:xfrm>
            <a:off x="1212450" y="1404675"/>
            <a:ext cx="3221100" cy="3220500"/>
            <a:chOff x="2961500" y="961400"/>
            <a:chExt cx="3221100" cy="3220500"/>
          </a:xfrm>
        </p:grpSpPr>
        <p:sp>
          <p:nvSpPr>
            <p:cNvPr id="274" name="Google Shape;274;p43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75" name="Google Shape;275;p43"/>
            <p:cNvSpPr txBox="1"/>
            <p:nvPr/>
          </p:nvSpPr>
          <p:spPr>
            <a:xfrm>
              <a:off x="3783038" y="1386300"/>
              <a:ext cx="15780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Población</a:t>
              </a:r>
              <a:endParaRPr sz="22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76" name="Google Shape;276;p43"/>
          <p:cNvGrpSpPr/>
          <p:nvPr/>
        </p:nvGrpSpPr>
        <p:grpSpPr>
          <a:xfrm>
            <a:off x="1931432" y="2834132"/>
            <a:ext cx="1783128" cy="1791032"/>
            <a:chOff x="3474050" y="1986200"/>
            <a:chExt cx="2195700" cy="2195700"/>
          </a:xfrm>
        </p:grpSpPr>
        <p:sp>
          <p:nvSpPr>
            <p:cNvPr id="277" name="Google Shape;277;p43"/>
            <p:cNvSpPr/>
            <p:nvPr/>
          </p:nvSpPr>
          <p:spPr>
            <a:xfrm>
              <a:off x="3474050" y="1986200"/>
              <a:ext cx="2195700" cy="21957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78" name="Google Shape;278;p43"/>
            <p:cNvSpPr txBox="1"/>
            <p:nvPr/>
          </p:nvSpPr>
          <p:spPr>
            <a:xfrm>
              <a:off x="3833274" y="281705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Muestra</a:t>
              </a:r>
              <a:endParaRPr sz="22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Población y muestra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4" name="Google Shape;28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285" name="Google Shape;285;p44"/>
          <p:cNvGrpSpPr/>
          <p:nvPr/>
        </p:nvGrpSpPr>
        <p:grpSpPr>
          <a:xfrm>
            <a:off x="550598" y="2004515"/>
            <a:ext cx="2041855" cy="2011846"/>
            <a:chOff x="2961500" y="961400"/>
            <a:chExt cx="3221100" cy="3220500"/>
          </a:xfrm>
        </p:grpSpPr>
        <p:sp>
          <p:nvSpPr>
            <p:cNvPr id="286" name="Google Shape;286;p44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87" name="Google Shape;287;p44"/>
            <p:cNvSpPr txBox="1"/>
            <p:nvPr/>
          </p:nvSpPr>
          <p:spPr>
            <a:xfrm>
              <a:off x="3783038" y="1386300"/>
              <a:ext cx="15780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Población</a:t>
              </a:r>
              <a:endParaRPr sz="15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88" name="Google Shape;288;p44"/>
          <p:cNvGrpSpPr/>
          <p:nvPr/>
        </p:nvGrpSpPr>
        <p:grpSpPr>
          <a:xfrm>
            <a:off x="913029" y="2710356"/>
            <a:ext cx="1316981" cy="1306002"/>
            <a:chOff x="3474050" y="1986200"/>
            <a:chExt cx="2195700" cy="2195700"/>
          </a:xfrm>
        </p:grpSpPr>
        <p:sp>
          <p:nvSpPr>
            <p:cNvPr id="289" name="Google Shape;289;p44"/>
            <p:cNvSpPr/>
            <p:nvPr/>
          </p:nvSpPr>
          <p:spPr>
            <a:xfrm>
              <a:off x="3474050" y="1986200"/>
              <a:ext cx="2195700" cy="21957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90" name="Google Shape;290;p44"/>
            <p:cNvSpPr txBox="1"/>
            <p:nvPr/>
          </p:nvSpPr>
          <p:spPr>
            <a:xfrm>
              <a:off x="3833274" y="281705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Muestra</a:t>
              </a:r>
              <a:endParaRPr sz="15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pic>
        <p:nvPicPr>
          <p:cNvPr id="291" name="Google Shape;2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275" y="1458325"/>
            <a:ext cx="1722900" cy="201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6275" y="2695700"/>
            <a:ext cx="1722900" cy="201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4275" y="2710350"/>
            <a:ext cx="1722900" cy="1981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Población y muestra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9" name="Google Shape;29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0" name="Google Shape;30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173" y="1109075"/>
            <a:ext cx="5255649" cy="37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Parámetro y estadístico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6" name="Google Shape;30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07" name="Google Shape;307;p46"/>
          <p:cNvSpPr txBox="1"/>
          <p:nvPr/>
        </p:nvSpPr>
        <p:spPr>
          <a:xfrm>
            <a:off x="5361900" y="1990050"/>
            <a:ext cx="2972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Parámetros:</a:t>
            </a:r>
            <a:endParaRPr b="1"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Un parámetro es una característica numérica de resumen de la población.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Estadísticos:</a:t>
            </a:r>
            <a:endParaRPr b="1"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Un estadístico es una característica numérica de resumen de la muestra.</a:t>
            </a:r>
            <a:endParaRPr sz="13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308" name="Google Shape;308;p46"/>
          <p:cNvGrpSpPr/>
          <p:nvPr/>
        </p:nvGrpSpPr>
        <p:grpSpPr>
          <a:xfrm>
            <a:off x="754268" y="2022737"/>
            <a:ext cx="2461565" cy="2476242"/>
            <a:chOff x="2961500" y="961400"/>
            <a:chExt cx="3221100" cy="3220500"/>
          </a:xfrm>
        </p:grpSpPr>
        <p:sp>
          <p:nvSpPr>
            <p:cNvPr id="309" name="Google Shape;309;p46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10" name="Google Shape;310;p46"/>
            <p:cNvSpPr txBox="1"/>
            <p:nvPr/>
          </p:nvSpPr>
          <p:spPr>
            <a:xfrm>
              <a:off x="3783038" y="1386300"/>
              <a:ext cx="15780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Población</a:t>
              </a:r>
              <a:endParaRPr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311" name="Google Shape;311;p46"/>
          <p:cNvGrpSpPr/>
          <p:nvPr/>
        </p:nvGrpSpPr>
        <p:grpSpPr>
          <a:xfrm>
            <a:off x="1341080" y="3122047"/>
            <a:ext cx="1362651" cy="1376923"/>
            <a:chOff x="3474050" y="1986200"/>
            <a:chExt cx="2195700" cy="2195700"/>
          </a:xfrm>
        </p:grpSpPr>
        <p:sp>
          <p:nvSpPr>
            <p:cNvPr id="312" name="Google Shape;312;p46"/>
            <p:cNvSpPr/>
            <p:nvPr/>
          </p:nvSpPr>
          <p:spPr>
            <a:xfrm>
              <a:off x="3474050" y="1986200"/>
              <a:ext cx="2195700" cy="21957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13" name="Google Shape;313;p46"/>
            <p:cNvSpPr txBox="1"/>
            <p:nvPr/>
          </p:nvSpPr>
          <p:spPr>
            <a:xfrm>
              <a:off x="3833274" y="281705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Muestra</a:t>
              </a:r>
              <a:endParaRPr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314" name="Google Shape;314;p46"/>
          <p:cNvSpPr/>
          <p:nvPr/>
        </p:nvSpPr>
        <p:spPr>
          <a:xfrm>
            <a:off x="2786375" y="2492675"/>
            <a:ext cx="2199000" cy="1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5" name="Google Shape;315;p46"/>
          <p:cNvSpPr/>
          <p:nvPr/>
        </p:nvSpPr>
        <p:spPr>
          <a:xfrm>
            <a:off x="2522800" y="3878325"/>
            <a:ext cx="2515200" cy="1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Parámetro y estadístico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1" name="Google Shape;32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2" name="Google Shape;322;p47"/>
          <p:cNvSpPr txBox="1"/>
          <p:nvPr/>
        </p:nvSpPr>
        <p:spPr>
          <a:xfrm>
            <a:off x="5361900" y="1470075"/>
            <a:ext cx="2972700" cy="30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Por ejemplo: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proporción de círculos blancos en la población es 0.3 o 30%. Lo que es un </a:t>
            </a:r>
            <a:r>
              <a:rPr b="1"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parámetro.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proporción de círculos blancos en la muestra 1 es 0.75 o 75%. 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Mientras que la proporción de círculos blancos en la muestra 2 es 0.375 o 37.5%. 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Estas proporciones son</a:t>
            </a:r>
            <a:r>
              <a:rPr b="1"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estadísticos.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23" name="Google Shape;3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2463" y="1597875"/>
            <a:ext cx="1342825" cy="15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00" y="3135800"/>
            <a:ext cx="1342825" cy="156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2713" y="3147225"/>
            <a:ext cx="1342825" cy="154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331" name="Google Shape;33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201" y="812737"/>
            <a:ext cx="6374824" cy="351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II.3. Técnicas de recolección y procesamiento de datos</a:t>
            </a:r>
            <a:endParaRPr sz="326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7" name="Google Shape;33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Tipos de muestreo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3" name="Google Shape;343;p50"/>
          <p:cNvSpPr txBox="1"/>
          <p:nvPr>
            <p:ph idx="1" type="body"/>
          </p:nvPr>
        </p:nvSpPr>
        <p:spPr>
          <a:xfrm>
            <a:off x="311700" y="1464202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Probabilísticas (al azar, sistemática, estratificada).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probabilísticas (por conveniencia, bola de nieve, intencional).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Técnicas de recolección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50" name="Google Shape;35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Encuestas y cuestionarios: Diseño y uso de preguntas cerradas y abiertas.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Observación cuantitativa: Uso  de escalas y categorías para medir comportamientos o fenómenos.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Censo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51" name="Google Shape;35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Procesamiento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57" name="Google Shape;35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Codificación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Estadística Descriptiva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Inferencia Estadística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Correlación y Regresión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58" name="Google Shape;35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4" name="Google Shape;364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04: Unidad II. La estadística en el contexto de la investigación social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5" name="Google Shape;365;p5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6" name="Google Shape;366;p5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María Fernanda Núñez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2025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67" name="Google Shape;367;p53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