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Nunito"/>
      <p:regular r:id="rId40"/>
      <p:bold r:id="rId41"/>
      <p:italic r:id="rId42"/>
      <p:boldItalic r:id="rId43"/>
    </p:embeddedFont>
    <p:embeddedFont>
      <p:font typeface="EB Garamond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A42C5A-92BE-4404-9B5D-7263F65CCC39}">
  <a:tblStyle styleId="{BFA42C5A-92BE-4404-9B5D-7263F65CCC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regular.fntdata"/><Relationship Id="rId20" Type="http://schemas.openxmlformats.org/officeDocument/2006/relationships/slide" Target="slides/slide14.xml"/><Relationship Id="rId42" Type="http://schemas.openxmlformats.org/officeDocument/2006/relationships/font" Target="fonts/Nunito-italic.fntdata"/><Relationship Id="rId41" Type="http://schemas.openxmlformats.org/officeDocument/2006/relationships/font" Target="fonts/Nunito-bold.fntdata"/><Relationship Id="rId22" Type="http://schemas.openxmlformats.org/officeDocument/2006/relationships/slide" Target="slides/slide16.xml"/><Relationship Id="rId44" Type="http://schemas.openxmlformats.org/officeDocument/2006/relationships/font" Target="fonts/EBGaramond-regular.fntdata"/><Relationship Id="rId21" Type="http://schemas.openxmlformats.org/officeDocument/2006/relationships/slide" Target="slides/slide15.xml"/><Relationship Id="rId43" Type="http://schemas.openxmlformats.org/officeDocument/2006/relationships/font" Target="fonts/Nunito-boldItalic.fntdata"/><Relationship Id="rId24" Type="http://schemas.openxmlformats.org/officeDocument/2006/relationships/slide" Target="slides/slide18.xml"/><Relationship Id="rId46" Type="http://schemas.openxmlformats.org/officeDocument/2006/relationships/font" Target="fonts/EBGaramond-italic.fntdata"/><Relationship Id="rId23" Type="http://schemas.openxmlformats.org/officeDocument/2006/relationships/slide" Target="slides/slide17.xml"/><Relationship Id="rId45" Type="http://schemas.openxmlformats.org/officeDocument/2006/relationships/font" Target="fonts/EBGaramon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EBGaramond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ec57c2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9ec57c2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9ec57c2e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9ec57c2e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9f39dd4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9f39dd4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e0ec9c984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be0ec9c984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be8203163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be8203163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be8203163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be8203163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9f39dd4f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9f39dd4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f39dd4f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9f39dd4f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9f39dd4f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9f39dd4f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e8203163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e8203163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be8203163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be8203163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e8203163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e8203163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be8203163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be8203163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be8203163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be8203163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e8203163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e8203163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be8203163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be8203163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be8203163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be8203163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e8203163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e8203163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c48e00444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c48e00444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be0ec9c984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be0ec9c984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c48e00444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c48e00444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c48e00444b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c48e00444b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c48e00444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c48e00444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c48e00444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c48e00444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c48e00444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c48e00444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c48e00444b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c48e00444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c48e00444b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c48e00444b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be8203163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be8203163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be82031632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be82031632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be82031632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be82031632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9ec57c2e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f9ec57c2e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Relationship Id="rId4" Type="http://schemas.openxmlformats.org/officeDocument/2006/relationships/hyperlink" Target="mailto:katherine.aravena@mail.udp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5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01: Unidad I. Introducción a la investigación social cuantitativa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8" name="Google Shape;58;p13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45818E"/>
                </a:solidFill>
                <a:latin typeface="EB Garamond"/>
                <a:ea typeface="EB Garamond"/>
                <a:cs typeface="EB Garamond"/>
                <a:sym typeface="EB 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daniela.olivares2@mail.udp.cl</a:t>
            </a:r>
            <a:endParaRPr>
              <a:solidFill>
                <a:srgbClr val="45818E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45818E"/>
                </a:solidFill>
                <a:latin typeface="EB Garamond"/>
                <a:ea typeface="EB Garamond"/>
                <a:cs typeface="EB Garamond"/>
                <a:sym typeface="EB 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katherine.aravena@mail.udp.cl</a:t>
            </a:r>
            <a:endParaRPr>
              <a:solidFill>
                <a:srgbClr val="45818E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Unidad I. Introducción a la investigación social cuantitativa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I.1. Fundamentos de la Investigación Cuantitativa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I.1.1. Ciencia y conocimiento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I.1.2. Medir la realidad social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01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I.1. Fundamentos de la Investigación Cuantitativa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67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I.1.1. Ciencia y conocimiento</a:t>
            </a:r>
            <a:endParaRPr sz="3267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Investigación Social Cuantitativa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s"/>
            </a:br>
            <a:r>
              <a:rPr lang="es"/>
              <a:t>Investigación en las Ciencias Sociales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Investigación en las Ciencias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Ciencias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Ciencia</a:t>
            </a:r>
            <a:endParaRPr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la investigación social?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Primero… ¿qué es la investigación?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investigación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es el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trabajo sistemático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que se lleva a cabo para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generar conocimientos científicos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Pero ¿qué es el conocimiento científico? ¿Cómo se produce? ¿Qué es la ciencia? ¿Podemos hacer ciencia social? ¿Se puede medir la realidad social?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la ciencia?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definición tradicional de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ciencia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estipula que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se basa en hechos perceptibles por los sentidos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, y no en subjetividades, por lo que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existe la objetividad científica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se dan directamente a observadores cuidadosos y desprejuiciados por medio de los sentidos.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son anteriores a la teoría e independientes de ella.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constituyen un fundamento firme y confiable para el conocimiento científico.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EB Garamond"/>
                <a:ea typeface="EB Garamond"/>
                <a:cs typeface="EB Garamond"/>
                <a:sym typeface="EB Garamond"/>
              </a:rPr>
              <a:t>(Chalmers, 1999)</a:t>
            </a:r>
            <a:endParaRPr sz="11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la ciencia?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definición tradicional de ciencia estipula que se basa en hechos perceptibles por los sentidos, y no en subjetividades, por lo que existe la objetividad científica: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se dan directamente a observadores cuidadosos y desprejuiciados por medio de los sentidos.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son anteriores a la teoría e independientes de ella.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constituyen un fundamento firme y confiable para el conocimiento científico.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EB Garamond"/>
                <a:ea typeface="EB Garamond"/>
                <a:cs typeface="EB Garamond"/>
                <a:sym typeface="EB Garamond"/>
              </a:rPr>
              <a:t>(Chalmers, 1999)</a:t>
            </a:r>
            <a:endParaRPr sz="11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975" y="1203250"/>
            <a:ext cx="3354240" cy="231068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1653274" y="3692175"/>
            <a:ext cx="154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Fuente: Chalmers (1999)</a:t>
            </a:r>
            <a:endParaRPr sz="9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6000750" y="2410200"/>
            <a:ext cx="365400" cy="3231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la ciencia?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definición tradicional de ciencia estipula que se basa en hechos perceptibles por los sentidos, y no en subjetividades, por lo que existe la objetividad científica: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se dan directamente a observadores cuidadosos y desprejuiciados por medio de los sentidos.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son anteriores a la teoría e independientes de ella.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constituyen un fundamento firme y confiable para el conocimiento científico.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EB Garamond"/>
                <a:ea typeface="EB Garamond"/>
                <a:cs typeface="EB Garamond"/>
                <a:sym typeface="EB Garamond"/>
              </a:rPr>
              <a:t>(Chalmers, 1999)</a:t>
            </a:r>
            <a:endParaRPr sz="11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583" y="1292300"/>
            <a:ext cx="2585452" cy="258547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1720336" y="3928250"/>
            <a:ext cx="158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Fuente: almaobservatory.com</a:t>
            </a:r>
            <a:endParaRPr sz="9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6926075" y="2892850"/>
            <a:ext cx="365400" cy="3231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la ciencia?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6" name="Google Shape;126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definición tradicional de ciencia estipula que se basa en hechos perceptibles por los sentidos, y no en subjetividades, por lo que existe la objetividad científica: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se dan directamente a observadores cuidadosos y desprejuiciados por medio de los sentidos.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son anteriores a la teoría e independientes de ella.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constituyen un fundamento firme y confiable para el conocimiento científico.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EB Garamond"/>
                <a:ea typeface="EB Garamond"/>
                <a:cs typeface="EB Garamond"/>
                <a:sym typeface="EB Garamond"/>
              </a:rPr>
              <a:t>(Chalmers, 1999)</a:t>
            </a:r>
            <a:endParaRPr sz="11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1310900" y="3382525"/>
            <a:ext cx="229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Fuente: solarsystem.nasa.gov</a:t>
            </a:r>
            <a:endParaRPr sz="9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3650"/>
            <a:ext cx="4295196" cy="134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/>
          <p:nvPr/>
        </p:nvSpPr>
        <p:spPr>
          <a:xfrm>
            <a:off x="8160575" y="3382525"/>
            <a:ext cx="365400" cy="3231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la ciencia?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definición tradicional de ciencia estipula que se basa en hechos perceptibles por los sentidos, y no en subjetividades, por lo que existe la objetividad científica: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se dan directamente a observadores cuidadosos y desprejuiciados por medio de los sentidos.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son anteriores a la teoría e independientes de ella.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hechos constituyen un fundamento firme y confiable para el conocimiento científico.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EB Garamond"/>
                <a:ea typeface="EB Garamond"/>
                <a:cs typeface="EB Garamond"/>
                <a:sym typeface="EB Garamond"/>
              </a:rPr>
              <a:t>(Chalmers, 1999)</a:t>
            </a:r>
            <a:endParaRPr sz="11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975" y="1203250"/>
            <a:ext cx="2069175" cy="142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5213" y="1264275"/>
            <a:ext cx="1549926" cy="1549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/>
        </p:nvSpPr>
        <p:spPr>
          <a:xfrm>
            <a:off x="1018149" y="2814200"/>
            <a:ext cx="154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Fuente: Chalmers (1999)</a:t>
            </a:r>
            <a:endParaRPr sz="9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2925236" y="2928850"/>
            <a:ext cx="158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Fuente: almaobservatory.com</a:t>
            </a:r>
            <a:endParaRPr sz="9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1514550" y="4663225"/>
            <a:ext cx="229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Fuente: solarsystem.nasa.gov</a:t>
            </a:r>
            <a:endParaRPr sz="9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275" y="3344775"/>
            <a:ext cx="4295196" cy="134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/>
          <p:nvPr/>
        </p:nvSpPr>
        <p:spPr>
          <a:xfrm>
            <a:off x="6000750" y="2410200"/>
            <a:ext cx="365400" cy="3231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"/>
          <p:cNvSpPr/>
          <p:nvPr/>
        </p:nvSpPr>
        <p:spPr>
          <a:xfrm>
            <a:off x="6926075" y="2892850"/>
            <a:ext cx="365400" cy="3231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/>
          <p:nvPr/>
        </p:nvSpPr>
        <p:spPr>
          <a:xfrm>
            <a:off x="8160575" y="3382525"/>
            <a:ext cx="365400" cy="3231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Entonces …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la ciencia?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Más que hablar de qué es la ciencia, nos aproximaremos desde la idea de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paradigmas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Existen distintos paradigmas (Khun, 1962):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conjuntos de normas y principios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que rigen la ciencia.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Enfoques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respecto a lo que significa el hacer ciencia.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Conceptos fundamentales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9" name="Google Shape;159;p25"/>
          <p:cNvSpPr txBox="1"/>
          <p:nvPr/>
        </p:nvSpPr>
        <p:spPr>
          <a:xfrm>
            <a:off x="1181700" y="1671075"/>
            <a:ext cx="30564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Ontología</a:t>
            </a:r>
            <a:endParaRPr b="1"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¿Qué estudiamos?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5115700" y="1671075"/>
            <a:ext cx="30564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Epistemología</a:t>
            </a:r>
            <a:endParaRPr b="1"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¿Cómo estudiamos?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3043800" y="3223125"/>
            <a:ext cx="30564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Metodología</a:t>
            </a:r>
            <a:endParaRPr b="1"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¿Qué técnicas e instrumentos utilizamos para estudiar?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4238100" y="2044825"/>
            <a:ext cx="667800" cy="1512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599191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3" name="Google Shape;163;p25"/>
          <p:cNvSpPr/>
          <p:nvPr/>
        </p:nvSpPr>
        <p:spPr>
          <a:xfrm rot="1801934">
            <a:off x="2825792" y="3006576"/>
            <a:ext cx="667749" cy="15107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599191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4" name="Google Shape;164;p25"/>
          <p:cNvSpPr/>
          <p:nvPr/>
        </p:nvSpPr>
        <p:spPr>
          <a:xfrm rot="-2383984">
            <a:off x="5591320" y="3006484"/>
            <a:ext cx="667854" cy="151263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599191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Paradigmas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132275" y="1132525"/>
            <a:ext cx="2371800" cy="3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00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Positivismo</a:t>
            </a:r>
            <a:endParaRPr sz="13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EB Garamond"/>
              <a:buChar char="●"/>
            </a:pP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Ciencias sociales similares a ciencias exactas</a:t>
            </a:r>
            <a:endParaRPr sz="1300">
              <a:latin typeface="EB Garamond"/>
              <a:ea typeface="EB Garamond"/>
              <a:cs typeface="EB Garamond"/>
              <a:sym typeface="EB Garamo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EB Garamond"/>
              <a:buChar char="●"/>
            </a:pP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El mundo existe como entidad objetiva, al margen de la mente del observador, y en principio se puede conocer en su totalidad.</a:t>
            </a:r>
            <a:endParaRPr sz="1300">
              <a:latin typeface="EB Garamond"/>
              <a:ea typeface="EB Garamond"/>
              <a:cs typeface="EB Garamond"/>
              <a:sym typeface="EB Garamo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EB Garamond"/>
              <a:buChar char="●"/>
            </a:pP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Debemos describir y analizar esa realidad sin prenociones (inductivo).</a:t>
            </a:r>
            <a:endParaRPr sz="1300">
              <a:latin typeface="EB Garamond"/>
              <a:ea typeface="EB Garamond"/>
              <a:cs typeface="EB Garamond"/>
              <a:sym typeface="EB Garamo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EB Garamond"/>
              <a:buChar char="●"/>
            </a:pP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El investigador se puede separar del objeto de, es capaz de observarlo con neutralidad sin afectarlo.</a:t>
            </a:r>
            <a:endParaRPr sz="13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1" name="Google Shape;17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2" name="Google Shape;172;p26"/>
          <p:cNvSpPr txBox="1"/>
          <p:nvPr>
            <p:ph idx="2" type="body"/>
          </p:nvPr>
        </p:nvSpPr>
        <p:spPr>
          <a:xfrm>
            <a:off x="2721200" y="1152475"/>
            <a:ext cx="250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lt1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Pospositivismo y Neopositivismo</a:t>
            </a:r>
            <a:endParaRPr b="1" sz="1300">
              <a:solidFill>
                <a:schemeClr val="lt1"/>
              </a:solidFill>
              <a:highlight>
                <a:schemeClr val="accent3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EB Garamond"/>
              <a:buChar char="●"/>
            </a:pP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La realidad es objetiva, pero solo se puede conocer de modo imperfecto, se acepta la incertidumbre.</a:t>
            </a:r>
            <a:endParaRPr sz="1300">
              <a:latin typeface="EB Garamond"/>
              <a:ea typeface="EB Garamond"/>
              <a:cs typeface="EB Garamond"/>
              <a:sym typeface="EB Garamo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EB Garamond"/>
              <a:buChar char="●"/>
            </a:pP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Algunos fenómenos no se rigen por leyes, sino por probabilidades.</a:t>
            </a:r>
            <a:endParaRPr sz="1300">
              <a:latin typeface="EB Garamond"/>
              <a:ea typeface="EB Garamond"/>
              <a:cs typeface="EB Garamond"/>
              <a:sym typeface="EB Garamo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EB Garamond"/>
              <a:buChar char="●"/>
            </a:pP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El investigador incide en el conocimiento, las teorías pueden proponerse previo a la observación empírica (deductivo).</a:t>
            </a:r>
            <a:endParaRPr sz="13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3" name="Google Shape;173;p26"/>
          <p:cNvSpPr txBox="1"/>
          <p:nvPr>
            <p:ph idx="2" type="body"/>
          </p:nvPr>
        </p:nvSpPr>
        <p:spPr>
          <a:xfrm>
            <a:off x="5564225" y="1152475"/>
            <a:ext cx="3030300" cy="3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1303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Interpretativo</a:t>
            </a:r>
            <a:endParaRPr b="1" sz="1303">
              <a:solidFill>
                <a:schemeClr val="lt2"/>
              </a:solidFill>
              <a:highlight>
                <a:srgbClr val="A64D79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11309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3"/>
              <a:buFont typeface="EB Garamond"/>
              <a:buChar char="●"/>
            </a:pPr>
            <a:r>
              <a:rPr lang="es" sz="1303">
                <a:latin typeface="EB Garamond"/>
                <a:ea typeface="EB Garamond"/>
                <a:cs typeface="EB Garamond"/>
                <a:sym typeface="EB Garamond"/>
              </a:rPr>
              <a:t>Los seres humanos son agentes significativos, el fin de los investigadores debe ser descubrir los significados que motivan sus acciones, en vez de conformarse con leyes universales ajenas a los agentes.</a:t>
            </a:r>
            <a:endParaRPr sz="1303">
              <a:latin typeface="EB Garamond"/>
              <a:ea typeface="EB Garamond"/>
              <a:cs typeface="EB Garamond"/>
              <a:sym typeface="EB Garamond"/>
            </a:endParaRPr>
          </a:p>
          <a:p>
            <a:pPr indent="-311309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3"/>
              <a:buFont typeface="EB Garamond"/>
              <a:buChar char="●"/>
            </a:pPr>
            <a:r>
              <a:rPr lang="es" sz="1303">
                <a:latin typeface="EB Garamond"/>
                <a:ea typeface="EB Garamond"/>
                <a:cs typeface="EB Garamond"/>
                <a:sym typeface="EB Garamond"/>
              </a:rPr>
              <a:t>En la esencia de este conocimiento se encuentra el significado subjetivo, las percepciones que los individuos tienen del mundo exterior y sus contextos.</a:t>
            </a:r>
            <a:endParaRPr sz="1303">
              <a:latin typeface="EB Garamond"/>
              <a:ea typeface="EB Garamond"/>
              <a:cs typeface="EB Garamond"/>
              <a:sym typeface="EB Garamond"/>
            </a:endParaRPr>
          </a:p>
          <a:p>
            <a:pPr indent="-311309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3"/>
              <a:buFont typeface="EB Garamond"/>
              <a:buChar char="●"/>
            </a:pPr>
            <a:r>
              <a:rPr lang="es" sz="1303">
                <a:latin typeface="EB Garamond"/>
                <a:ea typeface="EB Garamond"/>
                <a:cs typeface="EB Garamond"/>
                <a:sym typeface="EB Garamond"/>
              </a:rPr>
              <a:t>La realidad no es objetiva, sino que consiste en la interpretación de los individuos, al tiempo que los investigadores interpretan tales interpretaciones.</a:t>
            </a:r>
            <a:endParaRPr sz="1303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590100" y="4760875"/>
            <a:ext cx="2003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(Della Porta &amp; Keating, 2013)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Paradigmas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0" name="Google Shape;18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latin typeface="EB Garamond"/>
                <a:ea typeface="EB Garamond"/>
                <a:cs typeface="EB Garamond"/>
                <a:sym typeface="EB Garamond"/>
              </a:rPr>
              <a:t>‹#›</a:t>
            </a:fld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81" name="Google Shape;181;p27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{BFA42C5A-92BE-4404-9B5D-7263F65CCC39}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Positivismo</a:t>
                      </a:r>
                      <a:endParaRPr b="1"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Pospositivismo</a:t>
                      </a:r>
                      <a:endParaRPr b="1"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Interpretativo</a:t>
                      </a:r>
                      <a:endParaRPr b="1"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¿Existe la realidad?</a:t>
                      </a:r>
                      <a:endParaRPr b="1" sz="1300">
                        <a:solidFill>
                          <a:srgbClr val="FFFFFF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5991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Sí, y es objetiva.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Sí, es objetiva, pero el investigador incide en ella.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La realidad objetiva y subjetiva están interrelacionadas entre sí.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¿Se puede conocer la realidad?</a:t>
                      </a:r>
                      <a:endParaRPr b="1" sz="1300">
                        <a:solidFill>
                          <a:srgbClr val="FFFFFF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5991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Sí, se puede conocer totalmente.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Sí, pero sólo se puede conocer de forma imperfecta.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 conocen las subjetividades al interior de una realidad.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2" name="Google Shape;182;p27"/>
          <p:cNvSpPr txBox="1"/>
          <p:nvPr/>
        </p:nvSpPr>
        <p:spPr>
          <a:xfrm>
            <a:off x="6187800" y="4475850"/>
            <a:ext cx="200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(Della Porta &amp; Keating, 2013)</a:t>
            </a:r>
            <a:endParaRPr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Paradigmas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8" name="Google Shape;18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latin typeface="EB Garamond"/>
                <a:ea typeface="EB Garamond"/>
                <a:cs typeface="EB Garamond"/>
                <a:sym typeface="EB Garamond"/>
              </a:rPr>
              <a:t>‹#›</a:t>
            </a:fld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6187800" y="4475850"/>
            <a:ext cx="200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(Della Porta &amp; Keating, 2013)</a:t>
            </a:r>
            <a:endParaRPr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90" name="Google Shape;190;p28"/>
          <p:cNvGraphicFramePr/>
          <p:nvPr/>
        </p:nvGraphicFramePr>
        <p:xfrm>
          <a:off x="952500" y="146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{BFA42C5A-92BE-4404-9B5D-7263F65CCC39}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Positivismo</a:t>
                      </a:r>
                      <a:endParaRPr b="1"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Pospositivismo</a:t>
                      </a:r>
                      <a:endParaRPr b="1"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Interpretativo</a:t>
                      </a:r>
                      <a:endParaRPr b="1"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Relación investigador y objeto de estudio</a:t>
                      </a:r>
                      <a:endParaRPr b="1" sz="1300">
                        <a:solidFill>
                          <a:srgbClr val="FFFFFF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5991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Están separados y el investigador es neutral.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Investigador influye en el conocimiento porque es deductivo (de la teoría vienen las hipótesis y luego la observación).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Interpreta subjetivamente las subjetividades del objeto.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Forma de conocimiento</a:t>
                      </a:r>
                      <a:endParaRPr b="1" sz="1300">
                        <a:solidFill>
                          <a:srgbClr val="FFFFFF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5991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Causalidad perfecta, leyes naturales, conocimiento inductivo (de la observación generan leyes)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Ley de probabilidades.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Conocimiento contextual y subjetivo.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Paradigmas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6" name="Google Shape;19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latin typeface="EB Garamond"/>
                <a:ea typeface="EB Garamond"/>
                <a:cs typeface="EB Garamond"/>
                <a:sym typeface="EB Garamond"/>
              </a:rPr>
              <a:t>‹#›</a:t>
            </a:fld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6187800" y="4475850"/>
            <a:ext cx="200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(Della Porta &amp; Keating, 2013)</a:t>
            </a:r>
            <a:endParaRPr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98" name="Google Shape;198;p29"/>
          <p:cNvGraphicFramePr/>
          <p:nvPr/>
        </p:nvGraphicFramePr>
        <p:xfrm>
          <a:off x="952500" y="177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{BFA42C5A-92BE-4404-9B5D-7263F65CCC39}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Positivismo</a:t>
                      </a:r>
                      <a:endParaRPr b="1"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Pospositivismo</a:t>
                      </a:r>
                      <a:endParaRPr b="1"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Interpretativo</a:t>
                      </a:r>
                      <a:endParaRPr b="1"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¿Cuál metodología?</a:t>
                      </a:r>
                      <a:endParaRPr b="1" sz="1300">
                        <a:solidFill>
                          <a:srgbClr val="FFFFFF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5991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Empírica, orientada a la causalidad.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Empírica, reconociendo contextos.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Interés primordial en los significados, percepciones y el contexto.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¿Cuáles técnicas?</a:t>
                      </a:r>
                      <a:endParaRPr b="1" sz="1300">
                        <a:solidFill>
                          <a:srgbClr val="FFFFFF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5991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Métodos experimentales, modelos matemáticos, inferencia causal estadística.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Métodos estadísticos y encuestas.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Análisis de contenido del discurso y métodos etnográficos.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la investigación social?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5" name="Google Shape;20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Forma&#10;&#10;Descripción generada automáticamente con confianza baja" id="206" name="Google Shape;206;p30"/>
          <p:cNvPicPr preferRelativeResize="0"/>
          <p:nvPr/>
        </p:nvPicPr>
        <p:blipFill rotWithShape="1">
          <a:blip r:embed="rId3">
            <a:alphaModFix/>
          </a:blip>
          <a:srcRect b="12915" l="0" r="0" t="0"/>
          <a:stretch/>
        </p:blipFill>
        <p:spPr>
          <a:xfrm>
            <a:off x="5347919" y="1620956"/>
            <a:ext cx="2183508" cy="1901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07" name="Google Shape;207;p30"/>
          <p:cNvPicPr preferRelativeResize="0"/>
          <p:nvPr/>
        </p:nvPicPr>
        <p:blipFill rotWithShape="1">
          <a:blip r:embed="rId4">
            <a:alphaModFix/>
          </a:blip>
          <a:srcRect b="13585" l="0" r="0" t="0"/>
          <a:stretch/>
        </p:blipFill>
        <p:spPr>
          <a:xfrm>
            <a:off x="1628919" y="1738579"/>
            <a:ext cx="2167163" cy="187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la investigación social?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4" name="Google Shape;21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Forma&#10;&#10;Descripción generada automáticamente con confianza baja" id="215" name="Google Shape;215;p31"/>
          <p:cNvPicPr preferRelativeResize="0"/>
          <p:nvPr/>
        </p:nvPicPr>
        <p:blipFill rotWithShape="1">
          <a:blip r:embed="rId3">
            <a:alphaModFix/>
          </a:blip>
          <a:srcRect b="12915" l="0" r="0" t="0"/>
          <a:stretch/>
        </p:blipFill>
        <p:spPr>
          <a:xfrm>
            <a:off x="5674611" y="1229313"/>
            <a:ext cx="835298" cy="833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6" name="Google Shape;216;p31"/>
          <p:cNvPicPr preferRelativeResize="0"/>
          <p:nvPr/>
        </p:nvPicPr>
        <p:blipFill rotWithShape="1">
          <a:blip r:embed="rId4">
            <a:alphaModFix/>
          </a:blip>
          <a:srcRect b="13585" l="0" r="0" t="0"/>
          <a:stretch/>
        </p:blipFill>
        <p:spPr>
          <a:xfrm>
            <a:off x="1606296" y="1259426"/>
            <a:ext cx="781002" cy="77337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 txBox="1"/>
          <p:nvPr/>
        </p:nvSpPr>
        <p:spPr>
          <a:xfrm>
            <a:off x="1158300" y="2032794"/>
            <a:ext cx="19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Ciencia natural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5300034" y="2090406"/>
            <a:ext cx="176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Ciencia social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descr="Forma&#10;&#10;Descripción generada automáticamente con confianza baja" id="219" name="Google Shape;219;p31"/>
          <p:cNvPicPr preferRelativeResize="0"/>
          <p:nvPr/>
        </p:nvPicPr>
        <p:blipFill rotWithShape="1">
          <a:blip r:embed="rId5">
            <a:alphaModFix/>
          </a:blip>
          <a:srcRect b="13734" l="0" r="0" t="0"/>
          <a:stretch/>
        </p:blipFill>
        <p:spPr>
          <a:xfrm>
            <a:off x="6903267" y="2956955"/>
            <a:ext cx="1117727" cy="1104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20" name="Google Shape;220;p31"/>
          <p:cNvPicPr preferRelativeResize="0"/>
          <p:nvPr/>
        </p:nvPicPr>
        <p:blipFill rotWithShape="1">
          <a:blip r:embed="rId6">
            <a:alphaModFix/>
          </a:blip>
          <a:srcRect b="15483" l="0" r="0" t="0"/>
          <a:stretch/>
        </p:blipFill>
        <p:spPr>
          <a:xfrm>
            <a:off x="4533735" y="2956955"/>
            <a:ext cx="1140855" cy="110490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/>
          <p:nvPr/>
        </p:nvSpPr>
        <p:spPr>
          <a:xfrm>
            <a:off x="4238176" y="4184959"/>
            <a:ext cx="187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Método cualitativo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6461808" y="4184941"/>
            <a:ext cx="200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2"/>
                </a:solidFill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Método cuantitativo</a:t>
            </a:r>
            <a:endParaRPr>
              <a:solidFill>
                <a:schemeClr val="dk2"/>
              </a:solidFill>
              <a:highlight>
                <a:srgbClr val="D0E0E3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Qué es la investigación cuantitativa?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En términos generales, se refiere a un conjunto de</a:t>
            </a: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métodos y técnicas que emplean números</a:t>
            </a: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para </a:t>
            </a:r>
            <a:r>
              <a:rPr b="1" lang="es">
                <a:highlight>
                  <a:srgbClr val="D0E0E3"/>
                </a:highlight>
                <a:latin typeface="EB Garamond"/>
                <a:ea typeface="EB Garamond"/>
                <a:cs typeface="EB Garamond"/>
                <a:sym typeface="EB Garamond"/>
              </a:rPr>
              <a:t>representar la realidad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 que se busca es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medir determinados aspectos, dimensiones o conceptos de la realidad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y relacionarlos con otros.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Usualmente se reconoce en encuestas, pero existen múltiples otros instrumentos que permiten aplicar técnicas cuantitativas.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Busca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limitar la arbitrariedad del investigador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o hacerla extremadamente explícita.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9" name="Google Shape;22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caracteriza a la investigación cuantitativa?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5" name="Google Shape;23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 cuantitativo en ciencias sociales se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caracteriza 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por: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Empleo de </a:t>
            </a:r>
            <a:r>
              <a:rPr lang="es">
                <a:highlight>
                  <a:srgbClr val="8DD8D3"/>
                </a:highlight>
                <a:latin typeface="EB Garamond"/>
                <a:ea typeface="EB Garamond"/>
                <a:cs typeface="EB Garamond"/>
                <a:sym typeface="EB Garamond"/>
              </a:rPr>
              <a:t>números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para representar la realidad.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Requiere </a:t>
            </a:r>
            <a:r>
              <a:rPr lang="es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teoría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que justifique y explique limitaciones de transformar realidad social en números.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Requiere </a:t>
            </a:r>
            <a:r>
              <a:rPr lang="es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instrumentos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que permitan transformar la realidad social en números.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Requiere de </a:t>
            </a:r>
            <a:r>
              <a:rPr lang="es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técnica de análisis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que le permita aprovechar trabajar con números: Uso de la </a:t>
            </a:r>
            <a:r>
              <a:rPr lang="es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estadística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estrategia de investigación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que apuesta por el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potencial cognoscitivo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que tendría transformar la realidad social en números.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6" name="Google Shape;23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I.1. Fundamentos de la Investigación Cuantitativa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67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I.1.2. Medir la realidad social</a:t>
            </a:r>
            <a:endParaRPr sz="3267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2" name="Google Shape;24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medir en ciencias sociales?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highlight>
                <a:schemeClr val="accent5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Asignar un número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de acuerdo a la </a:t>
            </a:r>
            <a:r>
              <a:rPr lang="es">
                <a:highlight>
                  <a:srgbClr val="8DD8D3"/>
                </a:highlight>
                <a:latin typeface="EB Garamond"/>
                <a:ea typeface="EB Garamond"/>
                <a:cs typeface="EB Garamond"/>
                <a:sym typeface="EB Garamond"/>
              </a:rPr>
              <a:t>cantidad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en que un </a:t>
            </a:r>
            <a:r>
              <a:rPr lang="es">
                <a:highlight>
                  <a:srgbClr val="8DD8D3"/>
                </a:highlight>
                <a:latin typeface="EB Garamond"/>
                <a:ea typeface="EB Garamond"/>
                <a:cs typeface="EB Garamond"/>
                <a:sym typeface="EB Garamond"/>
              </a:rPr>
              <a:t>objeto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posee una determinada </a:t>
            </a:r>
            <a:r>
              <a:rPr lang="es">
                <a:highlight>
                  <a:srgbClr val="8DD8D3"/>
                </a:highlight>
                <a:latin typeface="EB Garamond"/>
                <a:ea typeface="EB Garamond"/>
                <a:cs typeface="EB Garamond"/>
                <a:sym typeface="EB Garamond"/>
              </a:rPr>
              <a:t>propiedad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Ejemplo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Riqueza: asignar un número según la cantidad monetarizada de recursos y propiedades que sean de la propiedad de una persona.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9" name="Google Shape;24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¿Cómo se asignan los números? Teoría clásica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5" name="Google Shape;25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Fundamentado en la más básica operación de medición: </a:t>
            </a:r>
            <a:r>
              <a:rPr b="1" lang="es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contar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Para contar entidades continuas es necesario </a:t>
            </a:r>
            <a:r>
              <a:rPr b="1" lang="es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fraccionar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en función de unidades de medida.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Medición de magnitudes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  <a:highlight>
                <a:schemeClr val="accent5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lt2"/>
              </a:solidFill>
              <a:highlight>
                <a:schemeClr val="accent5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6" name="Google Shape;25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57" name="Google Shape;257;p36"/>
          <p:cNvSpPr/>
          <p:nvPr/>
        </p:nvSpPr>
        <p:spPr>
          <a:xfrm>
            <a:off x="1658275" y="3042525"/>
            <a:ext cx="182700" cy="1489800"/>
          </a:xfrm>
          <a:prstGeom prst="rect">
            <a:avLst/>
          </a:prstGeom>
          <a:solidFill>
            <a:srgbClr val="8DD8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6"/>
          <p:cNvSpPr/>
          <p:nvPr/>
        </p:nvSpPr>
        <p:spPr>
          <a:xfrm>
            <a:off x="2063650" y="3042525"/>
            <a:ext cx="182700" cy="1489800"/>
          </a:xfrm>
          <a:prstGeom prst="rect">
            <a:avLst/>
          </a:prstGeom>
          <a:solidFill>
            <a:srgbClr val="8DD8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" name="Google Shape;259;p36"/>
          <p:cNvCxnSpPr>
            <a:stCxn id="258" idx="1"/>
            <a:endCxn id="258" idx="3"/>
          </p:cNvCxnSpPr>
          <p:nvPr/>
        </p:nvCxnSpPr>
        <p:spPr>
          <a:xfrm>
            <a:off x="2063650" y="3787425"/>
            <a:ext cx="18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6"/>
          <p:cNvCxnSpPr/>
          <p:nvPr/>
        </p:nvCxnSpPr>
        <p:spPr>
          <a:xfrm>
            <a:off x="2063650" y="3447500"/>
            <a:ext cx="18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6"/>
          <p:cNvCxnSpPr/>
          <p:nvPr/>
        </p:nvCxnSpPr>
        <p:spPr>
          <a:xfrm>
            <a:off x="2063650" y="4127350"/>
            <a:ext cx="18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6"/>
          <p:cNvCxnSpPr/>
          <p:nvPr/>
        </p:nvCxnSpPr>
        <p:spPr>
          <a:xfrm rot="10800000">
            <a:off x="2424225" y="3267075"/>
            <a:ext cx="6675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3" name="Google Shape;263;p36"/>
          <p:cNvSpPr txBox="1"/>
          <p:nvPr/>
        </p:nvSpPr>
        <p:spPr>
          <a:xfrm>
            <a:off x="3091725" y="3077675"/>
            <a:ext cx="13491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Unidad arbitraria</a:t>
            </a:r>
            <a:endParaRPr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>
            <a:off x="4937525" y="3077675"/>
            <a:ext cx="13491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Magnitud = 4</a:t>
            </a:r>
            <a:endParaRPr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¿Cómo se asignan los números? Teoría clásica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0" name="Google Shape;27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Ventajas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Fácilmente interpretable.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Bajo nivel de arbitrariedad.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Desventajas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Poco aplicable en Ciencias Sociales, salvo con variables delimitadas: dinero, tiempo.</a:t>
            </a:r>
            <a:endParaRPr b="1">
              <a:solidFill>
                <a:schemeClr val="lt2"/>
              </a:solidFill>
              <a:highlight>
                <a:schemeClr val="accent5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1" name="Google Shape;27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¿Cómo se asignan los números? Teoría representacional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7" name="Google Shape;27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Origen: 1946, Stevens, psicólogo.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Medir no está restringido solamente a asignar números a magnitudes, sino a </a:t>
            </a:r>
            <a:r>
              <a:rPr lang="es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asignar números conforme a una regla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Las </a:t>
            </a:r>
            <a:r>
              <a:rPr lang="es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reglas dependen de las propiedades de los números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que utilizamos y que queremos representar: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Distinción        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Orden               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Distancia          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Proporción      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8" name="Google Shape;27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9" name="Google Shape;279;p38"/>
          <p:cNvSpPr txBox="1"/>
          <p:nvPr/>
        </p:nvSpPr>
        <p:spPr>
          <a:xfrm>
            <a:off x="2297700" y="3028475"/>
            <a:ext cx="2375100" cy="13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B Garamond"/>
              <a:buChar char="➔"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Nivel nominal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B Garamond"/>
              <a:buChar char="➔"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Nivel ordinal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B Garamond"/>
              <a:buChar char="➔"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Nivel intervalar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B Garamond"/>
              <a:buChar char="➔"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Nivel de razón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¿Cómo se asignan los números? Teoría representacional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5" name="Google Shape;28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Origen: 1946, Stevens, psicólogo.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Medir no está restringido solamente a asignar números a magnitudes, sino a </a:t>
            </a:r>
            <a:r>
              <a:rPr lang="es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asignar números conforme a una regla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Las </a:t>
            </a:r>
            <a:r>
              <a:rPr lang="es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reglas dependen de las propiedades de los números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que utilizamos y que queremos representar: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Distinción        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Orden               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Distancia          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Proporción      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6" name="Google Shape;28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7" name="Google Shape;287;p39"/>
          <p:cNvSpPr txBox="1"/>
          <p:nvPr/>
        </p:nvSpPr>
        <p:spPr>
          <a:xfrm>
            <a:off x="2297700" y="3028475"/>
            <a:ext cx="2375100" cy="13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B Garamond"/>
              <a:buChar char="➔"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Nivel nominal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B Garamond"/>
              <a:buChar char="➔"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Nivel ordinal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B Garamond"/>
              <a:buChar char="➔"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Nivel intervalar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B Garamond"/>
              <a:buChar char="➔"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Nivel de razón</a:t>
            </a:r>
            <a:endParaRPr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8" name="Google Shape;288;p39"/>
          <p:cNvSpPr/>
          <p:nvPr/>
        </p:nvSpPr>
        <p:spPr>
          <a:xfrm>
            <a:off x="2164200" y="3098750"/>
            <a:ext cx="2480382" cy="1384236"/>
          </a:xfrm>
          <a:prstGeom prst="irregularSeal2">
            <a:avLst/>
          </a:prstGeom>
          <a:solidFill>
            <a:srgbClr val="8DD8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spoiler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¿Cómo se asignan los números? Teoría representacional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4" name="Google Shape;29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Características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números </a:t>
            </a:r>
            <a:r>
              <a:rPr lang="es">
                <a:highlight>
                  <a:srgbClr val="8DD8D3"/>
                </a:highlight>
                <a:latin typeface="EB Garamond"/>
                <a:ea typeface="EB Garamond"/>
                <a:cs typeface="EB Garamond"/>
                <a:sym typeface="EB Garamond"/>
              </a:rPr>
              <a:t>representan relaciones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entre objetos.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Las </a:t>
            </a:r>
            <a:r>
              <a:rPr lang="es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relaciones entre los números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deben mantener las </a:t>
            </a:r>
            <a:r>
              <a:rPr lang="es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relaciones entre los objetos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Se construye </a:t>
            </a:r>
            <a:r>
              <a:rPr lang="es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instrumento que “mide”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(asigna números en función de una regla) </a:t>
            </a:r>
            <a:r>
              <a:rPr lang="es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el grado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en que los sujetos poseen las variables.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5" name="Google Shape;29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¿Cómo se asignan los números? Teoría representacional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1" name="Google Shape;301;p41"/>
          <p:cNvSpPr txBox="1"/>
          <p:nvPr>
            <p:ph idx="1" type="body"/>
          </p:nvPr>
        </p:nvSpPr>
        <p:spPr>
          <a:xfrm>
            <a:off x="311700" y="1152475"/>
            <a:ext cx="8520600" cy="36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Ventajas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Permite medir entidades complejas, no numerables directamente (medición indirecta).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 requiere unidad de medida.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Permite medir mayor número de objetos sociales.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Críticas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Ambigüedad en sentido del número asignado: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○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 hay unidad de medida.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○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 se emplean todas las propiedades de los números.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Menor validez del número asignado: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○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Operaciones para medir son discutibles.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○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 se mide directamente sino indirectamente.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2" name="Google Shape;30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implica emplear números?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8" name="Google Shape;30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309" name="Google Shape;309;p42"/>
          <p:cNvGraphicFramePr/>
          <p:nvPr/>
        </p:nvGraphicFramePr>
        <p:xfrm>
          <a:off x="731525" y="146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{BFA42C5A-92BE-4404-9B5D-7263F65CCC39}</a:tableStyleId>
              </a:tblPr>
              <a:tblGrid>
                <a:gridCol w="5265325"/>
                <a:gridCol w="2415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Debemos </a:t>
                      </a: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asignar números</a:t>
                      </a: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 a entidades que inicialmente no los poseen (personas, grupos, sociedades, culturas, etc.) a través de un proceso estandarizado.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Medimos la realidad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Requiere de </a:t>
                      </a: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herramientas</a:t>
                      </a: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 para transformar conceptos abstractos en mediciones. 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Transformar constructos en variables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La producción o levantamiento de información debe usar procedimientos que permitan </a:t>
                      </a: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transformarla</a:t>
                      </a: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 en números fácilmente.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Codificación y operacionalización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Requiere de un </a:t>
                      </a:r>
                      <a:r>
                        <a:rPr b="1"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procedimiento</a:t>
                      </a: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 que permita sintetizar, manipular y analizar grandes volúmenes de números.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Estadística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 requiere seleccionar unidades (usualmente individuos) “representativos” de la población que se estudia.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Muestreo</a:t>
                      </a:r>
                      <a:endParaRPr sz="13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0" name="Google Shape;310;p42"/>
          <p:cNvSpPr/>
          <p:nvPr/>
        </p:nvSpPr>
        <p:spPr>
          <a:xfrm>
            <a:off x="5809150" y="1689050"/>
            <a:ext cx="407700" cy="129000"/>
          </a:xfrm>
          <a:prstGeom prst="chevron">
            <a:avLst>
              <a:gd fmla="val 50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1" name="Google Shape;311;p42"/>
          <p:cNvSpPr/>
          <p:nvPr/>
        </p:nvSpPr>
        <p:spPr>
          <a:xfrm>
            <a:off x="5809150" y="2328263"/>
            <a:ext cx="407700" cy="129000"/>
          </a:xfrm>
          <a:prstGeom prst="chevron">
            <a:avLst>
              <a:gd fmla="val 50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42"/>
          <p:cNvSpPr/>
          <p:nvPr/>
        </p:nvSpPr>
        <p:spPr>
          <a:xfrm>
            <a:off x="5809150" y="2967500"/>
            <a:ext cx="407700" cy="129000"/>
          </a:xfrm>
          <a:prstGeom prst="chevron">
            <a:avLst>
              <a:gd fmla="val 50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3" name="Google Shape;313;p42"/>
          <p:cNvSpPr/>
          <p:nvPr/>
        </p:nvSpPr>
        <p:spPr>
          <a:xfrm>
            <a:off x="5809150" y="3606750"/>
            <a:ext cx="407700" cy="129000"/>
          </a:xfrm>
          <a:prstGeom prst="chevron">
            <a:avLst>
              <a:gd fmla="val 50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4" name="Google Shape;314;p42"/>
          <p:cNvSpPr/>
          <p:nvPr/>
        </p:nvSpPr>
        <p:spPr>
          <a:xfrm>
            <a:off x="5809150" y="4166250"/>
            <a:ext cx="407700" cy="129000"/>
          </a:xfrm>
          <a:prstGeom prst="chevron">
            <a:avLst>
              <a:gd fmla="val 50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6976975" y="4663225"/>
            <a:ext cx="1435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(Asún, 2006)</a:t>
            </a:r>
            <a:endParaRPr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Consideraciones al usar números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1" name="Google Shape;32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¿Qué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consecuencias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puede tener el transformar la realidad en números?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Simplificación analítica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 se representan directamente objetos complejos, sino que se fragmentan en propiedades y se les asigna números de acuerdo al grado o magnitud en que se las posee.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Supuesto de Homomorfismo de Teoría Representacional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Los números asignados son capaces y deben conservar las relaciones reales entre los objetos.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Reconstrucción de la complejidad a través de la combinación de fragmentos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Por ejemplo, con la estadística multivariada.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2" name="Google Shape;32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Limitaciones y potencialidades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8" name="Google Shape;32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Limitaciones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 siempre hay homomorfismo entre números asignados y realidad (errores de medición).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Transformar realidad a números puede simplificar en exceso o perder lo esencial (datos irrelevantes).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 se logra reconstruir totalmente la complejidad (reductivismo).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Potencialidades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Manejo de grandes volúmenes de información a costos bajos.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Capacidad de asociar variables con nitidez.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Capacidad de estandarizar procedimientos para que sean reproducibles.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9" name="Google Shape;32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5" name="Google Shape;335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01: Unidad I. Introducción a la investigación social cuantitativa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6" name="Google Shape;336;p45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7" name="Google Shape;337;p45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38" name="Google Shape;338;p45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