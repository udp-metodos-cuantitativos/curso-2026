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Roboto Serif"/>
      <p:regular r:id="rId34"/>
      <p:bold r:id="rId35"/>
      <p:italic r:id="rId36"/>
      <p:boldItalic r:id="rId37"/>
    </p:embeddedFont>
    <p:embeddedFont>
      <p:font typeface="EB Garamond SemiBold"/>
      <p:regular r:id="rId38"/>
      <p:bold r:id="rId39"/>
      <p:italic r:id="rId40"/>
      <p:boldItalic r:id="rId41"/>
    </p:embeddedFont>
    <p:embeddedFont>
      <p:font typeface="EB Garamon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BGaramondSemiBold-italic.fntdata"/><Relationship Id="rId20" Type="http://schemas.openxmlformats.org/officeDocument/2006/relationships/slide" Target="slides/slide14.xml"/><Relationship Id="rId42" Type="http://schemas.openxmlformats.org/officeDocument/2006/relationships/font" Target="fonts/EBGaramond-regular.fntdata"/><Relationship Id="rId41" Type="http://schemas.openxmlformats.org/officeDocument/2006/relationships/font" Target="fonts/EBGaramondSemiBold-boldItalic.fntdata"/><Relationship Id="rId22" Type="http://schemas.openxmlformats.org/officeDocument/2006/relationships/slide" Target="slides/slide16.xml"/><Relationship Id="rId44" Type="http://schemas.openxmlformats.org/officeDocument/2006/relationships/font" Target="fonts/EBGaramond-italic.fntdata"/><Relationship Id="rId21" Type="http://schemas.openxmlformats.org/officeDocument/2006/relationships/slide" Target="slides/slide15.xml"/><Relationship Id="rId43" Type="http://schemas.openxmlformats.org/officeDocument/2006/relationships/font" Target="fonts/EBGaramon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EBGaramon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Serif-bold.fntdata"/><Relationship Id="rId12" Type="http://schemas.openxmlformats.org/officeDocument/2006/relationships/slide" Target="slides/slide6.xml"/><Relationship Id="rId34" Type="http://schemas.openxmlformats.org/officeDocument/2006/relationships/font" Target="fonts/RobotoSerif-regular.fntdata"/><Relationship Id="rId15" Type="http://schemas.openxmlformats.org/officeDocument/2006/relationships/slide" Target="slides/slide9.xml"/><Relationship Id="rId37" Type="http://schemas.openxmlformats.org/officeDocument/2006/relationships/font" Target="fonts/RobotoSerif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Serif-italic.fntdata"/><Relationship Id="rId17" Type="http://schemas.openxmlformats.org/officeDocument/2006/relationships/slide" Target="slides/slide11.xml"/><Relationship Id="rId39" Type="http://schemas.openxmlformats.org/officeDocument/2006/relationships/font" Target="fonts/EBGaramondSemiBold-bold.fntdata"/><Relationship Id="rId16" Type="http://schemas.openxmlformats.org/officeDocument/2006/relationships/slide" Target="slides/slide10.xml"/><Relationship Id="rId38" Type="http://schemas.openxmlformats.org/officeDocument/2006/relationships/font" Target="fonts/EBGaramondSemiBol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571221bcb64118f7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571221bcb64118f7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571221bcb64118f7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571221bcb64118f7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b03ff63d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b03ff63d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a5485ad8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a5485ad8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1aa26db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b1aa26db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35b15145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d35b15145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be0ec9c98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be0ec9c98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ca5485ad8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ca5485ad8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b1aa26db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b1aa26db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b1aa26db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b1aa26db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b1aa26db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b1aa26db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35b15145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d35b15145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d35b15145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d35b1514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b1aa26db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b1aa26db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b1aa26db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9b1aa26db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b1aa26db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b1aa26db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b1aa26db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9b1aa26db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b1aa26db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b1aa26db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b964a08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b964a08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b1aa26db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9b1aa26db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cb1489d9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8cb1489d9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35b15145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d35b15145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35b151453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35b151453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d35b151453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d35b151453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d35b151453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d35b151453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h571221bcb64118f7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h571221bcb64118f7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EB Garamond SemiBold"/>
              <a:buNone/>
              <a:defRPr sz="2800">
                <a:latin typeface="EB Garamond SemiBold"/>
                <a:ea typeface="EB Garamond SemiBold"/>
                <a:cs typeface="EB Garamond SemiBold"/>
                <a:sym typeface="EB Garamo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erif"/>
              <a:buNone/>
              <a:defRPr sz="2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erif"/>
              <a:buNone/>
              <a:defRPr sz="2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erif"/>
              <a:buNone/>
              <a:defRPr sz="2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erif"/>
              <a:buNone/>
              <a:defRPr sz="2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erif"/>
              <a:buNone/>
              <a:defRPr sz="2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erif"/>
              <a:buNone/>
              <a:defRPr sz="2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erif"/>
              <a:buNone/>
              <a:defRPr sz="2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erif"/>
              <a:buNone/>
              <a:defRPr sz="2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EB Garamond"/>
              <a:buChar char="●"/>
              <a:defRPr sz="20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EB Garamond"/>
              <a:buChar char="■"/>
              <a:defRPr>
                <a:solidFill>
                  <a:srgbClr val="26262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Relationship Id="rId4" Type="http://schemas.openxmlformats.org/officeDocument/2006/relationships/hyperlink" Target="mailto:katherine.aravena@mail.udp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05: Unidad III. Estadística Descriptiva y Análisis descriptivo univariado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03" name="Google Shape;103;p25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311700" y="1090500"/>
            <a:ext cx="8520600" cy="25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daniela.olivares2@mail.udp.cl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4"/>
              </a:rPr>
              <a:t>katherine.aravena@mail.udp.cl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5" name="Google Shape;11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 SemiBold"/>
                <a:ea typeface="EB Garamond SemiBold"/>
                <a:cs typeface="EB Garamond SemiBold"/>
                <a:sym typeface="EB Garamond SemiBold"/>
              </a:rPr>
              <a:t>Unidad III. Estadística Descriptiva y Análisis descriptivo univariado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III.1. Noción de distribución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III.2. Tipos de análisis estadístico univariado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6" name="Google Shape;116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 05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11">
                <a:highlight>
                  <a:srgbClr val="AAD5D4"/>
                </a:highlight>
              </a:rPr>
              <a:t>¿En cuál parte del curso vamos?</a:t>
            </a:r>
            <a:endParaRPr sz="2811">
              <a:highlight>
                <a:srgbClr val="AAD5D4"/>
              </a:highlight>
            </a:endParaRPr>
          </a:p>
        </p:txBody>
      </p:sp>
      <p:sp>
        <p:nvSpPr>
          <p:cNvPr id="123" name="Google Shape;12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24" name="Google Shape;124;p28"/>
          <p:cNvGrpSpPr/>
          <p:nvPr/>
        </p:nvGrpSpPr>
        <p:grpSpPr>
          <a:xfrm>
            <a:off x="4877071" y="1189775"/>
            <a:ext cx="4061383" cy="3483050"/>
            <a:chOff x="5632317" y="1189775"/>
            <a:chExt cx="3305700" cy="3483050"/>
          </a:xfrm>
        </p:grpSpPr>
        <p:sp>
          <p:nvSpPr>
            <p:cNvPr id="125" name="Google Shape;125;p28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III</a:t>
              </a:r>
              <a:endParaRPr b="1" sz="20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26" name="Google Shape;126;p28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EB Garamond"/>
                  <a:ea typeface="EB Garamond"/>
                  <a:cs typeface="EB Garamond"/>
                  <a:sym typeface="EB Garamond"/>
                </a:rPr>
                <a:t>Estadística Descriptiva y Análisis descriptivo univariado:</a:t>
              </a:r>
              <a:endParaRPr b="1"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III.1. Noción de distribución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III.2. Tipos de análisis estadístico univariado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127" name="Google Shape;127;p28"/>
          <p:cNvGrpSpPr/>
          <p:nvPr/>
        </p:nvGrpSpPr>
        <p:grpSpPr>
          <a:xfrm>
            <a:off x="0" y="1190002"/>
            <a:ext cx="2669397" cy="3688923"/>
            <a:chOff x="0" y="1189989"/>
            <a:chExt cx="3546900" cy="3688923"/>
          </a:xfrm>
        </p:grpSpPr>
        <p:sp>
          <p:nvSpPr>
            <p:cNvPr id="128" name="Google Shape;128;p28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>
                  <a:solidFill>
                    <a:srgbClr val="CACACA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</a:t>
              </a:r>
              <a:endParaRPr sz="2000">
                <a:solidFill>
                  <a:srgbClr val="CACACA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29" name="Google Shape;129;p28"/>
            <p:cNvSpPr txBox="1"/>
            <p:nvPr/>
          </p:nvSpPr>
          <p:spPr>
            <a:xfrm>
              <a:off x="392772" y="2057113"/>
              <a:ext cx="2647800" cy="282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Introducción a la Investigación Social Cuantitativa:</a:t>
              </a:r>
              <a:endParaRPr b="1"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I.1. Fundamentos de la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I.2. Características de la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I.3. Construcción de un problema de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I.4. Conceptualización de variables e indicadores y operacionalización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130" name="Google Shape;130;p28"/>
          <p:cNvGrpSpPr/>
          <p:nvPr/>
        </p:nvGrpSpPr>
        <p:grpSpPr>
          <a:xfrm>
            <a:off x="2288240" y="1189775"/>
            <a:ext cx="2936123" cy="3483050"/>
            <a:chOff x="2944204" y="1189775"/>
            <a:chExt cx="3305700" cy="3483050"/>
          </a:xfrm>
        </p:grpSpPr>
        <p:sp>
          <p:nvSpPr>
            <p:cNvPr id="131" name="Google Shape;131;p28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>
                  <a:solidFill>
                    <a:srgbClr val="CACACA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II</a:t>
              </a:r>
              <a:endParaRPr sz="2000">
                <a:solidFill>
                  <a:srgbClr val="CACACA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32" name="Google Shape;132;p28"/>
            <p:cNvSpPr txBox="1"/>
            <p:nvPr/>
          </p:nvSpPr>
          <p:spPr>
            <a:xfrm>
              <a:off x="3373342" y="2057125"/>
              <a:ext cx="24855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La estadística en el contexto de la investigación social:</a:t>
              </a:r>
              <a:endParaRPr b="1"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II.1. Elaboración de una matriz de datos y su libro de códigos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II.2. Nociones de Universo, Población y Muestra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II.3. Técnicas de recolección y procesamiento de datos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666666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133" name="Google Shape;133;p28"/>
          <p:cNvSpPr/>
          <p:nvPr/>
        </p:nvSpPr>
        <p:spPr>
          <a:xfrm rot="5400000">
            <a:off x="6703325" y="620775"/>
            <a:ext cx="571500" cy="2802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AAD5D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11">
                <a:solidFill>
                  <a:schemeClr val="dk1"/>
                </a:solidFill>
                <a:highlight>
                  <a:srgbClr val="AAD5D4"/>
                </a:highlight>
              </a:rPr>
              <a:t>¿En cuál parte de una investigación estamos?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0" name="Google Shape;140;p29"/>
          <p:cNvSpPr/>
          <p:nvPr/>
        </p:nvSpPr>
        <p:spPr>
          <a:xfrm>
            <a:off x="5945500" y="2396000"/>
            <a:ext cx="2276400" cy="1228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141" name="Google Shape;141;p29"/>
          <p:cNvGrpSpPr/>
          <p:nvPr/>
        </p:nvGrpSpPr>
        <p:grpSpPr>
          <a:xfrm>
            <a:off x="706750" y="1263275"/>
            <a:ext cx="7400897" cy="3494248"/>
            <a:chOff x="3065" y="284906"/>
            <a:chExt cx="6089770" cy="3494248"/>
          </a:xfrm>
        </p:grpSpPr>
        <p:sp>
          <p:nvSpPr>
            <p:cNvPr id="142" name="Google Shape;142;p29"/>
            <p:cNvSpPr/>
            <p:nvPr/>
          </p:nvSpPr>
          <p:spPr>
            <a:xfrm rot="5400000">
              <a:off x="-278266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3" name="Google Shape;143;p29"/>
            <p:cNvSpPr/>
            <p:nvPr/>
          </p:nvSpPr>
          <p:spPr>
            <a:xfrm>
              <a:off x="306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DDEAF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4" name="Google Shape;144;p29"/>
            <p:cNvSpPr txBox="1"/>
            <p:nvPr/>
          </p:nvSpPr>
          <p:spPr>
            <a:xfrm>
              <a:off x="32305" y="314146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Teoría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5" name="Google Shape;145;p29"/>
            <p:cNvSpPr/>
            <p:nvPr/>
          </p:nvSpPr>
          <p:spPr>
            <a:xfrm rot="5400000">
              <a:off x="-278266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6" name="Google Shape;146;p29"/>
            <p:cNvSpPr/>
            <p:nvPr/>
          </p:nvSpPr>
          <p:spPr>
            <a:xfrm>
              <a:off x="306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BBD6EE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7" name="Google Shape;147;p29"/>
            <p:cNvSpPr txBox="1"/>
            <p:nvPr/>
          </p:nvSpPr>
          <p:spPr>
            <a:xfrm>
              <a:off x="32305" y="1562070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Problema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8" name="Google Shape;148;p29"/>
            <p:cNvSpPr/>
            <p:nvPr/>
          </p:nvSpPr>
          <p:spPr>
            <a:xfrm>
              <a:off x="345671" y="2952057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9" name="Google Shape;149;p29"/>
            <p:cNvSpPr/>
            <p:nvPr/>
          </p:nvSpPr>
          <p:spPr>
            <a:xfrm>
              <a:off x="306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9FC5E8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Pregunta, objetivos e hipótesis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0" name="Google Shape;150;p29"/>
            <p:cNvSpPr/>
            <p:nvPr/>
          </p:nvSpPr>
          <p:spPr>
            <a:xfrm rot="-5400000">
              <a:off x="1934668" y="2328119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1" name="Google Shape;151;p29"/>
            <p:cNvSpPr/>
            <p:nvPr/>
          </p:nvSpPr>
          <p:spPr>
            <a:xfrm rot="-5400000">
              <a:off x="1934668" y="1080195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2" name="Google Shape;152;p29"/>
            <p:cNvSpPr/>
            <p:nvPr/>
          </p:nvSpPr>
          <p:spPr>
            <a:xfrm>
              <a:off x="2216050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E75B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Operacionalización y encuesta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3" name="Google Shape;153;p29"/>
            <p:cNvSpPr/>
            <p:nvPr/>
          </p:nvSpPr>
          <p:spPr>
            <a:xfrm>
              <a:off x="2558656" y="456209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4" name="Google Shape;154;p29"/>
            <p:cNvSpPr/>
            <p:nvPr/>
          </p:nvSpPr>
          <p:spPr>
            <a:xfrm>
              <a:off x="2216050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B5394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Levantamiento de datos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5" name="Google Shape;155;p29"/>
            <p:cNvSpPr/>
            <p:nvPr/>
          </p:nvSpPr>
          <p:spPr>
            <a:xfrm rot="5400000">
              <a:off x="4147703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6" name="Google Shape;156;p29"/>
            <p:cNvSpPr/>
            <p:nvPr/>
          </p:nvSpPr>
          <p:spPr>
            <a:xfrm>
              <a:off x="442903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B5394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Matriz de datos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7" name="Google Shape;157;p29"/>
            <p:cNvSpPr/>
            <p:nvPr/>
          </p:nvSpPr>
          <p:spPr>
            <a:xfrm rot="5400000">
              <a:off x="4147703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8" name="Google Shape;158;p29"/>
            <p:cNvSpPr/>
            <p:nvPr/>
          </p:nvSpPr>
          <p:spPr>
            <a:xfrm>
              <a:off x="442903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73763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Análisis de datos</a:t>
              </a:r>
              <a:endParaRPr b="1"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9" name="Google Shape;159;p29"/>
            <p:cNvSpPr/>
            <p:nvPr/>
          </p:nvSpPr>
          <p:spPr>
            <a:xfrm>
              <a:off x="442903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6262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Conclusiones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60" name="Google Shape;160;p29"/>
            <p:cNvSpPr/>
            <p:nvPr/>
          </p:nvSpPr>
          <p:spPr>
            <a:xfrm>
              <a:off x="2216050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6FA8DC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Metodología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11">
                <a:solidFill>
                  <a:schemeClr val="dk1"/>
                </a:solidFill>
                <a:highlight>
                  <a:srgbClr val="AAD5D4"/>
                </a:highlight>
              </a:rPr>
              <a:t>¿En cuál parte de una investigación estamos?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6" name="Google Shape;16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163" y="1142200"/>
            <a:ext cx="7211675" cy="37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0"/>
          <p:cNvSpPr/>
          <p:nvPr/>
        </p:nvSpPr>
        <p:spPr>
          <a:xfrm rot="5400142">
            <a:off x="2044187" y="2592992"/>
            <a:ext cx="1304910" cy="1884276"/>
          </a:xfrm>
          <a:prstGeom prst="flowChartTerminator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¿Qué se les viene a la mente al decir: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"</a:t>
            </a:r>
            <a:r>
              <a:rPr b="1" i="1" lang="es">
                <a:latin typeface="EB Garamond"/>
                <a:ea typeface="EB Garamond"/>
                <a:cs typeface="EB Garamond"/>
                <a:sym typeface="EB Garamond"/>
              </a:rPr>
              <a:t>vamos a analizar un dato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" ?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1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40">
                <a:solidFill>
                  <a:schemeClr val="lt2"/>
                </a:solidFill>
              </a:rPr>
              <a:t>III.1. Noción de distribución</a:t>
            </a:r>
            <a:endParaRPr sz="3240">
              <a:solidFill>
                <a:schemeClr val="lt2"/>
              </a:solidFill>
            </a:endParaRPr>
          </a:p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106"/>
              <a:buFont typeface="Arial"/>
              <a:buNone/>
            </a:pPr>
            <a:r>
              <a:rPr b="1" lang="es" sz="3133">
                <a:latin typeface="EB Garamond"/>
                <a:ea typeface="EB Garamond"/>
                <a:cs typeface="EB Garamond"/>
                <a:sym typeface="EB Garamond"/>
              </a:rPr>
              <a:t>Distribución</a:t>
            </a:r>
            <a:endParaRPr b="1" sz="3133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7" name="Google Shape;18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Por </a:t>
            </a:r>
            <a:r>
              <a:rPr b="1" lang="es"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distribución</a:t>
            </a:r>
            <a:r>
              <a:rPr lang="es">
                <a:highlight>
                  <a:srgbClr val="AAD5D4"/>
                </a:highlight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nos referimos al </a:t>
            </a:r>
            <a:r>
              <a:rPr b="1" lang="es"/>
              <a:t>conjunto de todos los valores posibles de una variable y las frecuencias (o probabilidades) con las que se producen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</a:t>
            </a:r>
            <a:r>
              <a:rPr lang="es"/>
              <a:t>n otras palabras, el ordenamiento de las </a:t>
            </a:r>
            <a:r>
              <a:rPr b="1" lang="es"/>
              <a:t>categorías de respuesta de una variable y su frecuencia de ocurrencia</a:t>
            </a:r>
            <a:r>
              <a:rPr lang="es"/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00"/>
              <a:t>Distribución</a:t>
            </a:r>
            <a:endParaRPr sz="2800"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En variables </a:t>
            </a:r>
            <a:r>
              <a:rPr b="1" lang="es" sz="2000">
                <a:highlight>
                  <a:srgbClr val="AAD5D4"/>
                </a:highlight>
              </a:rPr>
              <a:t>nominales</a:t>
            </a:r>
            <a:r>
              <a:rPr lang="es" sz="2000"/>
              <a:t> la distribución se puede resumir en </a:t>
            </a:r>
            <a:r>
              <a:rPr b="1" lang="es" sz="2000"/>
              <a:t>tablas de frecuencias</a:t>
            </a:r>
            <a:r>
              <a:rPr lang="es" sz="2000"/>
              <a:t> (absolutas y relativas) o </a:t>
            </a:r>
            <a:r>
              <a:rPr b="1" lang="es" sz="2000"/>
              <a:t>gráficos </a:t>
            </a:r>
            <a:r>
              <a:rPr lang="es" sz="2000"/>
              <a:t>usualmente </a:t>
            </a:r>
            <a:r>
              <a:rPr lang="es" sz="2000"/>
              <a:t>tipo torta (cuando son pocas categorías) o de barras.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96" name="Google Shape;196;p34"/>
          <p:cNvPicPr preferRelativeResize="0"/>
          <p:nvPr/>
        </p:nvPicPr>
        <p:blipFill rotWithShape="1">
          <a:blip r:embed="rId3">
            <a:alphaModFix/>
          </a:blip>
          <a:srcRect b="0" l="0" r="25445" t="0"/>
          <a:stretch/>
        </p:blipFill>
        <p:spPr>
          <a:xfrm>
            <a:off x="4142425" y="1389600"/>
            <a:ext cx="3679249" cy="120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0925" y="2736488"/>
            <a:ext cx="2610093" cy="17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4450" y="2735788"/>
            <a:ext cx="2807999" cy="1788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00"/>
              <a:t>Distribución</a:t>
            </a:r>
            <a:endParaRPr sz="2800"/>
          </a:p>
        </p:txBody>
      </p:sp>
      <p:sp>
        <p:nvSpPr>
          <p:cNvPr id="204" name="Google Shape;204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Para una variable </a:t>
            </a:r>
            <a:r>
              <a:rPr b="1" lang="es" sz="2000">
                <a:highlight>
                  <a:srgbClr val="AAD5D4"/>
                </a:highlight>
              </a:rPr>
              <a:t>ordinal</a:t>
            </a:r>
            <a:r>
              <a:rPr lang="es" sz="2000"/>
              <a:t> se resume en su </a:t>
            </a:r>
            <a:r>
              <a:rPr b="1" lang="es" sz="2000"/>
              <a:t>tabla de frecuencia</a:t>
            </a:r>
            <a:r>
              <a:rPr lang="es" sz="2000"/>
              <a:t> (incluyendo porcentaje acumulado) y en un </a:t>
            </a:r>
            <a:r>
              <a:rPr b="1" lang="es" sz="2000"/>
              <a:t>gráfico</a:t>
            </a:r>
            <a:r>
              <a:rPr lang="es" sz="2000"/>
              <a:t> usualmente de barras, puesto que implica tácitamente orden de las variables.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174" y="956975"/>
            <a:ext cx="3403875" cy="16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9700" y="2571750"/>
            <a:ext cx="2350125" cy="223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00"/>
              <a:t>Distribución</a:t>
            </a:r>
            <a:endParaRPr sz="2800"/>
          </a:p>
        </p:txBody>
      </p:sp>
      <p:sp>
        <p:nvSpPr>
          <p:cNvPr id="213" name="Google Shape;21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/>
              <a:t>Para una variable </a:t>
            </a:r>
            <a:r>
              <a:rPr b="1" lang="es" sz="2000">
                <a:highlight>
                  <a:srgbClr val="AAD5D4"/>
                </a:highlight>
              </a:rPr>
              <a:t>numérica</a:t>
            </a:r>
            <a:r>
              <a:rPr lang="es" sz="2000"/>
              <a:t> (de intervalo o razón) se resume principalmente en </a:t>
            </a:r>
            <a:r>
              <a:rPr b="1" lang="es" sz="2000"/>
              <a:t>un gráfico</a:t>
            </a:r>
            <a:r>
              <a:rPr lang="es" sz="2000"/>
              <a:t>, usualmente barras o histograma, esto último cuando hay muchas categorías.</a:t>
            </a:r>
            <a:endParaRPr sz="2000"/>
          </a:p>
        </p:txBody>
      </p:sp>
      <p:sp>
        <p:nvSpPr>
          <p:cNvPr id="214" name="Google Shape;21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5" name="Google Shape;2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5256" y="1239225"/>
            <a:ext cx="2421069" cy="31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1875" y="1040118"/>
            <a:ext cx="3179499" cy="188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6"/>
          <p:cNvSpPr txBox="1"/>
          <p:nvPr/>
        </p:nvSpPr>
        <p:spPr>
          <a:xfrm>
            <a:off x="3803163" y="837900"/>
            <a:ext cx="13545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chemeClr val="accent4"/>
                </a:highlight>
                <a:latin typeface="EB Garamond"/>
                <a:ea typeface="EB Garamond"/>
                <a:cs typeface="EB Garamond"/>
                <a:sym typeface="EB Garamond"/>
              </a:rPr>
              <a:t>Gráfico de barras</a:t>
            </a:r>
            <a:endParaRPr>
              <a:highlight>
                <a:schemeClr val="accent4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8" name="Google Shape;218;p36"/>
          <p:cNvSpPr txBox="1"/>
          <p:nvPr/>
        </p:nvSpPr>
        <p:spPr>
          <a:xfrm>
            <a:off x="6825723" y="555600"/>
            <a:ext cx="11169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chemeClr val="accent4"/>
                </a:highlight>
                <a:latin typeface="EB Garamond"/>
                <a:ea typeface="EB Garamond"/>
                <a:cs typeface="EB Garamond"/>
                <a:sym typeface="EB Garamond"/>
              </a:rPr>
              <a:t>Histograma</a:t>
            </a:r>
            <a:endParaRPr>
              <a:highlight>
                <a:schemeClr val="accent4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19" name="Google Shape;21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3472" y="2974950"/>
            <a:ext cx="2927902" cy="168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75" y="315888"/>
            <a:ext cx="8167657" cy="4511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50" y="245200"/>
            <a:ext cx="8250901" cy="46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106"/>
              <a:buFont typeface="Arial"/>
              <a:buNone/>
            </a:pPr>
            <a:r>
              <a:rPr b="1" lang="es" sz="3133">
                <a:latin typeface="EB Garamond"/>
                <a:ea typeface="EB Garamond"/>
                <a:cs typeface="EB Garamond"/>
                <a:sym typeface="EB Garamond"/>
              </a:rPr>
              <a:t>Distribuciones empíricas y teóricas</a:t>
            </a:r>
            <a:endParaRPr b="1" sz="3133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7" name="Google Shape;23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Existen distribuciones </a:t>
            </a:r>
            <a:r>
              <a:rPr b="1" lang="es">
                <a:highlight>
                  <a:srgbClr val="AAD5D4"/>
                </a:highlight>
              </a:rPr>
              <a:t>empíricas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y distribuciones </a:t>
            </a:r>
            <a:r>
              <a:rPr b="1" lang="es">
                <a:highlight>
                  <a:srgbClr val="AAD5D4"/>
                </a:highlight>
              </a:rPr>
              <a:t>teóricas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, en donde: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✔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las primeras reflejan la distribución de los valores que asume la variable en un grupo concreto a partir de una observación.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B Garamond"/>
              <a:buChar char="✔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las segundas son una función matemática que expresan la distribución de un conjunto de números mediante su probabilidad de ocurrencia.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Estas últimas son también llamadas curvas de distribución.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106"/>
              <a:buFont typeface="Arial"/>
              <a:buNone/>
            </a:pPr>
            <a:r>
              <a:rPr b="1" lang="es" sz="3133">
                <a:latin typeface="EB Garamond"/>
                <a:ea typeface="EB Garamond"/>
                <a:cs typeface="EB Garamond"/>
                <a:sym typeface="EB Garamond"/>
              </a:rPr>
              <a:t>Distribuciones teóricas</a:t>
            </a:r>
            <a:endParaRPr b="1" sz="3133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4" name="Google Shape;24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0223" y="1409463"/>
            <a:ext cx="2212352" cy="15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3300" y="1409475"/>
            <a:ext cx="2709200" cy="138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700" y="2985350"/>
            <a:ext cx="2516802" cy="167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6350" y="3310850"/>
            <a:ext cx="2220075" cy="15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0"/>
          <p:cNvSpPr txBox="1"/>
          <p:nvPr/>
        </p:nvSpPr>
        <p:spPr>
          <a:xfrm>
            <a:off x="464513" y="1779400"/>
            <a:ext cx="13545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chemeClr val="accent4"/>
                </a:highlight>
                <a:latin typeface="EB Garamond"/>
                <a:ea typeface="EB Garamond"/>
                <a:cs typeface="EB Garamond"/>
                <a:sym typeface="EB Garamond"/>
              </a:rPr>
              <a:t>Exponencial</a:t>
            </a:r>
            <a:endParaRPr>
              <a:highlight>
                <a:schemeClr val="accent4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0" name="Google Shape;250;p40"/>
          <p:cNvSpPr txBox="1"/>
          <p:nvPr/>
        </p:nvSpPr>
        <p:spPr>
          <a:xfrm>
            <a:off x="4933213" y="1779400"/>
            <a:ext cx="13545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chemeClr val="accent4"/>
                </a:highlight>
                <a:latin typeface="EB Garamond"/>
                <a:ea typeface="EB Garamond"/>
                <a:cs typeface="EB Garamond"/>
                <a:sym typeface="EB Garamond"/>
              </a:rPr>
              <a:t>Normal</a:t>
            </a:r>
            <a:endParaRPr>
              <a:highlight>
                <a:schemeClr val="accent4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1" name="Google Shape;251;p40"/>
          <p:cNvSpPr txBox="1"/>
          <p:nvPr/>
        </p:nvSpPr>
        <p:spPr>
          <a:xfrm>
            <a:off x="523488" y="3683138"/>
            <a:ext cx="13545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chemeClr val="accent4"/>
                </a:highlight>
                <a:latin typeface="EB Garamond"/>
                <a:ea typeface="EB Garamond"/>
                <a:cs typeface="EB Garamond"/>
                <a:sym typeface="EB Garamond"/>
              </a:rPr>
              <a:t>Chi-cuadrado</a:t>
            </a:r>
            <a:endParaRPr>
              <a:highlight>
                <a:schemeClr val="accent4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2" name="Google Shape;252;p40"/>
          <p:cNvSpPr txBox="1"/>
          <p:nvPr/>
        </p:nvSpPr>
        <p:spPr>
          <a:xfrm>
            <a:off x="5154188" y="3683150"/>
            <a:ext cx="13545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chemeClr val="accent4"/>
                </a:highlight>
                <a:latin typeface="EB Garamond"/>
                <a:ea typeface="EB Garamond"/>
                <a:cs typeface="EB Garamond"/>
                <a:sym typeface="EB Garamond"/>
              </a:rPr>
              <a:t>Beta</a:t>
            </a:r>
            <a:endParaRPr>
              <a:highlight>
                <a:schemeClr val="accent4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Utilidad de las distribuciones teóricas</a:t>
            </a:r>
            <a:endParaRPr sz="2820"/>
          </a:p>
        </p:txBody>
      </p:sp>
      <p:sp>
        <p:nvSpPr>
          <p:cNvPr id="258" name="Google Shape;25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Cuando una distribución empírica se parece a una distribución teórica: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Podemos utilizar las propiedades de la distribución teórica para saber cosas de la distribución empírica.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/>
              <a:t>Como fue causada la distribución empírica.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/>
              <a:t>Probabilidad de cierto resultado.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Hay ciertas situaciones en que necesariamente la realidad asume una determinada distribución teórica.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/>
              <a:t>Ejemplo: distribución de muestreo.</a:t>
            </a:r>
            <a:endParaRPr/>
          </a:p>
        </p:txBody>
      </p:sp>
      <p:sp>
        <p:nvSpPr>
          <p:cNvPr id="259" name="Google Shape;25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Utilidad de las distribuciones teóricas: Normal</a:t>
            </a:r>
            <a:endParaRPr sz="2820"/>
          </a:p>
        </p:txBody>
      </p:sp>
      <p:sp>
        <p:nvSpPr>
          <p:cNvPr id="265" name="Google Shape;26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6" name="Google Shape;2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738" y="1324350"/>
            <a:ext cx="7468526" cy="333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2820">
                <a:solidFill>
                  <a:schemeClr val="dk1"/>
                </a:solidFill>
              </a:rPr>
              <a:t>Utilidad de las distribuciones teóricas: Normal</a:t>
            </a:r>
            <a:endParaRPr sz="2820"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Es </a:t>
            </a:r>
            <a:r>
              <a:rPr b="1" lang="es" sz="2000"/>
              <a:t>simétrica respecto a la media</a:t>
            </a:r>
            <a:r>
              <a:rPr lang="es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La moda y mediana son iguales a la media.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s" sz="2000"/>
              <a:t>Área bajo la curva es 1</a:t>
            </a:r>
            <a:r>
              <a:rPr lang="es" sz="2000"/>
              <a:t> (100%). Al “centro” se concentran el 68,26% de los casos.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Se basa en el Teorema del Límite Central: “La suma de n variables aleatorias independientes, con media conocida y varianza no nula pero finita, su función de distribución se aproximará bien a una distribución normal o campana de Gauss”.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En simple: </a:t>
            </a:r>
            <a:r>
              <a:rPr b="1" lang="es" sz="2000"/>
              <a:t>cuando tenemos un n grande, la mayoría de los casos estará en el centro.</a:t>
            </a:r>
            <a:endParaRPr b="1" sz="20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73" name="Google Shape;27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2820">
                <a:solidFill>
                  <a:schemeClr val="dk1"/>
                </a:solidFill>
              </a:rPr>
              <a:t>Utilidad de las distribuciones teóricas: Normal</a:t>
            </a:r>
            <a:endParaRPr sz="2820"/>
          </a:p>
        </p:txBody>
      </p:sp>
      <p:sp>
        <p:nvSpPr>
          <p:cNvPr id="279" name="Google Shape;27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¿Cómo se produce una curva normal?</a:t>
            </a:r>
            <a:endParaRPr sz="2000"/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○"/>
            </a:pPr>
            <a:r>
              <a:rPr lang="es" sz="2000"/>
              <a:t>Cuando un determinado resultado es producto de muchas causas pequeñas, ninguna de las cuales es mucho más importante que las otras.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Por ejemplo, la estatura de la población:</a:t>
            </a:r>
            <a:endParaRPr sz="20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80" name="Google Shape;28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81" name="Google Shape;2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838" y="2871795"/>
            <a:ext cx="3374325" cy="200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>
                <a:solidFill>
                  <a:schemeClr val="dk1"/>
                </a:solidFill>
              </a:rPr>
              <a:t>Utilidad de las distribuciones teóricas: Normal</a:t>
            </a:r>
            <a:endParaRPr sz="2820"/>
          </a:p>
        </p:txBody>
      </p:sp>
      <p:sp>
        <p:nvSpPr>
          <p:cNvPr id="287" name="Google Shape;28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Si una </a:t>
            </a:r>
            <a:r>
              <a:rPr b="1" lang="es" sz="2000">
                <a:highlight>
                  <a:srgbClr val="AAD5D4"/>
                </a:highlight>
              </a:rPr>
              <a:t>curva empírica</a:t>
            </a:r>
            <a:r>
              <a:rPr lang="es" sz="2000"/>
              <a:t> </a:t>
            </a:r>
            <a:r>
              <a:rPr b="1" lang="es" sz="2000"/>
              <a:t>se parece a una Normal</a:t>
            </a:r>
            <a:r>
              <a:rPr lang="es" sz="2000"/>
              <a:t>, se pueden utilizar las probabilidades conocidas de distribución de la Normal para conocer las probabilidades empíricas.</a:t>
            </a:r>
            <a:endParaRPr sz="2000"/>
          </a:p>
          <a:p>
            <a: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Ejemplo: la distribución de las notas en un curso se parece a una Normal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" sz="2000"/>
              <a:t>(Es decir, con media 4,5 y desviación estándar 1,2)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¿Qué porcentaje de los estudiantes sacó nota superior a 4,5?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¿Qué porcentaje de los estudiantes sacó nota inferior a 3,3?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¿Qué porcentaje de los estudiantes sacó nota 6,9 o más?</a:t>
            </a:r>
            <a:endParaRPr sz="2000"/>
          </a:p>
        </p:txBody>
      </p:sp>
      <p:sp>
        <p:nvSpPr>
          <p:cNvPr id="288" name="Google Shape;28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94" name="Google Shape;294;p46" title="ejemplo_distribucion.jpeg"/>
          <p:cNvPicPr preferRelativeResize="0"/>
          <p:nvPr/>
        </p:nvPicPr>
        <p:blipFill rotWithShape="1">
          <a:blip r:embed="rId3">
            <a:alphaModFix/>
          </a:blip>
          <a:srcRect b="41629" l="0" r="0" t="14486"/>
          <a:stretch/>
        </p:blipFill>
        <p:spPr>
          <a:xfrm>
            <a:off x="2164450" y="281014"/>
            <a:ext cx="4815109" cy="458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40">
                <a:solidFill>
                  <a:schemeClr val="lt2"/>
                </a:solidFill>
              </a:rPr>
              <a:t>III.2. Tipos de análisis estadístico univariado</a:t>
            </a:r>
            <a:endParaRPr sz="3240">
              <a:solidFill>
                <a:schemeClr val="lt2"/>
              </a:solidFill>
            </a:endParaRPr>
          </a:p>
        </p:txBody>
      </p:sp>
      <p:sp>
        <p:nvSpPr>
          <p:cNvPr id="300" name="Google Shape;30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820">
                <a:latin typeface="EB Garamond"/>
                <a:ea typeface="EB Garamond"/>
                <a:cs typeface="EB Garamond"/>
                <a:sym typeface="EB Garamond"/>
              </a:rPr>
              <a:t>Investigación social cuantitativa</a:t>
            </a:r>
            <a:endParaRPr b="1" sz="282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6" name="Google Shape;30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7" name="Google Shape;30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163" y="1142200"/>
            <a:ext cx="7211675" cy="37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820">
                <a:latin typeface="EB Garamond"/>
                <a:ea typeface="EB Garamond"/>
                <a:cs typeface="EB Garamond"/>
                <a:sym typeface="EB Garamond"/>
              </a:rPr>
              <a:t>Investigación social cuantitativa</a:t>
            </a:r>
            <a:endParaRPr b="1" sz="282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3" name="Google Shape;31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14" name="Google Shape;31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163" y="1142200"/>
            <a:ext cx="7211675" cy="37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9"/>
          <p:cNvSpPr/>
          <p:nvPr/>
        </p:nvSpPr>
        <p:spPr>
          <a:xfrm>
            <a:off x="2044750" y="3464125"/>
            <a:ext cx="1560000" cy="660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Diagrama&#10;&#10;Descripción generada automáticamente" id="321" name="Google Shape;32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0100" y="364875"/>
            <a:ext cx="6443799" cy="429835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0"/>
          <p:cNvSpPr/>
          <p:nvPr/>
        </p:nvSpPr>
        <p:spPr>
          <a:xfrm rot="1932746">
            <a:off x="918801" y="3549316"/>
            <a:ext cx="871197" cy="347069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AAD5D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8" name="Google Shape;328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05: Unidad III. Estadística Descriptiva y Análisis descriptivo univariado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9" name="Google Shape;329;p51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30" name="Google Shape;330;p51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31" name="Google Shape;331;p51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s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