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embeddedFontLst>
    <p:embeddedFont>
      <p:font typeface="EB Garamon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89E30B-2129-4DD7-8682-40727AD94D1E}">
  <a:tblStyle styleId="{D489E30B-2129-4DD7-8682-40727AD94D1E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000000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000000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000000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EBGaramond-bold.fntdata"/><Relationship Id="rId14" Type="http://schemas.openxmlformats.org/officeDocument/2006/relationships/slide" Target="slides/slide8.xml"/><Relationship Id="rId36" Type="http://schemas.openxmlformats.org/officeDocument/2006/relationships/font" Target="fonts/EBGaramond-regular.fntdata"/><Relationship Id="rId17" Type="http://schemas.openxmlformats.org/officeDocument/2006/relationships/slide" Target="slides/slide11.xml"/><Relationship Id="rId39" Type="http://schemas.openxmlformats.org/officeDocument/2006/relationships/font" Target="fonts/EBGaramond-boldItalic.fntdata"/><Relationship Id="rId16" Type="http://schemas.openxmlformats.org/officeDocument/2006/relationships/slide" Target="slides/slide10.xml"/><Relationship Id="rId38" Type="http://schemas.openxmlformats.org/officeDocument/2006/relationships/font" Target="fonts/EBGaramond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ad2387c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ad2387c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861042ef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861042ef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ca5485ad8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ca5485ad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ca5485ad83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ca5485ad8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ca5485ad83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ca5485ad83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a5485ad83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a5485ad83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ca5485ad8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ca5485ad8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ca5485ad8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ca5485ad8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ca5485ad8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ca5485ad8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a5485ad83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ca5485ad8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ca5485ad83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ca5485ad83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ca5485ad8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ca5485ad8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ca5485ad8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ca5485ad8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861042ef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861042ef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8861042ef3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8861042ef3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8861042ef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8861042ef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8861042ef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8861042ef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861042ef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861042ef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861042ef3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861042ef3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861042ef3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861042ef3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861042ef3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8861042ef3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861042ef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8861042ef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8861042ef3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8861042ef3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861042ef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861042ef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8861042ef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8861042ef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861042ef3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8861042ef3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861042e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8861042e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EB Garamond"/>
              <a:buNone/>
              <a:defRPr b="1" sz="2500"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●"/>
              <a:defRPr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○"/>
              <a:defRPr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Char char="■"/>
              <a:defRPr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EB Garamond"/>
              <a:buNone/>
              <a:defRPr b="1" sz="2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●"/>
              <a:def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Relationship Id="rId4" Type="http://schemas.openxmlformats.org/officeDocument/2006/relationships/hyperlink" Target="mailto:maria.nunez.2@ug.uchile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coes.cl/encuesta-panel/" TargetMode="External"/><Relationship Id="rId4" Type="http://schemas.openxmlformats.org/officeDocument/2006/relationships/hyperlink" Target="https://observatorio.ministeriodesarrollosocial.gob.cl/encuesta-casen-2022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04: Unidad II. </a:t>
            </a: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La estadística en el contexto de la investigación social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María Fernanda Núñez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2025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58" name="Google Shape;58;p13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1090500"/>
            <a:ext cx="8520600" cy="25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u="sng">
                <a:solidFill>
                  <a:schemeClr val="hlink"/>
                </a:solidFill>
                <a:hlinkClick r:id="rId3"/>
              </a:rPr>
              <a:t>daniela.olivares2@mail.udp.cl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Ayudante: María Fernanda Núñez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u="sng">
                <a:solidFill>
                  <a:schemeClr val="hlink"/>
                </a:solidFill>
                <a:hlinkClick r:id="rId4"/>
              </a:rPr>
              <a:t>maria.nunez.2@ug.uchile.cl</a:t>
            </a:r>
            <a:endParaRPr b="0"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Unidad II. La estadística en el contexto de la investigación social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II.1. Elaboración de una matriz de datos y su libro de códigos.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II.2. Nociones de Universo, Población y Muestra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II.3. Técnicas de recolección y procesamiento de datos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04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4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II.1. Elaboración de una matriz de datos y su libro de códigos</a:t>
            </a:r>
            <a:endParaRPr sz="3240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</a:t>
            </a:r>
            <a:r>
              <a:rPr lang="es"/>
              <a:t>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Contiene los resultados de</a:t>
            </a:r>
            <a:r>
              <a:rPr lang="es"/>
              <a:t> la aplicación del instrumento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★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Visualiza las respuestas a las preguntas que realizamos en nuestra encuesta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Es la tabla donde cada </a:t>
            </a:r>
            <a:r>
              <a:rPr lang="es">
                <a:highlight>
                  <a:srgbClr val="FDBF41"/>
                </a:highlight>
              </a:rPr>
              <a:t>fila representa un caso u observación</a:t>
            </a:r>
            <a:r>
              <a:rPr lang="es"/>
              <a:t> (ej.: una persona, un hogar, una entrevista, un país) y </a:t>
            </a:r>
            <a:r>
              <a:rPr lang="es">
                <a:highlight>
                  <a:srgbClr val="FDBF41"/>
                </a:highlight>
              </a:rPr>
              <a:t>cada columna una variable</a:t>
            </a:r>
            <a:r>
              <a:rPr lang="es"/>
              <a:t> (ej.: sexo, edad, ingresos).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92" name="Google Shape;92;p18"/>
          <p:cNvGrpSpPr/>
          <p:nvPr/>
        </p:nvGrpSpPr>
        <p:grpSpPr>
          <a:xfrm>
            <a:off x="1527065" y="1117607"/>
            <a:ext cx="6089770" cy="3494248"/>
            <a:chOff x="3065" y="284906"/>
            <a:chExt cx="6089770" cy="3494248"/>
          </a:xfrm>
        </p:grpSpPr>
        <p:sp>
          <p:nvSpPr>
            <p:cNvPr id="93" name="Google Shape;93;p18"/>
            <p:cNvSpPr/>
            <p:nvPr/>
          </p:nvSpPr>
          <p:spPr>
            <a:xfrm rot="5400000">
              <a:off x="-278266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306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DDEAF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5" name="Google Shape;95;p18"/>
            <p:cNvSpPr txBox="1"/>
            <p:nvPr/>
          </p:nvSpPr>
          <p:spPr>
            <a:xfrm>
              <a:off x="32305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Problema</a:t>
              </a:r>
              <a:endParaRPr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6" name="Google Shape;96;p18"/>
            <p:cNvSpPr/>
            <p:nvPr/>
          </p:nvSpPr>
          <p:spPr>
            <a:xfrm rot="5400000">
              <a:off x="-278266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7" name="Google Shape;97;p18"/>
            <p:cNvSpPr/>
            <p:nvPr/>
          </p:nvSpPr>
          <p:spPr>
            <a:xfrm>
              <a:off x="306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8" name="Google Shape;98;p18"/>
            <p:cNvSpPr txBox="1"/>
            <p:nvPr/>
          </p:nvSpPr>
          <p:spPr>
            <a:xfrm>
              <a:off x="32305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Pregunta</a:t>
              </a:r>
              <a:endParaRPr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9" name="Google Shape;99;p18"/>
            <p:cNvSpPr/>
            <p:nvPr/>
          </p:nvSpPr>
          <p:spPr>
            <a:xfrm>
              <a:off x="345671" y="2952057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0" name="Google Shape;100;p18"/>
            <p:cNvSpPr/>
            <p:nvPr/>
          </p:nvSpPr>
          <p:spPr>
            <a:xfrm>
              <a:off x="306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9CC2E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1" name="Google Shape;101;p18"/>
            <p:cNvSpPr txBox="1"/>
            <p:nvPr/>
          </p:nvSpPr>
          <p:spPr>
            <a:xfrm>
              <a:off x="32305" y="2809994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dk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Hipótesis</a:t>
              </a:r>
              <a:endParaRPr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2" name="Google Shape;102;p18"/>
            <p:cNvSpPr/>
            <p:nvPr/>
          </p:nvSpPr>
          <p:spPr>
            <a:xfrm rot="-5400000">
              <a:off x="1934668" y="2328119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3" name="Google Shape;103;p18"/>
            <p:cNvSpPr/>
            <p:nvPr/>
          </p:nvSpPr>
          <p:spPr>
            <a:xfrm>
              <a:off x="2216050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1E4E79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4" name="Google Shape;104;p18"/>
            <p:cNvSpPr txBox="1"/>
            <p:nvPr/>
          </p:nvSpPr>
          <p:spPr>
            <a:xfrm>
              <a:off x="2245290" y="2809994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Metodología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5" name="Google Shape;105;p18"/>
            <p:cNvSpPr/>
            <p:nvPr/>
          </p:nvSpPr>
          <p:spPr>
            <a:xfrm rot="-5400000">
              <a:off x="1934668" y="1080195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6" name="Google Shape;106;p18"/>
            <p:cNvSpPr/>
            <p:nvPr/>
          </p:nvSpPr>
          <p:spPr>
            <a:xfrm>
              <a:off x="2216050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E75B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7" name="Google Shape;107;p18"/>
            <p:cNvSpPr txBox="1"/>
            <p:nvPr/>
          </p:nvSpPr>
          <p:spPr>
            <a:xfrm>
              <a:off x="2245290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Encuesta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2558656" y="456209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2216050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5B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0" name="Google Shape;110;p18"/>
            <p:cNvSpPr txBox="1"/>
            <p:nvPr/>
          </p:nvSpPr>
          <p:spPr>
            <a:xfrm>
              <a:off x="2245290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Levantamiento de datos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 rot="5400000">
              <a:off x="4147703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442903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163A5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3" name="Google Shape;113;p18"/>
            <p:cNvSpPr txBox="1"/>
            <p:nvPr/>
          </p:nvSpPr>
          <p:spPr>
            <a:xfrm>
              <a:off x="4458275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dk2"/>
                  </a:solidFill>
                  <a:highlight>
                    <a:srgbClr val="FDBF41"/>
                  </a:highlight>
                  <a:latin typeface="EB Garamond"/>
                  <a:ea typeface="EB Garamond"/>
                  <a:cs typeface="EB Garamond"/>
                  <a:sym typeface="EB Garamond"/>
                </a:rPr>
                <a:t>Matriz de datos</a:t>
              </a:r>
              <a:endParaRPr sz="18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4" name="Google Shape;114;p18"/>
            <p:cNvSpPr/>
            <p:nvPr/>
          </p:nvSpPr>
          <p:spPr>
            <a:xfrm rot="5400000">
              <a:off x="4147703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442903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22A3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6" name="Google Shape;116;p18"/>
            <p:cNvSpPr txBox="1"/>
            <p:nvPr/>
          </p:nvSpPr>
          <p:spPr>
            <a:xfrm>
              <a:off x="4458275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Análisis de datos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7" name="Google Shape;117;p18"/>
            <p:cNvSpPr/>
            <p:nvPr/>
          </p:nvSpPr>
          <p:spPr>
            <a:xfrm>
              <a:off x="442903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6262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8" name="Google Shape;118;p18"/>
            <p:cNvSpPr txBox="1"/>
            <p:nvPr/>
          </p:nvSpPr>
          <p:spPr>
            <a:xfrm>
              <a:off x="4458275" y="2809994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Conclusiones</a:t>
              </a:r>
              <a:endParaRPr sz="18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152475"/>
            <a:ext cx="5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26" name="Google Shape;126;p19"/>
          <p:cNvGraphicFramePr/>
          <p:nvPr/>
        </p:nvGraphicFramePr>
        <p:xfrm>
          <a:off x="311708" y="1725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{D489E30B-2129-4DD7-8682-40727AD94D1E}</a:tableStyleId>
              </a:tblPr>
              <a:tblGrid>
                <a:gridCol w="643525"/>
                <a:gridCol w="1538875"/>
                <a:gridCol w="1438500"/>
                <a:gridCol w="1739600"/>
              </a:tblGrid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CASO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Nivel Educativo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Clemente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Sofía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Javier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Pedro Pablo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152475"/>
            <a:ext cx="5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311708" y="1725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{D489E30B-2129-4DD7-8682-40727AD94D1E}</a:tableStyleId>
              </a:tblPr>
              <a:tblGrid>
                <a:gridCol w="643525"/>
                <a:gridCol w="1538875"/>
                <a:gridCol w="1438500"/>
                <a:gridCol w="1739600"/>
              </a:tblGrid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CASO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Nombre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Edad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Nivel Educativo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Clemente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Sofía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Javier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Pedro Pablo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35" name="Google Shape;135;p20"/>
          <p:cNvSpPr txBox="1"/>
          <p:nvPr/>
        </p:nvSpPr>
        <p:spPr>
          <a:xfrm>
            <a:off x="6189225" y="1201163"/>
            <a:ext cx="2755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Nivel Educativo: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Nunca asistió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Sala cuna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Jardín infantil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Pre kínder/Kínder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Educación especial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Primaria/Preparatoria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Educación Básica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Humanidades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Educación Media (CH)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Técnica, Comercial, Normalista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Educación TP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Técnico nivel superior incompleto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Técnico nivel superior 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Profesional incompleto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Profesional 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Postgrado incompleto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EB Garamond"/>
              <a:buAutoNum type="arabicPeriod"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Postgrado completo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1152475"/>
            <a:ext cx="5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43" name="Google Shape;143;p21"/>
          <p:cNvGraphicFramePr/>
          <p:nvPr/>
        </p:nvGraphicFramePr>
        <p:xfrm>
          <a:off x="311708" y="1725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{D489E30B-2129-4DD7-8682-40727AD94D1E}</a:tableStyleId>
              </a:tblPr>
              <a:tblGrid>
                <a:gridCol w="643525"/>
                <a:gridCol w="1538875"/>
                <a:gridCol w="1438500"/>
                <a:gridCol w="1739600"/>
              </a:tblGrid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CASO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p1_n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p2_edad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p3_nedu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Clemente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Sofía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Javier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Pedro Pablo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44" name="Google Shape;144;p21"/>
          <p:cNvSpPr txBox="1"/>
          <p:nvPr/>
        </p:nvSpPr>
        <p:spPr>
          <a:xfrm>
            <a:off x="5961762" y="1725178"/>
            <a:ext cx="2510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Libro de códigos: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p1_n = “Nombre”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p2_edad = “Edad”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p3_nedu = “Nivel educativo alcanzado”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Sistematización</a:t>
            </a: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151" name="Google Shape;151;p22"/>
          <p:cNvGrpSpPr/>
          <p:nvPr/>
        </p:nvGrpSpPr>
        <p:grpSpPr>
          <a:xfrm>
            <a:off x="2295430" y="1271825"/>
            <a:ext cx="4553144" cy="3485206"/>
            <a:chOff x="698402" y="23283"/>
            <a:chExt cx="4699292" cy="4017528"/>
          </a:xfrm>
        </p:grpSpPr>
        <p:sp>
          <p:nvSpPr>
            <p:cNvPr id="152" name="Google Shape;152;p22"/>
            <p:cNvSpPr/>
            <p:nvPr/>
          </p:nvSpPr>
          <p:spPr>
            <a:xfrm rot="5400000">
              <a:off x="976707" y="1187328"/>
              <a:ext cx="1050000" cy="1195500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BFC1C6"/>
            </a:solidFill>
            <a:ln cap="flat" cmpd="sng" w="12700">
              <a:solidFill>
                <a:srgbClr val="3D4B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2"/>
            <p:cNvSpPr/>
            <p:nvPr/>
          </p:nvSpPr>
          <p:spPr>
            <a:xfrm>
              <a:off x="698402" y="23283"/>
              <a:ext cx="1767900" cy="1237500"/>
            </a:xfrm>
            <a:prstGeom prst="roundRect">
              <a:avLst>
                <a:gd fmla="val 16670" name="adj"/>
              </a:avLst>
            </a:prstGeom>
            <a:solidFill>
              <a:srgbClr val="44546A"/>
            </a:solidFill>
            <a:ln cap="flat" cmpd="sng" w="12700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2"/>
            <p:cNvSpPr txBox="1"/>
            <p:nvPr/>
          </p:nvSpPr>
          <p:spPr>
            <a:xfrm>
              <a:off x="758818" y="83699"/>
              <a:ext cx="1647000" cy="11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5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Encuesta</a:t>
              </a:r>
              <a:endParaRPr sz="10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5" name="Google Shape;155;p22"/>
            <p:cNvSpPr/>
            <p:nvPr/>
          </p:nvSpPr>
          <p:spPr>
            <a:xfrm rot="5400000">
              <a:off x="2442403" y="2577342"/>
              <a:ext cx="1050000" cy="1195500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BFC1C6"/>
            </a:solidFill>
            <a:ln cap="flat" cmpd="sng" w="12700">
              <a:solidFill>
                <a:srgbClr val="3D4B5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2"/>
            <p:cNvSpPr/>
            <p:nvPr/>
          </p:nvSpPr>
          <p:spPr>
            <a:xfrm>
              <a:off x="2164098" y="1413297"/>
              <a:ext cx="1767900" cy="1237500"/>
            </a:xfrm>
            <a:prstGeom prst="roundRect">
              <a:avLst>
                <a:gd fmla="val 16670" name="adj"/>
              </a:avLst>
            </a:prstGeom>
            <a:solidFill>
              <a:srgbClr val="44546A"/>
            </a:solidFill>
            <a:ln cap="flat" cmpd="sng" w="12700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2"/>
            <p:cNvSpPr txBox="1"/>
            <p:nvPr/>
          </p:nvSpPr>
          <p:spPr>
            <a:xfrm>
              <a:off x="2224514" y="1473713"/>
              <a:ext cx="1647000" cy="11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5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BB.DD.</a:t>
              </a:r>
              <a:endParaRPr sz="10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58" name="Google Shape;158;p22"/>
            <p:cNvSpPr/>
            <p:nvPr/>
          </p:nvSpPr>
          <p:spPr>
            <a:xfrm>
              <a:off x="3629794" y="2803311"/>
              <a:ext cx="1767900" cy="1237500"/>
            </a:xfrm>
            <a:prstGeom prst="roundRect">
              <a:avLst>
                <a:gd fmla="val 16670" name="adj"/>
              </a:avLst>
            </a:prstGeom>
            <a:solidFill>
              <a:srgbClr val="44546A"/>
            </a:solidFill>
            <a:ln cap="flat" cmpd="sng" w="12700">
              <a:solidFill>
                <a:srgbClr val="E7E6E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2"/>
            <p:cNvSpPr txBox="1"/>
            <p:nvPr/>
          </p:nvSpPr>
          <p:spPr>
            <a:xfrm>
              <a:off x="3690210" y="2863727"/>
              <a:ext cx="1647000" cy="111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0475" lIns="110475" spcFirstLastPara="1" rIns="110475" wrap="square" tIns="11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500">
                  <a:solidFill>
                    <a:schemeClr val="lt2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Libro de códigos</a:t>
              </a:r>
              <a:endParaRPr sz="1000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Sistematización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Tabla&#10;&#10;Descripción generada automáticamente" id="166" name="Google Shape;166;p23"/>
          <p:cNvPicPr preferRelativeResize="0"/>
          <p:nvPr/>
        </p:nvPicPr>
        <p:blipFill rotWithShape="1">
          <a:blip r:embed="rId3">
            <a:alphaModFix/>
          </a:blip>
          <a:srcRect b="4095" l="0" r="0" t="0"/>
          <a:stretch/>
        </p:blipFill>
        <p:spPr>
          <a:xfrm>
            <a:off x="5076525" y="1017725"/>
            <a:ext cx="2907446" cy="399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Aplicación, Tabla, Excel&#10;&#10;Descripción generada automáticamente" id="167" name="Google Shape;167;p23"/>
          <p:cNvPicPr preferRelativeResize="0"/>
          <p:nvPr/>
        </p:nvPicPr>
        <p:blipFill rotWithShape="1">
          <a:blip r:embed="rId4">
            <a:alphaModFix/>
          </a:blip>
          <a:srcRect b="16339" l="0" r="0" t="0"/>
          <a:stretch/>
        </p:blipFill>
        <p:spPr>
          <a:xfrm>
            <a:off x="311701" y="3112174"/>
            <a:ext cx="4213449" cy="19034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nterfaz de usuario gráfica, Texto, Aplicación, Correo electrónico&#10;&#10;Descripción generada automáticamente" id="168" name="Google Shape;168;p23"/>
          <p:cNvPicPr preferRelativeResize="0"/>
          <p:nvPr/>
        </p:nvPicPr>
        <p:blipFill rotWithShape="1">
          <a:blip r:embed="rId5">
            <a:alphaModFix/>
          </a:blip>
          <a:srcRect b="26587" l="0" r="0" t="9409"/>
          <a:stretch/>
        </p:blipFill>
        <p:spPr>
          <a:xfrm>
            <a:off x="311700" y="1017724"/>
            <a:ext cx="4213451" cy="190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¿Qué es una matriz de datos?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11700" y="1152475"/>
            <a:ext cx="510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 una forma de organizar la información recogida.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aphicFrame>
        <p:nvGraphicFramePr>
          <p:cNvPr id="176" name="Google Shape;176;p24"/>
          <p:cNvGraphicFramePr/>
          <p:nvPr/>
        </p:nvGraphicFramePr>
        <p:xfrm>
          <a:off x="311708" y="17251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{D489E30B-2129-4DD7-8682-40727AD94D1E}</a:tableStyleId>
              </a:tblPr>
              <a:tblGrid>
                <a:gridCol w="643525"/>
                <a:gridCol w="1538875"/>
                <a:gridCol w="1438500"/>
                <a:gridCol w="1739600"/>
              </a:tblGrid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CASO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p1_n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p2_edad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lt2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p3_nedu</a:t>
                      </a:r>
                      <a:endParaRPr>
                        <a:solidFill>
                          <a:schemeClr val="lt2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0B637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Clemente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Sofía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50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Javier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15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9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>
                    <a:solidFill>
                      <a:srgbClr val="AAD5D4"/>
                    </a:solidFill>
                  </a:tcPr>
                </a:tc>
              </a:tr>
              <a:tr h="58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Pedro Pablo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30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350">
                          <a:solidFill>
                            <a:schemeClr val="dk1"/>
                          </a:solidFill>
                          <a:latin typeface="EB Garamond"/>
                          <a:ea typeface="EB Garamond"/>
                          <a:cs typeface="EB Garamond"/>
                          <a:sym typeface="EB Garamond"/>
                        </a:rPr>
                        <a:t>17</a:t>
                      </a:r>
                      <a:endParaRPr>
                        <a:solidFill>
                          <a:schemeClr val="dk1"/>
                        </a:solidFill>
                        <a:latin typeface="EB Garamond"/>
                        <a:ea typeface="EB Garamond"/>
                        <a:cs typeface="EB Garamond"/>
                        <a:sym typeface="EB Garamond"/>
                      </a:endParaRPr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77" name="Google Shape;177;p24"/>
          <p:cNvSpPr txBox="1"/>
          <p:nvPr/>
        </p:nvSpPr>
        <p:spPr>
          <a:xfrm>
            <a:off x="5961762" y="1725178"/>
            <a:ext cx="2510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Libro de códigos: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p1_n = “Nombre”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p2_edad = “Edad”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p3_nedu = “Nivel educativo alcanzado”</a:t>
            </a:r>
            <a:endParaRPr sz="12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Conceptos clave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7244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Variable identificadora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 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En general, en la primera columna hay un ID de caso, con un número único, el “rut” del caso en la BB.DD. (base de datos), se nombre como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folio, id, id_caso u otro.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47244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Número de casos (N)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Se le dice “N” al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total de casos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de una matriz o la cantidad de respuestas en una variable.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47244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Preguntas cerradas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Variables que cuentan con un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número determinado de alternativas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o atributos de respuesta.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47244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Preguntas abiertas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Variables que cuentan con un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número indeterminado de opciones de respuestas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, muchas veces estas pasan por un proceso de codificación posterior.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  <a:p>
            <a:pPr indent="-472440" lvl="0" marL="45720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EB Garamond"/>
              <a:buAutoNum type="arabicPeriod"/>
            </a:pPr>
            <a:r>
              <a:rPr b="1" lang="es" sz="1600">
                <a:highlight>
                  <a:srgbClr val="FDBF41"/>
                </a:highlight>
                <a:latin typeface="EB Garamond"/>
                <a:ea typeface="EB Garamond"/>
                <a:cs typeface="EB Garamond"/>
                <a:sym typeface="EB Garamond"/>
              </a:rPr>
              <a:t>Valores perdidos (missing)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: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 El valor perdido es un </a:t>
            </a:r>
            <a:r>
              <a:rPr b="1" lang="es" sz="1600">
                <a:latin typeface="EB Garamond"/>
                <a:ea typeface="EB Garamond"/>
                <a:cs typeface="EB Garamond"/>
                <a:sym typeface="EB Garamond"/>
              </a:rPr>
              <a:t>caso que no tiene respuesta en una variable o pregunta</a:t>
            </a:r>
            <a:r>
              <a:rPr lang="es" sz="1600">
                <a:latin typeface="EB Garamond"/>
                <a:ea typeface="EB Garamond"/>
                <a:cs typeface="EB Garamond"/>
                <a:sym typeface="EB Garamond"/>
              </a:rPr>
              <a:t>, a veces se pone el número “99”, “No sabe”, “No responde” y se recodifica como valores perdidos.</a:t>
            </a:r>
            <a:endParaRPr sz="1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Estudio Longitudinal Social de Chile (ELSOC): </a:t>
            </a: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3"/>
              </a:rPr>
              <a:t>https://coes.cl/encuesta-panel/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Encuesta de Caracterización Socioeconómica Nacional (Casen): </a:t>
            </a:r>
            <a:r>
              <a:rPr lang="es" u="sng">
                <a:solidFill>
                  <a:schemeClr val="hlink"/>
                </a:solidFill>
                <a:latin typeface="EB Garamond"/>
                <a:ea typeface="EB Garamond"/>
                <a:cs typeface="EB Garamond"/>
                <a:sym typeface="EB Garamond"/>
                <a:hlinkClick r:id="rId4"/>
              </a:rPr>
              <a:t>https://observatorio.ministeriodesarrollosocial.gob.cl/encuesta-casen-2022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0" name="Google Shape;19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Ejemplo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1" name="Google Shape;19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Ejercicio 1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7" name="Google Shape;19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Elegir una encuesta con una temática de tu interés.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AutoNum type="arabi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Buscar en internet y descargar: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lphaL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Cuestionario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lphaL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Base de datos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lphaL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Libro de códigos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EB Garamond"/>
              <a:buAutoNum type="alphaLcPeriod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Manual de usuario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8" name="Google Shape;19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4D7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0556"/>
              <a:buFont typeface="Arial"/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II.2. Nociones de Universo, Población y Muestra</a:t>
            </a:r>
            <a:endParaRPr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4" name="Google Shape;20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Conceptos clave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Universo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Población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Muestra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1" name="Google Shape;21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Forma&#10;&#10;Descripción generada automáticamente con confianza baja" id="212" name="Google Shape;212;p29"/>
          <p:cNvPicPr preferRelativeResize="0"/>
          <p:nvPr/>
        </p:nvPicPr>
        <p:blipFill rotWithShape="1">
          <a:blip r:embed="rId3">
            <a:alphaModFix/>
          </a:blip>
          <a:srcRect b="18494" l="0" r="0" t="0"/>
          <a:stretch/>
        </p:blipFill>
        <p:spPr>
          <a:xfrm>
            <a:off x="6403522" y="1940978"/>
            <a:ext cx="2068925" cy="168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Conceptos clave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8" name="Google Shape;218;p30"/>
          <p:cNvSpPr txBox="1"/>
          <p:nvPr>
            <p:ph idx="1" type="body"/>
          </p:nvPr>
        </p:nvSpPr>
        <p:spPr>
          <a:xfrm>
            <a:off x="311700" y="1152475"/>
            <a:ext cx="5044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2"/>
                </a:solidFill>
                <a:highlight>
                  <a:schemeClr val="accent5"/>
                </a:highlight>
                <a:latin typeface="EB Garamond"/>
                <a:ea typeface="EB Garamond"/>
                <a:cs typeface="EB Garamond"/>
                <a:sym typeface="EB Garamond"/>
              </a:rPr>
              <a:t>Universo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Conjunto total de elementos sobre los que se quiere obtener información.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chemeClr val="lt2"/>
                </a:solidFill>
                <a:highlight>
                  <a:srgbClr val="A64D79"/>
                </a:highlight>
                <a:latin typeface="EB Garamond"/>
                <a:ea typeface="EB Garamond"/>
                <a:cs typeface="EB Garamond"/>
                <a:sym typeface="EB Garamond"/>
              </a:rPr>
              <a:t>Población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Subconjunto del universo que es de interés específico para la investigación.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>
                <a:solidFill>
                  <a:schemeClr val="lt2"/>
                </a:solidFill>
                <a:highlight>
                  <a:schemeClr val="accent3"/>
                </a:highlight>
                <a:latin typeface="EB Garamond"/>
                <a:ea typeface="EB Garamond"/>
                <a:cs typeface="EB Garamond"/>
                <a:sym typeface="EB Garamond"/>
              </a:rPr>
              <a:t>Muestra</a:t>
            </a: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: Subconjunto de la población que será observado o medido.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9" name="Google Shape;21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220" name="Google Shape;22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9574" y="1819077"/>
            <a:ext cx="3492725" cy="216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26" name="Google Shape;226;p3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500">
                <a:solidFill>
                  <a:srgbClr val="000000"/>
                </a:solidFill>
                <a:latin typeface="EB Garamond"/>
                <a:ea typeface="EB Garamond"/>
                <a:cs typeface="EB Garamond"/>
                <a:sym typeface="EB Garamond"/>
              </a:rPr>
              <a:t>Población y muestra</a:t>
            </a:r>
            <a:endParaRPr b="1" sz="2500">
              <a:solidFill>
                <a:srgbClr val="000000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7" name="Google Shape;227;p31"/>
          <p:cNvSpPr txBox="1"/>
          <p:nvPr/>
        </p:nvSpPr>
        <p:spPr>
          <a:xfrm>
            <a:off x="5361900" y="1990050"/>
            <a:ext cx="2972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población</a:t>
            </a: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es el conjunto de todos los sujetos de interés en un estudio.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</a:t>
            </a:r>
            <a:r>
              <a:rPr b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muestra</a:t>
            </a: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es un subconjunto de la población a través de los cuales el estudio recoge los datos.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228" name="Google Shape;228;p31"/>
          <p:cNvGrpSpPr/>
          <p:nvPr/>
        </p:nvGrpSpPr>
        <p:grpSpPr>
          <a:xfrm>
            <a:off x="1212450" y="1404675"/>
            <a:ext cx="3221100" cy="3220500"/>
            <a:chOff x="2961500" y="961400"/>
            <a:chExt cx="3221100" cy="3220500"/>
          </a:xfrm>
        </p:grpSpPr>
        <p:sp>
          <p:nvSpPr>
            <p:cNvPr id="229" name="Google Shape;229;p31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30" name="Google Shape;230;p31"/>
            <p:cNvSpPr txBox="1"/>
            <p:nvPr/>
          </p:nvSpPr>
          <p:spPr>
            <a:xfrm>
              <a:off x="3783038" y="1386300"/>
              <a:ext cx="15780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Población</a:t>
              </a:r>
              <a:endParaRPr sz="22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31" name="Google Shape;231;p31"/>
          <p:cNvGrpSpPr/>
          <p:nvPr/>
        </p:nvGrpSpPr>
        <p:grpSpPr>
          <a:xfrm>
            <a:off x="1931432" y="2834132"/>
            <a:ext cx="1783128" cy="1791032"/>
            <a:chOff x="3474050" y="1986200"/>
            <a:chExt cx="2195700" cy="2195700"/>
          </a:xfrm>
        </p:grpSpPr>
        <p:sp>
          <p:nvSpPr>
            <p:cNvPr id="232" name="Google Shape;232;p31"/>
            <p:cNvSpPr/>
            <p:nvPr/>
          </p:nvSpPr>
          <p:spPr>
            <a:xfrm>
              <a:off x="3474050" y="1986200"/>
              <a:ext cx="2195700" cy="21957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33" name="Google Shape;233;p31"/>
            <p:cNvSpPr txBox="1"/>
            <p:nvPr/>
          </p:nvSpPr>
          <p:spPr>
            <a:xfrm>
              <a:off x="3833274" y="281705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2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Muestra</a:t>
              </a:r>
              <a:endParaRPr sz="22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Población y muestra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39" name="Google Shape;23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240" name="Google Shape;240;p32"/>
          <p:cNvGrpSpPr/>
          <p:nvPr/>
        </p:nvGrpSpPr>
        <p:grpSpPr>
          <a:xfrm>
            <a:off x="550598" y="2004515"/>
            <a:ext cx="2041855" cy="2011846"/>
            <a:chOff x="2961500" y="961400"/>
            <a:chExt cx="3221100" cy="3220500"/>
          </a:xfrm>
        </p:grpSpPr>
        <p:sp>
          <p:nvSpPr>
            <p:cNvPr id="241" name="Google Shape;241;p32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42" name="Google Shape;242;p32"/>
            <p:cNvSpPr txBox="1"/>
            <p:nvPr/>
          </p:nvSpPr>
          <p:spPr>
            <a:xfrm>
              <a:off x="3783038" y="1386300"/>
              <a:ext cx="15780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Población</a:t>
              </a:r>
              <a:endParaRPr sz="15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43" name="Google Shape;243;p32"/>
          <p:cNvGrpSpPr/>
          <p:nvPr/>
        </p:nvGrpSpPr>
        <p:grpSpPr>
          <a:xfrm>
            <a:off x="913029" y="2710356"/>
            <a:ext cx="1316981" cy="1306002"/>
            <a:chOff x="3474050" y="1986200"/>
            <a:chExt cx="2195700" cy="2195700"/>
          </a:xfrm>
        </p:grpSpPr>
        <p:sp>
          <p:nvSpPr>
            <p:cNvPr id="244" name="Google Shape;244;p32"/>
            <p:cNvSpPr/>
            <p:nvPr/>
          </p:nvSpPr>
          <p:spPr>
            <a:xfrm>
              <a:off x="3474050" y="1986200"/>
              <a:ext cx="2195700" cy="21957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45" name="Google Shape;245;p32"/>
            <p:cNvSpPr txBox="1"/>
            <p:nvPr/>
          </p:nvSpPr>
          <p:spPr>
            <a:xfrm>
              <a:off x="3833274" y="281705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5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Muestra</a:t>
              </a:r>
              <a:endParaRPr sz="15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pic>
        <p:nvPicPr>
          <p:cNvPr id="246" name="Google Shape;2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275" y="1458325"/>
            <a:ext cx="1722900" cy="201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6275" y="2695700"/>
            <a:ext cx="1722900" cy="2010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4275" y="2710350"/>
            <a:ext cx="1722900" cy="1981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Población y muestra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54" name="Google Shape;25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55" name="Google Shape;25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4173" y="1109075"/>
            <a:ext cx="5255649" cy="378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Parámetro y estadístico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61" name="Google Shape;261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62" name="Google Shape;262;p34"/>
          <p:cNvSpPr txBox="1"/>
          <p:nvPr/>
        </p:nvSpPr>
        <p:spPr>
          <a:xfrm>
            <a:off x="5361900" y="1990050"/>
            <a:ext cx="2972700" cy="25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Parámetros:</a:t>
            </a:r>
            <a:endParaRPr b="1"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Un parámetro es una característica numérica de resumen de la población.</a:t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Estadísticos:</a:t>
            </a:r>
            <a:endParaRPr b="1" sz="16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Un estadístico es una característica numérica de resumen de la muestra.</a:t>
            </a:r>
            <a:endParaRPr sz="13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263" name="Google Shape;263;p34"/>
          <p:cNvGrpSpPr/>
          <p:nvPr/>
        </p:nvGrpSpPr>
        <p:grpSpPr>
          <a:xfrm>
            <a:off x="754268" y="2022737"/>
            <a:ext cx="2461565" cy="2476242"/>
            <a:chOff x="2961500" y="961400"/>
            <a:chExt cx="3221100" cy="3220500"/>
          </a:xfrm>
        </p:grpSpPr>
        <p:sp>
          <p:nvSpPr>
            <p:cNvPr id="264" name="Google Shape;264;p34"/>
            <p:cNvSpPr/>
            <p:nvPr/>
          </p:nvSpPr>
          <p:spPr>
            <a:xfrm>
              <a:off x="2961500" y="961400"/>
              <a:ext cx="3221100" cy="3220500"/>
            </a:xfrm>
            <a:prstGeom prst="ellipse">
              <a:avLst/>
            </a:prstGeom>
            <a:solidFill>
              <a:srgbClr val="1D7E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65" name="Google Shape;265;p34"/>
            <p:cNvSpPr txBox="1"/>
            <p:nvPr/>
          </p:nvSpPr>
          <p:spPr>
            <a:xfrm>
              <a:off x="3783038" y="1386300"/>
              <a:ext cx="1578000" cy="74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Población</a:t>
              </a:r>
              <a:endParaRPr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66" name="Google Shape;266;p34"/>
          <p:cNvGrpSpPr/>
          <p:nvPr/>
        </p:nvGrpSpPr>
        <p:grpSpPr>
          <a:xfrm>
            <a:off x="1341080" y="3122047"/>
            <a:ext cx="1362651" cy="1376923"/>
            <a:chOff x="3474050" y="1986200"/>
            <a:chExt cx="2195700" cy="2195700"/>
          </a:xfrm>
        </p:grpSpPr>
        <p:sp>
          <p:nvSpPr>
            <p:cNvPr id="267" name="Google Shape;267;p34"/>
            <p:cNvSpPr/>
            <p:nvPr/>
          </p:nvSpPr>
          <p:spPr>
            <a:xfrm>
              <a:off x="3474050" y="1986200"/>
              <a:ext cx="2195700" cy="2195700"/>
            </a:xfrm>
            <a:prstGeom prst="ellipse">
              <a:avLst/>
            </a:prstGeom>
            <a:solidFill>
              <a:srgbClr val="249C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68" name="Google Shape;268;p34"/>
            <p:cNvSpPr txBox="1"/>
            <p:nvPr/>
          </p:nvSpPr>
          <p:spPr>
            <a:xfrm>
              <a:off x="3833274" y="2817050"/>
              <a:ext cx="1477200" cy="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Muestra</a:t>
              </a:r>
              <a:endParaRPr sz="18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69" name="Google Shape;269;p34"/>
          <p:cNvSpPr/>
          <p:nvPr/>
        </p:nvSpPr>
        <p:spPr>
          <a:xfrm>
            <a:off x="2786375" y="2492675"/>
            <a:ext cx="2199000" cy="1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0" name="Google Shape;270;p34"/>
          <p:cNvSpPr/>
          <p:nvPr/>
        </p:nvSpPr>
        <p:spPr>
          <a:xfrm>
            <a:off x="2522800" y="3878325"/>
            <a:ext cx="2515200" cy="17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DD8D3"/>
          </a:solidFill>
          <a:ln cap="flat" cmpd="sng" w="9525">
            <a:solidFill>
              <a:srgbClr val="4242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Parámetro y estadístico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6" name="Google Shape;27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7" name="Google Shape;277;p35"/>
          <p:cNvSpPr txBox="1"/>
          <p:nvPr/>
        </p:nvSpPr>
        <p:spPr>
          <a:xfrm>
            <a:off x="5361900" y="1470075"/>
            <a:ext cx="2972700" cy="30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Por ejemplo: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proporción de círculos blancos en la población es 0.3 o 30%. Lo que es un </a:t>
            </a:r>
            <a:r>
              <a:rPr b="1"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parámetro.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La proporción de círculos blancos en la muestra 1 es 0.75 o 75%. 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Mientras que la proporción de círculos blancos en la muestra 2 es 0.375 o 37.5%. 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just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Estas proporciones son</a:t>
            </a:r>
            <a:r>
              <a:rPr b="1" lang="es" sz="15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 estadísticos.</a:t>
            </a:r>
            <a:endParaRPr sz="15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78" name="Google Shape;27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2463" y="1597875"/>
            <a:ext cx="1342825" cy="15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00" y="3135800"/>
            <a:ext cx="1342825" cy="1567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2713" y="3147225"/>
            <a:ext cx="1342825" cy="154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286" name="Google Shape;28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201" y="812737"/>
            <a:ext cx="6374824" cy="351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2"/>
                </a:solidFill>
                <a:latin typeface="EB Garamond"/>
                <a:ea typeface="EB Garamond"/>
                <a:cs typeface="EB Garamond"/>
                <a:sym typeface="EB Garamond"/>
              </a:rPr>
              <a:t>II.3. Técnicas de recolección y procesamiento de datos</a:t>
            </a:r>
            <a:endParaRPr sz="3267">
              <a:solidFill>
                <a:schemeClr val="lt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2" name="Google Shape;2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Tipos de muestreo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8" name="Google Shape;298;p38"/>
          <p:cNvSpPr txBox="1"/>
          <p:nvPr>
            <p:ph idx="1" type="body"/>
          </p:nvPr>
        </p:nvSpPr>
        <p:spPr>
          <a:xfrm>
            <a:off x="311700" y="1464202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Probabilísticas (al azar, sistemática, estratificada).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No probabilísticas (por conveniencia, bola de nieve, intencional).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9" name="Google Shape;299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Técnicas de recolección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5" name="Google Shape;30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Encuestas y cuestionarios: Diseño y uso de preguntas cerradas y abiertas.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 Observación cuantitativa: Uso  de escalas y categorías para medir comportamientos o fenómenos.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Censo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6" name="Google Shape;30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latin typeface="EB Garamond"/>
                <a:ea typeface="EB Garamond"/>
                <a:cs typeface="EB Garamond"/>
                <a:sym typeface="EB Garamond"/>
              </a:rPr>
              <a:t>Procesamiento de datos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2" name="Google Shape;31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Codificación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Estadística Descriptiva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Inferencia Estadística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EB Garamond"/>
              <a:buChar char="-"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Correlación y Regresión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3" name="Google Shape;31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19" name="Google Shape;319;p4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04: Unidad II. La estadística en el contexto de la investigación social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0" name="Google Shape;320;p41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21" name="Google Shape;321;p41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Ayudante: María Fernanda Núñez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>
                <a:latin typeface="EB Garamond"/>
                <a:ea typeface="EB Garamond"/>
                <a:cs typeface="EB Garamond"/>
                <a:sym typeface="EB Garamond"/>
              </a:rPr>
              <a:t>2do semestre 2025</a:t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5"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322" name="Google Shape;322;p41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