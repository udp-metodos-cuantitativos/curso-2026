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Caveat"/>
      <p:regular r:id="rId33"/>
      <p:bold r:id="rId34"/>
    </p:embeddedFont>
    <p:embeddedFont>
      <p:font typeface="EB Garamon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5AD90E-934C-4C26-8DA1-6C5BBE1E6854}">
  <a:tblStyle styleId="{375AD90E-934C-4C26-8DA1-6C5BBE1E685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aveat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EBGaramond-regular.fntdata"/><Relationship Id="rId12" Type="http://schemas.openxmlformats.org/officeDocument/2006/relationships/slide" Target="slides/slide6.xml"/><Relationship Id="rId34" Type="http://schemas.openxmlformats.org/officeDocument/2006/relationships/font" Target="fonts/Caveat-bold.fntdata"/><Relationship Id="rId15" Type="http://schemas.openxmlformats.org/officeDocument/2006/relationships/slide" Target="slides/slide9.xml"/><Relationship Id="rId37" Type="http://schemas.openxmlformats.org/officeDocument/2006/relationships/font" Target="fonts/EBGaramond-italic.fntdata"/><Relationship Id="rId14" Type="http://schemas.openxmlformats.org/officeDocument/2006/relationships/slide" Target="slides/slide8.xml"/><Relationship Id="rId36" Type="http://schemas.openxmlformats.org/officeDocument/2006/relationships/font" Target="fonts/EBGaramo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EBGaramon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b991537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b991537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b991537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b991537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b991537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b991537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b991537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8b991537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b991537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b991537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b991537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b991537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b991537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b991537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b991537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8b991537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e0ec9c984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e0ec9c984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811221d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811221d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811221d5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811221d5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811221d5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c811221d5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48e00444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c48e0044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48e00444b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c48e00444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48e00444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48e00444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48e00444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48e00444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48e00444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c48e00444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4bc8a9b6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c4bc8a9b6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4bc8a9b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c4bc8a9b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c4bc8a9b6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c4bc8a9b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c4bc8a9b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c4bc8a9b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4bc8a9b6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c4bc8a9b6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48e00444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48e00444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b991537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b991537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02: Unidad I. Introducción a la investigación social cuantitativa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Unidad I. Introducción a la 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I.2. Características de la Investigación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I.2.2. Tipos de investigación social cuantitativa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I.4. Conceptualización de variables e indicadores y operacionalización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	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I.4.1. Operacionalización de variables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02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529"/>
              <a:buFont typeface="Arial"/>
              <a:buNone/>
            </a:pPr>
            <a:r>
              <a:rPr lang="es" sz="3489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I.2. Características de la Investigación Cuantitativa</a:t>
            </a:r>
            <a:endParaRPr sz="3489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529"/>
              <a:buFont typeface="Arial"/>
              <a:buNone/>
            </a:pPr>
            <a:r>
              <a:t/>
            </a:r>
            <a:endParaRPr sz="3489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3"/>
              <a:buFont typeface="Arial"/>
              <a:buNone/>
            </a:pPr>
            <a:r>
              <a:rPr lang="es" sz="326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I.2.1. Etapas de la investigación cuantitativa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85" name="Google Shape;85;p17"/>
          <p:cNvGrpSpPr/>
          <p:nvPr/>
        </p:nvGrpSpPr>
        <p:grpSpPr>
          <a:xfrm>
            <a:off x="2413257" y="1405868"/>
            <a:ext cx="4317482" cy="2213063"/>
            <a:chOff x="1134" y="-61272"/>
            <a:chExt cx="4317482" cy="2213063"/>
          </a:xfrm>
        </p:grpSpPr>
        <p:sp>
          <p:nvSpPr>
            <p:cNvPr id="86" name="Google Shape;86;p17"/>
            <p:cNvSpPr/>
            <p:nvPr/>
          </p:nvSpPr>
          <p:spPr>
            <a:xfrm>
              <a:off x="1134" y="182552"/>
              <a:ext cx="1725300" cy="1725300"/>
            </a:xfrm>
            <a:prstGeom prst="ellipse">
              <a:avLst/>
            </a:prstGeom>
            <a:solidFill>
              <a:srgbClr val="FDBF41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253815" y="435233"/>
              <a:ext cx="1220100" cy="12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Teoría</a:t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1591956" y="-61272"/>
              <a:ext cx="1075200" cy="5823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1591956" y="55193"/>
              <a:ext cx="9003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2593316" y="182552"/>
              <a:ext cx="1725300" cy="1725300"/>
            </a:xfrm>
            <a:prstGeom prst="ellipse">
              <a:avLst/>
            </a:prstGeom>
            <a:solidFill>
              <a:srgbClr val="699F8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2845997" y="435233"/>
              <a:ext cx="1220100" cy="12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Datos</a:t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 rot="10800000">
              <a:off x="1652708" y="1569491"/>
              <a:ext cx="1075200" cy="5823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99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1827509" y="1685929"/>
              <a:ext cx="9003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94" name="Google Shape;94;p17"/>
          <p:cNvSpPr txBox="1"/>
          <p:nvPr/>
        </p:nvSpPr>
        <p:spPr>
          <a:xfrm>
            <a:off x="2990246" y="4086100"/>
            <a:ext cx="316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*Los datos no hablan por sí solos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Etapas de la investigación social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08" name="Google Shape;108;p19"/>
          <p:cNvGrpSpPr/>
          <p:nvPr/>
        </p:nvGrpSpPr>
        <p:grpSpPr>
          <a:xfrm>
            <a:off x="689206" y="1675660"/>
            <a:ext cx="7765590" cy="896100"/>
            <a:chOff x="3415" y="525964"/>
            <a:chExt cx="7765590" cy="896100"/>
          </a:xfrm>
        </p:grpSpPr>
        <p:sp>
          <p:nvSpPr>
            <p:cNvPr id="109" name="Google Shape;109;p19"/>
            <p:cNvSpPr/>
            <p:nvPr/>
          </p:nvSpPr>
          <p:spPr>
            <a:xfrm>
              <a:off x="3415" y="525964"/>
              <a:ext cx="1493400" cy="896100"/>
            </a:xfrm>
            <a:prstGeom prst="roundRect">
              <a:avLst>
                <a:gd fmla="val 10000" name="adj"/>
              </a:avLst>
            </a:prstGeom>
            <a:solidFill>
              <a:srgbClr val="3C6BA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0" name="Google Shape;110;p19"/>
            <p:cNvSpPr txBox="1"/>
            <p:nvPr/>
          </p:nvSpPr>
          <p:spPr>
            <a:xfrm>
              <a:off x="29659" y="552208"/>
              <a:ext cx="1440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1. Diseño de investigación</a:t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1646132" y="788799"/>
              <a:ext cx="316500" cy="3705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C6B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1646132" y="862870"/>
              <a:ext cx="221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2094145" y="525964"/>
              <a:ext cx="1493400" cy="896100"/>
            </a:xfrm>
            <a:prstGeom prst="roundRect">
              <a:avLst>
                <a:gd fmla="val 10000" name="adj"/>
              </a:avLst>
            </a:prstGeom>
            <a:solidFill>
              <a:srgbClr val="699F8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4" name="Google Shape;114;p19"/>
            <p:cNvSpPr txBox="1"/>
            <p:nvPr/>
          </p:nvSpPr>
          <p:spPr>
            <a:xfrm>
              <a:off x="2120389" y="552208"/>
              <a:ext cx="1440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2. Recolección de datos</a:t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3736862" y="788799"/>
              <a:ext cx="316500" cy="3705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99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6" name="Google Shape;116;p19"/>
            <p:cNvSpPr txBox="1"/>
            <p:nvPr/>
          </p:nvSpPr>
          <p:spPr>
            <a:xfrm>
              <a:off x="3736862" y="862870"/>
              <a:ext cx="221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4184875" y="525964"/>
              <a:ext cx="1493400" cy="896100"/>
            </a:xfrm>
            <a:prstGeom prst="roundRect">
              <a:avLst>
                <a:gd fmla="val 10000" name="adj"/>
              </a:avLst>
            </a:prstGeom>
            <a:solidFill>
              <a:srgbClr val="32215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8" name="Google Shape;118;p19"/>
            <p:cNvSpPr txBox="1"/>
            <p:nvPr/>
          </p:nvSpPr>
          <p:spPr>
            <a:xfrm>
              <a:off x="4211119" y="552208"/>
              <a:ext cx="1440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3. Análisis de datos</a:t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5827592" y="788799"/>
              <a:ext cx="316500" cy="3705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3221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5827592" y="862870"/>
              <a:ext cx="221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6275605" y="525964"/>
              <a:ext cx="1493400" cy="896100"/>
            </a:xfrm>
            <a:prstGeom prst="roundRect">
              <a:avLst>
                <a:gd fmla="val 10000" name="adj"/>
              </a:avLst>
            </a:prstGeom>
            <a:solidFill>
              <a:srgbClr val="D8165D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6301849" y="552208"/>
              <a:ext cx="1440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4. Resultados y Conclusiones</a:t>
              </a:r>
              <a:endParaRPr sz="17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23" name="Google Shape;123;p19"/>
          <p:cNvSpPr txBox="1"/>
          <p:nvPr/>
        </p:nvSpPr>
        <p:spPr>
          <a:xfrm>
            <a:off x="541050" y="2845800"/>
            <a:ext cx="16794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Tema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Revisión bibliográfica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Problematización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Pregunta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Hipótesis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Estrategia metodológica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804050" y="2845800"/>
            <a:ext cx="16794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Análisis descriptivo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Análisis correlacional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Análisis causal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Otros.</a:t>
            </a:r>
            <a:endParaRPr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225" y="19050"/>
            <a:ext cx="478155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Etapas de la investigación social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713" y="1466650"/>
            <a:ext cx="8216575" cy="29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I.2. Características de la Investigación Cuantitativa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6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I.2.2. Tipos de investigación social cuantitativa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50" name="Google Shape;150;p23"/>
          <p:cNvGrpSpPr/>
          <p:nvPr/>
        </p:nvGrpSpPr>
        <p:grpSpPr>
          <a:xfrm>
            <a:off x="2595190" y="1394555"/>
            <a:ext cx="3953551" cy="2164767"/>
            <a:chOff x="953" y="195146"/>
            <a:chExt cx="3953551" cy="2164767"/>
          </a:xfrm>
        </p:grpSpPr>
        <p:sp>
          <p:nvSpPr>
            <p:cNvPr id="151" name="Google Shape;151;p23"/>
            <p:cNvSpPr/>
            <p:nvPr/>
          </p:nvSpPr>
          <p:spPr>
            <a:xfrm>
              <a:off x="1977762" y="1089629"/>
              <a:ext cx="187800" cy="822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52" name="Google Shape;152;p23"/>
            <p:cNvSpPr/>
            <p:nvPr/>
          </p:nvSpPr>
          <p:spPr>
            <a:xfrm>
              <a:off x="1789920" y="1089629"/>
              <a:ext cx="187800" cy="822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53" name="Google Shape;153;p23"/>
            <p:cNvSpPr/>
            <p:nvPr/>
          </p:nvSpPr>
          <p:spPr>
            <a:xfrm>
              <a:off x="1083278" y="195146"/>
              <a:ext cx="1788900" cy="894600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1083278" y="195146"/>
              <a:ext cx="1788900" cy="894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Investigación cuantitativa</a:t>
              </a:r>
              <a:endParaRPr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953" y="1465313"/>
              <a:ext cx="1788900" cy="894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 txBox="1"/>
            <p:nvPr/>
          </p:nvSpPr>
          <p:spPr>
            <a:xfrm>
              <a:off x="953" y="1465313"/>
              <a:ext cx="17889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la revisión de literatura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2165604" y="1465313"/>
              <a:ext cx="1788900" cy="894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 txBox="1"/>
            <p:nvPr/>
          </p:nvSpPr>
          <p:spPr>
            <a:xfrm>
              <a:off x="2165604" y="1465313"/>
              <a:ext cx="17889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los objetivos de investigación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65" name="Google Shape;165;p24"/>
          <p:cNvGrpSpPr/>
          <p:nvPr/>
        </p:nvGrpSpPr>
        <p:grpSpPr>
          <a:xfrm>
            <a:off x="1527153" y="1309092"/>
            <a:ext cx="6089625" cy="2525281"/>
            <a:chOff x="3153" y="769342"/>
            <a:chExt cx="6089625" cy="2525281"/>
          </a:xfrm>
        </p:grpSpPr>
        <p:sp>
          <p:nvSpPr>
            <p:cNvPr id="166" name="Google Shape;166;p24"/>
            <p:cNvSpPr/>
            <p:nvPr/>
          </p:nvSpPr>
          <p:spPr>
            <a:xfrm>
              <a:off x="3048000" y="1426976"/>
              <a:ext cx="138000" cy="605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67" name="Google Shape;167;p24"/>
            <p:cNvSpPr/>
            <p:nvPr/>
          </p:nvSpPr>
          <p:spPr>
            <a:xfrm>
              <a:off x="2909896" y="1426976"/>
              <a:ext cx="138000" cy="6051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68" name="Google Shape;168;p24"/>
            <p:cNvSpPr/>
            <p:nvPr/>
          </p:nvSpPr>
          <p:spPr>
            <a:xfrm>
              <a:off x="3048000" y="1426976"/>
              <a:ext cx="2387100" cy="1209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69" name="Google Shape;169;p24"/>
            <p:cNvSpPr/>
            <p:nvPr/>
          </p:nvSpPr>
          <p:spPr>
            <a:xfrm>
              <a:off x="3048000" y="1426976"/>
              <a:ext cx="795600" cy="1209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0" name="Google Shape;170;p24"/>
            <p:cNvSpPr/>
            <p:nvPr/>
          </p:nvSpPr>
          <p:spPr>
            <a:xfrm>
              <a:off x="2252262" y="1426976"/>
              <a:ext cx="795600" cy="1209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1" name="Google Shape;171;p24"/>
            <p:cNvSpPr/>
            <p:nvPr/>
          </p:nvSpPr>
          <p:spPr>
            <a:xfrm>
              <a:off x="660787" y="1426976"/>
              <a:ext cx="2387100" cy="1209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2" name="Google Shape;172;p24"/>
            <p:cNvSpPr/>
            <p:nvPr/>
          </p:nvSpPr>
          <p:spPr>
            <a:xfrm>
              <a:off x="2390365" y="769342"/>
              <a:ext cx="1315200" cy="657600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 txBox="1"/>
            <p:nvPr/>
          </p:nvSpPr>
          <p:spPr>
            <a:xfrm>
              <a:off x="2390365" y="769342"/>
              <a:ext cx="1315200" cy="65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Investigación cuantitativa</a:t>
              </a:r>
              <a:endParaRPr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3153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3153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Exploratoria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594628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 txBox="1"/>
            <p:nvPr/>
          </p:nvSpPr>
          <p:spPr>
            <a:xfrm>
              <a:off x="1594628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Descriptiva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3186103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4"/>
            <p:cNvSpPr txBox="1"/>
            <p:nvPr/>
          </p:nvSpPr>
          <p:spPr>
            <a:xfrm>
              <a:off x="3186103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Correlacional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4777578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4777578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Causal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1594628" y="1703182"/>
              <a:ext cx="1315200" cy="657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4"/>
            <p:cNvSpPr txBox="1"/>
            <p:nvPr/>
          </p:nvSpPr>
          <p:spPr>
            <a:xfrm>
              <a:off x="1594628" y="1703182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la revisión de literatura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3186103" y="1703182"/>
              <a:ext cx="1315200" cy="657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 txBox="1"/>
            <p:nvPr/>
          </p:nvSpPr>
          <p:spPr>
            <a:xfrm>
              <a:off x="3186103" y="1703182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los objetivos de investigación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92" name="Google Shape;192;p25"/>
          <p:cNvGrpSpPr/>
          <p:nvPr/>
        </p:nvGrpSpPr>
        <p:grpSpPr>
          <a:xfrm>
            <a:off x="1527153" y="1309092"/>
            <a:ext cx="6089625" cy="2525281"/>
            <a:chOff x="3153" y="769342"/>
            <a:chExt cx="6089625" cy="2525281"/>
          </a:xfrm>
        </p:grpSpPr>
        <p:sp>
          <p:nvSpPr>
            <p:cNvPr id="193" name="Google Shape;193;p25"/>
            <p:cNvSpPr/>
            <p:nvPr/>
          </p:nvSpPr>
          <p:spPr>
            <a:xfrm>
              <a:off x="3048000" y="1426976"/>
              <a:ext cx="138000" cy="605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4" name="Google Shape;194;p25"/>
            <p:cNvSpPr/>
            <p:nvPr/>
          </p:nvSpPr>
          <p:spPr>
            <a:xfrm>
              <a:off x="2909896" y="1426976"/>
              <a:ext cx="138000" cy="6051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5" name="Google Shape;195;p25"/>
            <p:cNvSpPr/>
            <p:nvPr/>
          </p:nvSpPr>
          <p:spPr>
            <a:xfrm>
              <a:off x="3048000" y="1426976"/>
              <a:ext cx="2387100" cy="1209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6" name="Google Shape;196;p25"/>
            <p:cNvSpPr/>
            <p:nvPr/>
          </p:nvSpPr>
          <p:spPr>
            <a:xfrm>
              <a:off x="3048000" y="1426976"/>
              <a:ext cx="795600" cy="1209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7" name="Google Shape;197;p25"/>
            <p:cNvSpPr/>
            <p:nvPr/>
          </p:nvSpPr>
          <p:spPr>
            <a:xfrm>
              <a:off x="2252262" y="1426976"/>
              <a:ext cx="795600" cy="1209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8" name="Google Shape;198;p25"/>
            <p:cNvSpPr/>
            <p:nvPr/>
          </p:nvSpPr>
          <p:spPr>
            <a:xfrm>
              <a:off x="660787" y="1426976"/>
              <a:ext cx="2387100" cy="1209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345A99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9" name="Google Shape;199;p25"/>
            <p:cNvSpPr/>
            <p:nvPr/>
          </p:nvSpPr>
          <p:spPr>
            <a:xfrm>
              <a:off x="2390365" y="769342"/>
              <a:ext cx="1315200" cy="657600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2390365" y="769342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Investigación cuantitativa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3153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5"/>
            <p:cNvSpPr txBox="1"/>
            <p:nvPr/>
          </p:nvSpPr>
          <p:spPr>
            <a:xfrm>
              <a:off x="3153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Exploratoria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1594628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 txBox="1"/>
            <p:nvPr/>
          </p:nvSpPr>
          <p:spPr>
            <a:xfrm>
              <a:off x="1594628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Descriptiva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3186103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3186103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Correlacional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4777578" y="2637023"/>
              <a:ext cx="1315200" cy="6576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5"/>
            <p:cNvSpPr txBox="1"/>
            <p:nvPr/>
          </p:nvSpPr>
          <p:spPr>
            <a:xfrm>
              <a:off x="4777578" y="2637023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Causal</a:t>
              </a:r>
              <a:endParaRPr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1594628" y="1703182"/>
              <a:ext cx="1315200" cy="657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1594628" y="1703182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la revisión de literatura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11" name="Google Shape;211;p25"/>
            <p:cNvSpPr/>
            <p:nvPr/>
          </p:nvSpPr>
          <p:spPr>
            <a:xfrm>
              <a:off x="3186103" y="1703182"/>
              <a:ext cx="1315200" cy="657600"/>
            </a:xfrm>
            <a:prstGeom prst="rect">
              <a:avLst/>
            </a:prstGeom>
            <a:solidFill>
              <a:srgbClr val="156C7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5"/>
            <p:cNvSpPr txBox="1"/>
            <p:nvPr/>
          </p:nvSpPr>
          <p:spPr>
            <a:xfrm>
              <a:off x="3186103" y="1703182"/>
              <a:ext cx="1315200" cy="6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75" lIns="6975" spcFirstLastPara="1" rIns="6975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Según los objetivos de investigación</a:t>
              </a:r>
              <a:endParaRPr sz="12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13" name="Google Shape;213;p25"/>
          <p:cNvSpPr txBox="1"/>
          <p:nvPr/>
        </p:nvSpPr>
        <p:spPr>
          <a:xfrm>
            <a:off x="930375" y="3834375"/>
            <a:ext cx="1954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Problemas poco estudiados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Perspectiva innovadora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Conceptos nuevos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Preparar terreno a nuevos estudios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3018710" y="3834368"/>
            <a:ext cx="1581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Fenómenos estudiados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Medir conceptos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Obs. variables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4734125" y="3872850"/>
            <a:ext cx="1491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Relación entre variables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Cuantificar relaciones</a:t>
            </a:r>
            <a:endParaRPr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6323975" y="3872850"/>
            <a:ext cx="1798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Determina causas de un fenómeno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Sentido de entendimiento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B Garamond"/>
              <a:buChar char="✔"/>
            </a:pPr>
            <a:r>
              <a:rPr lang="es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Diseño experimental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I.4. Conceptualización de variables e indicadores y operacionalización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673"/>
              <a:buFont typeface="Arial"/>
              <a:buNone/>
            </a:pPr>
            <a:r>
              <a:rPr lang="es" sz="326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I.4.1. Operacionalización de variables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" y="1291117"/>
            <a:ext cx="8724899" cy="318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Consideraciones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el paso entre las definiciones nominales (concepto) a reales (dimensiones) y luego operacionales (indicadores), e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implica niveles mayores de concreción empírica del constructo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Ese paso/transformación </a:t>
            </a:r>
            <a:r>
              <a:rPr lang="es">
                <a:highlight>
                  <a:srgbClr val="8DD8D3"/>
                </a:highlight>
                <a:latin typeface="EB Garamond"/>
                <a:ea typeface="EB Garamond"/>
                <a:cs typeface="EB Garamond"/>
                <a:sym typeface="EB Garamond"/>
              </a:rPr>
              <a:t>implica ciertos grados de distorsión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producto de (por ejemplo):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Tener que elegir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sólo un subconjunto de las dimensiones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posibles de un constructo.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Tener que elegir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sólo un subconjunto de los indicadores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posibles para un constructo.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Tener que elegir los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indicadores disponibles o viables y no los idealmente necesarios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311700" y="1300025"/>
            <a:ext cx="85206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Ejemplo: medición de la calidad de la vivienda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Definición conceptual: Condiciones materiales y de satisfacción subjetiva que tiene la vivienda habitual en que desarrolla su vida un grupo familiar.</a:t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244" name="Google Shape;244;p29"/>
          <p:cNvGraphicFramePr/>
          <p:nvPr/>
        </p:nvGraphicFramePr>
        <p:xfrm>
          <a:off x="785251" y="3056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{375AD90E-934C-4C26-8DA1-6C5BBE1E6854}</a:tableStyleId>
              </a:tblPr>
              <a:tblGrid>
                <a:gridCol w="1342075"/>
                <a:gridCol w="1525850"/>
                <a:gridCol w="1569925"/>
                <a:gridCol w="3135650"/>
              </a:tblGrid>
              <a:tr h="34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Concepto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Dimensiones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Indicadores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Preguntas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Calidad de la vivienda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50" name="Google Shape;250;p30"/>
          <p:cNvGraphicFramePr/>
          <p:nvPr/>
        </p:nvGraphicFramePr>
        <p:xfrm>
          <a:off x="311714" y="359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{375AD90E-934C-4C26-8DA1-6C5BBE1E6854}</a:tableStyleId>
              </a:tblPr>
              <a:tblGrid>
                <a:gridCol w="712375"/>
                <a:gridCol w="985025"/>
                <a:gridCol w="1090525"/>
                <a:gridCol w="1772075"/>
                <a:gridCol w="3960575"/>
              </a:tblGrid>
              <a:tr h="27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u="none" cap="none" strike="noStrike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Concepto</a:t>
                      </a:r>
                      <a:endParaRPr sz="10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Dimensiones</a:t>
                      </a:r>
                      <a:endParaRPr sz="10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Sub-dimensiones</a:t>
                      </a:r>
                      <a:endParaRPr sz="10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Indicadores</a:t>
                      </a:r>
                      <a:endParaRPr sz="10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Preguntas</a:t>
                      </a:r>
                      <a:endParaRPr sz="10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62275"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Calidad de la vivienda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Materialidad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Materialidad objetiva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Materiales Muros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Materiales Techo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Materiales Piso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ej. ¿Cuál es el material de los muros de su vivienda?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364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Materialidad subjetiva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de satisfacción con la: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Calidad materiales muros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Calidad materiales techo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Calidad materiales piso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ej. ¿Qué tan satisfecho/a se encuentra con el material de los muros de su vivienda?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43250">
                <a:tc v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básicos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básicos objetivo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iluminación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calefacción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obtención de agua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eliminación excretas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455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básicos subjetivo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de satisfacción con la: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iluminación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calefacción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obtención de agua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Sistema eliminación excretas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9100">
                <a:tc v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sociales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sociales objetivo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colegios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paraderos de micros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locales comerciales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9437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Acceso a servicios sociales subjetivo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de satisfacción con la: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colegios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paraderos de micros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Distancia a locales comerciales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311700" y="1300025"/>
            <a:ext cx="8520600" cy="13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Ejemplo: medición de la pobreza en Chile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Definición conceptual: Las personas en situación de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pobreza por ingresos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son integrantes de hogares cuyos ingresos mensuales son inferiores al valor de la línea de la pobreza, que corresponde a $471.348 en noviembre de 2017 para un hogar con cuatro integrantes.</a:t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258" name="Google Shape;258;p31"/>
          <p:cNvGraphicFramePr/>
          <p:nvPr/>
        </p:nvGraphicFramePr>
        <p:xfrm>
          <a:off x="1255751" y="2986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{375AD90E-934C-4C26-8DA1-6C5BBE1E6854}</a:tableStyleId>
              </a:tblPr>
              <a:tblGrid>
                <a:gridCol w="938775"/>
                <a:gridCol w="1006925"/>
                <a:gridCol w="4686800"/>
              </a:tblGrid>
              <a:tr h="2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Concepto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Dimensión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Indicadores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625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Pobreza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Pobre: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 mensual inferior a $471.348.- para hogar de 4 integrantes.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25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 extremo: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 mensual inferior a $314.232.- para hogar de 4 integrantes.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Imagen que contiene Escala de tiempo&#10;&#10;Descripción generada automáticamente" id="264" name="Google Shape;2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500" y="454424"/>
            <a:ext cx="6651000" cy="41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311700" y="1300025"/>
            <a:ext cx="85206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Ejemplo: medición de la pobreza en Chile</a:t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272" name="Google Shape;272;p33"/>
          <p:cNvGraphicFramePr/>
          <p:nvPr/>
        </p:nvGraphicFramePr>
        <p:xfrm>
          <a:off x="311701" y="1763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{375AD90E-934C-4C26-8DA1-6C5BBE1E6854}</a:tableStyleId>
              </a:tblPr>
              <a:tblGrid>
                <a:gridCol w="831625"/>
                <a:gridCol w="951000"/>
                <a:gridCol w="2752450"/>
              </a:tblGrid>
              <a:tr h="2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u="none" cap="none" strike="noStrike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Concepto</a:t>
                      </a:r>
                      <a:endParaRPr sz="12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Dimensión</a:t>
                      </a:r>
                      <a:endParaRPr sz="12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Indicadores</a:t>
                      </a:r>
                      <a:endParaRPr sz="1200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950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Pobreza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Pobre: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 mensual inferior a $471.348.- para hogar de 4 integrantes.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9507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Pobre extremo: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Ingreso mensual inferior a $314.232.- para hogar de 4 integrantes.</a:t>
                      </a:r>
                      <a:endParaRPr sz="1200"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descr="Diagrama&#10;&#10;Descripción generada automáticamente"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775" y="2457652"/>
            <a:ext cx="3625676" cy="237057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/>
          <p:nvPr/>
        </p:nvSpPr>
        <p:spPr>
          <a:xfrm rot="5400000">
            <a:off x="3518100" y="3112875"/>
            <a:ext cx="667500" cy="1440300"/>
          </a:xfrm>
          <a:prstGeom prst="bentUpArrow">
            <a:avLst>
              <a:gd fmla="val 10854" name="adj1"/>
              <a:gd fmla="val 18419" name="adj2"/>
              <a:gd fmla="val 23861" name="adj3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Proceso 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1300025"/>
            <a:ext cx="85206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obreza Multidimensional</a:t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Diagrama&#10;&#10;Descripción generada automáticamente" id="282" name="Google Shape;2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63825"/>
            <a:ext cx="3474095" cy="2271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Descripción generada automáticamente" id="283" name="Google Shape;2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0225" y="1968850"/>
            <a:ext cx="3762063" cy="21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/>
          <p:nvPr/>
        </p:nvSpPr>
        <p:spPr>
          <a:xfrm>
            <a:off x="4055263" y="3084700"/>
            <a:ext cx="616500" cy="18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Gráfico, Gráfico de barras&#10;&#10;Descripción generada automáticamente" id="290" name="Google Shape;2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150" y="569875"/>
            <a:ext cx="7335699" cy="41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Gráfico, Gráfico de barras&#10;&#10;Descripción generada automáticamente"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338" y="384000"/>
            <a:ext cx="5869324" cy="427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2" name="Google Shape;30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4300" y="1284075"/>
            <a:ext cx="5441524" cy="1985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3" name="Google Shape;303;p37"/>
          <p:cNvGraphicFramePr/>
          <p:nvPr/>
        </p:nvGraphicFramePr>
        <p:xfrm>
          <a:off x="785251" y="3386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{375AD90E-934C-4C26-8DA1-6C5BBE1E6854}</a:tableStyleId>
              </a:tblPr>
              <a:tblGrid>
                <a:gridCol w="1342075"/>
                <a:gridCol w="1525850"/>
                <a:gridCol w="1569925"/>
                <a:gridCol w="3135650"/>
              </a:tblGrid>
              <a:tr h="34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Concepto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Dimensiones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Indicadores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Preguntas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  <a:latin typeface="Caveat"/>
                          <a:ea typeface="Caveat"/>
                          <a:cs typeface="Caveat"/>
                          <a:sym typeface="Caveat"/>
                        </a:rPr>
                        <a:t>Calidad del Barrio</a:t>
                      </a:r>
                      <a:endParaRPr b="1">
                        <a:solidFill>
                          <a:schemeClr val="dk2"/>
                        </a:solidFill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04" name="Google Shape;3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Ejercicio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de operacionalización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0" name="Google Shape;31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02: Unidad I. Introducción a la investigación social cuantitativa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1" name="Google Shape;311;p38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2" name="Google Shape;312;p38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13" name="Google Shape;313;p38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